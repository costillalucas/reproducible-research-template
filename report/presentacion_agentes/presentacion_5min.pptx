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Soy Lucas Costilla. Durante un mes le pedimos a agentes de inteligencia artificial que trabajaran sobre un problema real de microscopía. En cinco minutos: el problema, el mejor resultado, cómo lo validamos y qué aprendimos trabajando con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Un microscopio no separa detalles más chicos que cierto límite; con nuestro objetivo, unos 3,8 micrones. La pticografía de Fourier, FPM, lo ataca sin cambiar el objetivo: se toma una foto por cada LED de una matriz, cada una con la iluminación desde otro ángulo, y un programa las combina. En teoría baja a 0,5 a 1 micrón, y además recupera la fase, cuánto se retrasa la luz al atravesar la muestra, que la cámara no registra. La trampa: el programa siempre devuelve una imagen, y hay que saber si es la muestra en alta resolución o si lo inventó. Y nuestra pregunta de fondo: qué parte de este trabajo pudieron hacer agentes de IA, que escribieron, corrieron y auditaron el código, y qué parte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El mejor resultado es la última captura, del lunes 28 a la noche: el mismo campo en rojo, verde y azul; arriba la foto cruda de cada color, abajo la reconstrucción. Los tres colores reconstruyen las mismas partículas en los mismos lugares, y cada reconstrucción predice fotos que no usó. A esta captura se llegó con sugerencias de los agentes, a partir de lo que medían en cada captura anterior. Julio tenía casi nada de luz en los ángulos grandes, así que propusieron varios tiempos por LED: corto para la luz directa y largo para la inclinada; el 24/09, 131 de 169 LEDs ya tenían señal útil. Fotos a oscuras para restar el fondo del sensor, y repetirlas cuando salieron saturadas. El tiempo de cada LED lo calcularon a partir de la captura anterior. Alejar la matriz, de 74 a unos 98 milímetros, para que las fotos de LEDs vecinos se solapen más. Y enfocar cada color por separado: con un solo foco, solo el color enfocado salía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En resumen: los agentes fueron más útiles para auditar que para juzgar resultados reales. Ya medimos qué mejoró la última captura: sobre todo el foco de cada color, de forma provisional. Lo que sigue: una placa de calibración con detalle conocido, y probar con datos reales la combinación de verde y azul.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Separador. No cuenta en los 5 minutos: slides para responder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controles, cada uno nació de un error. Uno: cada número del resumen lleva una marca con su clave, y un script comprueba que coincide con el registro de números, que solo escribe un programa; si alguien, persona o agente, cambia un número a mano, la verificación falla. Dos: en la reconstrucción conjunta, la prueba de aceptación tenía el hash fijado y el agente no la podía editar; los criterios y umbrales tampoco se pueden cambiar después de ver resultados. Tres: un verificador independiente rehace cada número con su propio código; en la reconstrucción conjunta el gradiente dio 1,03e-8 y el verificador obtuvo 6,0e-9. Cuatro: los planes escriben los criterios antes de correr (carpeta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división del trabajo. Lucas armó el montaje y tomó todas las capturas en el laboratorio; confirmó los datos del hardware, que los agentes no podían saber y a veces supusieron mal; decidió qué probar y tuvo la última palabra. Los agentes escribieron casi todo el código: 97 de los 99 commits del repositorio tienen a Claude como coautor. También hicieron los análisis, encontraron los errores, escribieron los informes, propusieron cómo tomar las capturas y armaron esta presentación. Los agentes no hacen commits por su cuenta: solo cuando la persona lo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ejemplo de por qué pasar las pruebas no alcanza. Probamos reconstruir los tres colores juntos, con un solo espesor para la muestra. Todo en simulación, donde conocemos la respuesta. El gradiente estaba verificado y la prueba de aceptación pasó, pero esa prueba solo exige que los entregables existan, no que el método funcione. El ajuste reproduce las fotos mejor que la muestra verdadera: queda en 0,97 veces el piso de ruido. Y sin embargo el espesor que encuentra no tiene nada que ver con el verdadero: correlación −0,09. Optimizar más lo empeora: de −0,04 en la época 80 a −0,09 en la 240. Por la regla del plan, no se pasó a datos reales. La cadena simple, verde y azul por separado con la dispersión conocida, da 0,945 en la misma simulación.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última captura cambiamos dos cosas a la vez, así que después las separamos. Solo el foco: el rojo, la misma noche y el mismo campo, en su foco o con el foco del verde o del azul. En su foco predice las fotos no usadas con error 0,46; desenfocado, 0,81 a 0,86. Las mitades coinciden 0,083 contra 0,021 a 0,024: de 3,5 a 4 veces más. Solo la geometría: el verde en foco, al pasar de 74 a 98 milímetros, sube de 0,024 a 0,043, 1,8 veces. O sea, el foco pesa más. Es provisional: el modelo no incluye el desenfoque, y un modelo con el desenfoque de cada color podría recuperar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812780" y="2095448"/>
            <a:ext cx="10566136" cy="317492"/>
          </a:xfrm>
          <a:prstGeom prst="rect">
            <a:avLst/>
          </a:prstGeom>
          <a:noFill/>
          <a:ln/>
        </p:spPr>
        <p:txBody>
          <a:bodyPr wrap="square" lIns="0" tIns="0" rIns="0" bIns="0" rtlCol="0" anchor="t"/>
          <a:lstStyle/>
          <a:p>
            <a:pPr indent="0" marL="0">
              <a:buNone/>
            </a:pPr>
            <a:r>
              <a:rPr lang="en-US" sz="1600" b="1" spc="200" kern="0" dirty="0">
                <a:solidFill>
                  <a:srgbClr val="D9692B"/>
                </a:solidFill>
                <a:latin typeface="Calibri" pitchFamily="34" charset="0"/>
                <a:ea typeface="Calibri" pitchFamily="34" charset="-122"/>
                <a:cs typeface="Calibri" pitchFamily="34" charset="-120"/>
              </a:rPr>
              <a:t>PROYECTO DE MICROSCOPÍA COMPUTACIONAL</a:t>
            </a:r>
            <a:endParaRPr lang="en-US" sz="1600" dirty="0"/>
          </a:p>
        </p:txBody>
      </p:sp>
      <p:sp>
        <p:nvSpPr>
          <p:cNvPr id="4" name="Text 1"/>
          <p:cNvSpPr txBox="1"/>
          <p:nvPr/>
        </p:nvSpPr>
        <p:spPr>
          <a:xfrm>
            <a:off x="812780" y="2539937"/>
            <a:ext cx="9524762" cy="2285943"/>
          </a:xfrm>
          <a:prstGeom prst="rect">
            <a:avLst/>
          </a:prstGeom>
          <a:noFill/>
          <a:ln/>
        </p:spPr>
        <p:txBody>
          <a:bodyPr wrap="square" lIns="0" tIns="0" rIns="0" bIns="0" rtlCol="0" anchor="t"/>
          <a:lstStyle/>
          <a:p>
            <a:pPr indent="0" marL="0">
              <a:buNone/>
            </a:pPr>
            <a:r>
              <a:rPr lang="en-US" sz="5200" b="1" dirty="0">
                <a:solidFill>
                  <a:srgbClr val="FBFBF8"/>
                </a:solidFill>
                <a:latin typeface="Cambria" pitchFamily="34" charset="0"/>
                <a:ea typeface="Cambria" pitchFamily="34" charset="-122"/>
                <a:cs typeface="Cambria" pitchFamily="34" charset="-120"/>
              </a:rPr>
              <a:t>Un mes con agentes de IA en un problema de Pticografía de Fourier</a:t>
            </a:r>
            <a:endParaRPr lang="en-US" sz="5200" dirty="0"/>
          </a:p>
        </p:txBody>
      </p:sp>
      <p:sp>
        <p:nvSpPr>
          <p:cNvPr id="5" name="Text 2"/>
          <p:cNvSpPr txBox="1"/>
          <p:nvPr/>
        </p:nvSpPr>
        <p:spPr>
          <a:xfrm>
            <a:off x="812780" y="4889378"/>
            <a:ext cx="10566136" cy="380990"/>
          </a:xfrm>
          <a:prstGeom prst="rect">
            <a:avLst/>
          </a:prstGeom>
          <a:noFill/>
          <a:ln/>
        </p:spPr>
        <p:txBody>
          <a:bodyPr wrap="square" lIns="0" tIns="0" rIns="0" bIns="0" rtlCol="0" anchor="t"/>
          <a:lstStyle/>
          <a:p>
            <a:pPr indent="0" marL="0">
              <a:buNone/>
            </a:pPr>
            <a:r>
              <a:rPr lang="en-US" sz="2200" dirty="0">
                <a:solidFill>
                  <a:srgbClr val="BFD0E6"/>
                </a:solidFill>
                <a:latin typeface="Calibri" pitchFamily="34" charset="0"/>
                <a:ea typeface="Calibri" pitchFamily="34" charset="-122"/>
                <a:cs typeface="Calibri" pitchFamily="34" charset="-120"/>
              </a:rPr>
              <a:t>Qué se resolvió y qué no</a:t>
            </a:r>
            <a:endParaRPr lang="en-US" sz="2200" dirty="0"/>
          </a:p>
        </p:txBody>
      </p:sp>
      <p:sp>
        <p:nvSpPr>
          <p:cNvPr id="6" name="Text 3"/>
          <p:cNvSpPr txBox="1"/>
          <p:nvPr/>
        </p:nvSpPr>
        <p:spPr>
          <a:xfrm>
            <a:off x="812780" y="5968851"/>
            <a:ext cx="10566136" cy="279393"/>
          </a:xfrm>
          <a:prstGeom prst="rect">
            <a:avLst/>
          </a:prstGeom>
          <a:noFill/>
          <a:ln/>
        </p:spPr>
        <p:txBody>
          <a:bodyPr wrap="square" lIns="0" tIns="0" rIns="0" bIns="0" rtlCol="0" anchor="t"/>
          <a:lstStyle/>
          <a:p>
            <a:pPr indent="0" marL="0">
              <a:buNone/>
            </a:pPr>
            <a:r>
              <a:rPr lang="en-US" sz="1500" dirty="0">
                <a:solidFill>
                  <a:srgbClr val="BFD0E6"/>
                </a:solidFill>
                <a:latin typeface="Calibri" pitchFamily="34" charset="0"/>
                <a:ea typeface="Calibri" pitchFamily="34" charset="-122"/>
                <a:cs typeface="Calibri" pitchFamily="34" charset="-120"/>
              </a:rPr>
              <a:t>Lucas Costilla · semana del 28/09/2026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3035224" cy="330192"/>
          </a:xfrm>
          <a:prstGeom prst="roundRect">
            <a:avLst>
              <a:gd name="adj" fmla="val 55386"/>
            </a:avLst>
          </a:prstGeom>
          <a:solidFill>
            <a:srgbClr val="FBFBF8"/>
          </a:solidFill>
          <a:ln w="19050">
            <a:solidFill>
              <a:srgbClr val="D9692B"/>
            </a:solidFill>
            <a:prstDash val="solid"/>
          </a:ln>
        </p:spPr>
      </p:sp>
      <p:sp>
        <p:nvSpPr>
          <p:cNvPr id="4" name="Text 1"/>
          <p:cNvSpPr txBox="1"/>
          <p:nvPr/>
        </p:nvSpPr>
        <p:spPr>
          <a:xfrm>
            <a:off x="812780" y="711182"/>
            <a:ext cx="3035224" cy="330192"/>
          </a:xfrm>
          <a:prstGeom prst="rect">
            <a:avLst/>
          </a:prstGeom>
          <a:noFill/>
          <a:ln/>
        </p:spPr>
        <p:txBody>
          <a:bodyPr wrap="square" lIns="0" tIns="0" rIns="0" bIns="0" rtlCol="0" anchor="ctr"/>
          <a:lstStyle/>
          <a:p>
            <a:pPr algn="ctr" indent="0" marL="0">
              <a:buNone/>
            </a:pPr>
            <a:r>
              <a:rPr lang="en-US" sz="1300" b="1" spc="200" kern="0" dirty="0">
                <a:solidFill>
                  <a:srgbClr val="D9692B"/>
                </a:solidFill>
                <a:latin typeface="Calibri" pitchFamily="34" charset="0"/>
                <a:ea typeface="Calibri" pitchFamily="34" charset="-122"/>
                <a:cs typeface="Calibri" pitchFamily="34" charset="-120"/>
              </a:rPr>
              <a:t>PROBLEMA / PREGUNTA</a:t>
            </a:r>
            <a:endParaRPr lang="en-US" sz="1300" dirty="0"/>
          </a:p>
        </p:txBody>
      </p:sp>
      <p:sp>
        <p:nvSpPr>
          <p:cNvPr id="5" name="Text 2"/>
          <p:cNvSpPr txBox="1"/>
          <p:nvPr/>
        </p:nvSpPr>
        <p:spPr>
          <a:xfrm>
            <a:off x="812780" y="1142971"/>
            <a:ext cx="10566136" cy="1079473"/>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Ver más detalle que lo que permite el objetivo y recuperar la fase de una muestra</a:t>
            </a:r>
            <a:endParaRPr lang="en-US" sz="3300" dirty="0"/>
          </a:p>
        </p:txBody>
      </p:sp>
      <p:sp>
        <p:nvSpPr>
          <p:cNvPr id="6" name="Text 3"/>
          <p:cNvSpPr txBox="1"/>
          <p:nvPr/>
        </p:nvSpPr>
        <p:spPr>
          <a:xfrm>
            <a:off x="812780" y="2476438"/>
            <a:ext cx="6857829" cy="634984"/>
          </a:xfrm>
          <a:prstGeom prst="rect">
            <a:avLst/>
          </a:prstGeom>
          <a:noFill/>
          <a:ln/>
        </p:spPr>
        <p:txBody>
          <a:bodyPr wrap="square" lIns="0" tIns="0" rIns="0" bIns="0" rtlCol="0" anchor="t"/>
          <a:lstStyle/>
          <a:p>
            <a:pPr indent="0" marL="0">
              <a:buNone/>
            </a:pPr>
            <a:r>
              <a:rPr lang="en-US" sz="1700" dirty="0">
                <a:solidFill>
                  <a:srgbClr val="3D4A5C"/>
                </a:solidFill>
                <a:latin typeface="Calibri" pitchFamily="34" charset="0"/>
                <a:ea typeface="Calibri" pitchFamily="34" charset="-122"/>
                <a:cs typeface="Calibri" pitchFamily="34" charset="-120"/>
              </a:rPr>
              <a:t>Un microscopio no separa detalles menores a un límite: con nuestro objetivo, </a:t>
            </a:r>
            <a:pPr indent="0" marL="0">
              <a:buNone/>
            </a:pPr>
            <a:r>
              <a:rPr lang="en-US" sz="1700" b="1" dirty="0">
                <a:solidFill>
                  <a:srgbClr val="3D4A5C"/>
                </a:solidFill>
                <a:latin typeface="Calibri" pitchFamily="34" charset="0"/>
                <a:ea typeface="Calibri" pitchFamily="34" charset="-122"/>
                <a:cs typeface="Calibri" pitchFamily="34" charset="-120"/>
              </a:rPr>
              <a:t>~3,8 µm</a:t>
            </a:r>
            <a:pPr indent="0" marL="0">
              <a:buNone/>
            </a:pPr>
            <a:r>
              <a:rPr lang="en-US" sz="1700" dirty="0">
                <a:solidFill>
                  <a:srgbClr val="3D4A5C"/>
                </a:solidFill>
                <a:latin typeface="Calibri" pitchFamily="34" charset="0"/>
                <a:ea typeface="Calibri" pitchFamily="34" charset="-122"/>
                <a:cs typeface="Calibri" pitchFamily="34" charset="-120"/>
              </a:rPr>
              <a:t>.</a:t>
            </a:r>
            <a:endParaRPr lang="en-US" sz="1700" dirty="0"/>
          </a:p>
        </p:txBody>
      </p:sp>
      <p:sp>
        <p:nvSpPr>
          <p:cNvPr id="7" name="Text 4"/>
          <p:cNvSpPr txBox="1"/>
          <p:nvPr/>
        </p:nvSpPr>
        <p:spPr>
          <a:xfrm>
            <a:off x="812780" y="3174921"/>
            <a:ext cx="6857829" cy="1079473"/>
          </a:xfrm>
          <a:prstGeom prst="rect">
            <a:avLst/>
          </a:prstGeom>
          <a:noFill/>
          <a:ln/>
        </p:spPr>
        <p:txBody>
          <a:bodyPr wrap="square" lIns="0" tIns="0" rIns="0" bIns="0" rtlCol="0" anchor="t"/>
          <a:lstStyle/>
          <a:p>
            <a:pPr indent="0" marL="0">
              <a:buNone/>
            </a:pPr>
            <a:r>
              <a:rPr lang="en-US" sz="1700" b="1" dirty="0">
                <a:solidFill>
                  <a:srgbClr val="3D4A5C"/>
                </a:solidFill>
                <a:latin typeface="Calibri" pitchFamily="34" charset="0"/>
                <a:ea typeface="Calibri" pitchFamily="34" charset="-122"/>
                <a:cs typeface="Calibri" pitchFamily="34" charset="-120"/>
              </a:rPr>
              <a:t>FPM</a:t>
            </a:r>
            <a:pPr indent="0" marL="0">
              <a:buNone/>
            </a:pPr>
            <a:r>
              <a:rPr lang="en-US" sz="1700" dirty="0">
                <a:solidFill>
                  <a:srgbClr val="3D4A5C"/>
                </a:solidFill>
                <a:latin typeface="Calibri" pitchFamily="34" charset="0"/>
                <a:ea typeface="Calibri" pitchFamily="34" charset="-122"/>
                <a:cs typeface="Calibri" pitchFamily="34" charset="-120"/>
              </a:rPr>
              <a:t>: una foto por LED, cada una con la iluminación desde otro ángulo; un programa las combina para bajar, en teoría, a </a:t>
            </a:r>
            <a:pPr indent="0" marL="0">
              <a:buNone/>
            </a:pPr>
            <a:r>
              <a:rPr lang="en-US" sz="1700" b="1" dirty="0">
                <a:solidFill>
                  <a:srgbClr val="3D4A5C"/>
                </a:solidFill>
                <a:latin typeface="Calibri" pitchFamily="34" charset="0"/>
                <a:ea typeface="Calibri" pitchFamily="34" charset="-122"/>
                <a:cs typeface="Calibri" pitchFamily="34" charset="-120"/>
              </a:rPr>
              <a:t>0,5–1 µm</a:t>
            </a:r>
            <a:pPr indent="0" marL="0">
              <a:buNone/>
            </a:pPr>
            <a:r>
              <a:rPr lang="en-US" sz="1700" dirty="0">
                <a:solidFill>
                  <a:srgbClr val="3D4A5C"/>
                </a:solidFill>
                <a:latin typeface="Calibri" pitchFamily="34" charset="0"/>
                <a:ea typeface="Calibri" pitchFamily="34" charset="-122"/>
                <a:cs typeface="Calibri" pitchFamily="34" charset="-120"/>
              </a:rPr>
              <a:t> y además recuperar la </a:t>
            </a:r>
            <a:pPr indent="0" marL="0">
              <a:buNone/>
            </a:pPr>
            <a:r>
              <a:rPr lang="en-US" sz="1700" i="1" dirty="0">
                <a:solidFill>
                  <a:srgbClr val="3D4A5C"/>
                </a:solidFill>
                <a:latin typeface="Calibri" pitchFamily="34" charset="0"/>
                <a:ea typeface="Calibri" pitchFamily="34" charset="-122"/>
                <a:cs typeface="Calibri" pitchFamily="34" charset="-120"/>
              </a:rPr>
              <a:t>fase</a:t>
            </a:r>
            <a:pPr indent="0" marL="0">
              <a:buNone/>
            </a:pPr>
            <a:r>
              <a:rPr lang="en-US" sz="1700" dirty="0">
                <a:solidFill>
                  <a:srgbClr val="3D4A5C"/>
                </a:solidFill>
                <a:latin typeface="Calibri" pitchFamily="34" charset="0"/>
                <a:ea typeface="Calibri" pitchFamily="34" charset="-122"/>
                <a:cs typeface="Calibri" pitchFamily="34" charset="-120"/>
              </a:rPr>
              <a:t> (cuánto se retrasa la luz).</a:t>
            </a:r>
            <a:endParaRPr lang="en-US" sz="1700" dirty="0"/>
          </a:p>
        </p:txBody>
      </p:sp>
      <p:sp>
        <p:nvSpPr>
          <p:cNvPr id="8" name="Text 5"/>
          <p:cNvSpPr txBox="1"/>
          <p:nvPr/>
        </p:nvSpPr>
        <p:spPr>
          <a:xfrm>
            <a:off x="812780" y="4381390"/>
            <a:ext cx="6857829" cy="634984"/>
          </a:xfrm>
          <a:prstGeom prst="rect">
            <a:avLst/>
          </a:prstGeom>
          <a:noFill/>
          <a:ln/>
        </p:spPr>
        <p:txBody>
          <a:bodyPr wrap="square" lIns="0" tIns="0" rIns="0" bIns="0" rtlCol="0" anchor="t"/>
          <a:lstStyle/>
          <a:p>
            <a:pPr indent="0" marL="0">
              <a:buNone/>
            </a:pPr>
            <a:r>
              <a:rPr lang="en-US" sz="1700" dirty="0">
                <a:solidFill>
                  <a:srgbClr val="3D4A5C"/>
                </a:solidFill>
                <a:latin typeface="Calibri" pitchFamily="34" charset="0"/>
                <a:ea typeface="Calibri" pitchFamily="34" charset="-122"/>
                <a:cs typeface="Calibri" pitchFamily="34" charset="-120"/>
              </a:rPr>
              <a:t>El programa siempre devuelve una imagen: </a:t>
            </a:r>
            <a:pPr indent="0" marL="0">
              <a:buNone/>
            </a:pPr>
            <a:r>
              <a:rPr lang="en-US" sz="1700" b="1" dirty="0">
                <a:solidFill>
                  <a:srgbClr val="3D4A5C"/>
                </a:solidFill>
                <a:latin typeface="Calibri" pitchFamily="34" charset="0"/>
                <a:ea typeface="Calibri" pitchFamily="34" charset="-122"/>
                <a:cs typeface="Calibri" pitchFamily="34" charset="-120"/>
              </a:rPr>
              <a:t>¿Es la muestra en alta resolución o lo inventó?</a:t>
            </a:r>
            <a:endParaRPr lang="en-US" sz="1700" dirty="0"/>
          </a:p>
        </p:txBody>
      </p:sp>
      <p:sp>
        <p:nvSpPr>
          <p:cNvPr id="9" name="Shape 6"/>
          <p:cNvSpPr/>
          <p:nvPr/>
        </p:nvSpPr>
        <p:spPr>
          <a:xfrm>
            <a:off x="812780" y="5143371"/>
            <a:ext cx="6857829" cy="825479"/>
          </a:xfrm>
          <a:prstGeom prst="roundRect">
            <a:avLst>
              <a:gd name="adj" fmla="val 11077"/>
            </a:avLst>
          </a:prstGeom>
          <a:solidFill>
            <a:srgbClr val="F6D9C6"/>
          </a:solidFill>
          <a:ln w="12700">
            <a:solidFill>
              <a:srgbClr val="F6D9C6"/>
            </a:solidFill>
            <a:prstDash val="solid"/>
          </a:ln>
        </p:spPr>
      </p:sp>
      <p:sp>
        <p:nvSpPr>
          <p:cNvPr id="10" name="Text 7"/>
          <p:cNvSpPr txBox="1"/>
          <p:nvPr/>
        </p:nvSpPr>
        <p:spPr>
          <a:xfrm>
            <a:off x="1015975" y="5143371"/>
            <a:ext cx="6476838" cy="825479"/>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¿Qué pudieron resolver los agentes de IA en este problema, y qué no?</a:t>
            </a:r>
            <a:endParaRPr lang="en-US" sz="1700" dirty="0"/>
          </a:p>
        </p:txBody>
      </p:sp>
      <p:sp>
        <p:nvSpPr>
          <p:cNvPr id="11" name="Shape 8"/>
          <p:cNvSpPr/>
          <p:nvPr/>
        </p:nvSpPr>
        <p:spPr>
          <a:xfrm>
            <a:off x="8364584" y="2700526"/>
            <a:ext cx="170422" cy="170422"/>
          </a:xfrm>
          <a:prstGeom prst="ellipse">
            <a:avLst/>
          </a:prstGeom>
          <a:solidFill>
            <a:srgbClr val="FBFBF8"/>
          </a:solidFill>
          <a:ln w="19050">
            <a:solidFill>
              <a:srgbClr val="6A7382"/>
            </a:solidFill>
            <a:prstDash val="solid"/>
          </a:ln>
        </p:spPr>
      </p:sp>
      <p:sp>
        <p:nvSpPr>
          <p:cNvPr id="12" name="Shape 9"/>
          <p:cNvSpPr/>
          <p:nvPr/>
        </p:nvSpPr>
        <p:spPr>
          <a:xfrm>
            <a:off x="8684125" y="2700526"/>
            <a:ext cx="170422" cy="170422"/>
          </a:xfrm>
          <a:prstGeom prst="ellipse">
            <a:avLst/>
          </a:prstGeom>
          <a:solidFill>
            <a:srgbClr val="FBFBF8"/>
          </a:solidFill>
          <a:ln w="19050">
            <a:solidFill>
              <a:srgbClr val="6A7382"/>
            </a:solidFill>
            <a:prstDash val="solid"/>
          </a:ln>
        </p:spPr>
      </p:sp>
      <p:sp>
        <p:nvSpPr>
          <p:cNvPr id="13" name="Shape 10"/>
          <p:cNvSpPr/>
          <p:nvPr/>
        </p:nvSpPr>
        <p:spPr>
          <a:xfrm>
            <a:off x="9003665" y="2700526"/>
            <a:ext cx="170422" cy="170422"/>
          </a:xfrm>
          <a:prstGeom prst="ellipse">
            <a:avLst/>
          </a:prstGeom>
          <a:solidFill>
            <a:srgbClr val="FBFBF8"/>
          </a:solidFill>
          <a:ln w="19050">
            <a:solidFill>
              <a:srgbClr val="6A7382"/>
            </a:solidFill>
            <a:prstDash val="solid"/>
          </a:ln>
        </p:spPr>
      </p:sp>
      <p:sp>
        <p:nvSpPr>
          <p:cNvPr id="14" name="Shape 11"/>
          <p:cNvSpPr/>
          <p:nvPr/>
        </p:nvSpPr>
        <p:spPr>
          <a:xfrm>
            <a:off x="9323206" y="2700526"/>
            <a:ext cx="170422" cy="170422"/>
          </a:xfrm>
          <a:prstGeom prst="ellipse">
            <a:avLst/>
          </a:prstGeom>
          <a:solidFill>
            <a:srgbClr val="FBFBF8"/>
          </a:solidFill>
          <a:ln w="19050">
            <a:solidFill>
              <a:srgbClr val="6A7382"/>
            </a:solidFill>
            <a:prstDash val="solid"/>
          </a:ln>
        </p:spPr>
      </p:sp>
      <p:sp>
        <p:nvSpPr>
          <p:cNvPr id="15" name="Shape 12"/>
          <p:cNvSpPr/>
          <p:nvPr/>
        </p:nvSpPr>
        <p:spPr>
          <a:xfrm>
            <a:off x="9642746" y="2700526"/>
            <a:ext cx="170422" cy="170422"/>
          </a:xfrm>
          <a:prstGeom prst="ellipse">
            <a:avLst/>
          </a:prstGeom>
          <a:solidFill>
            <a:srgbClr val="FBFBF8"/>
          </a:solidFill>
          <a:ln w="19050">
            <a:solidFill>
              <a:srgbClr val="6A7382"/>
            </a:solidFill>
            <a:prstDash val="solid"/>
          </a:ln>
        </p:spPr>
      </p:sp>
      <p:sp>
        <p:nvSpPr>
          <p:cNvPr id="16" name="Shape 13"/>
          <p:cNvSpPr/>
          <p:nvPr/>
        </p:nvSpPr>
        <p:spPr>
          <a:xfrm>
            <a:off x="9962286" y="2700526"/>
            <a:ext cx="170422" cy="170422"/>
          </a:xfrm>
          <a:prstGeom prst="ellipse">
            <a:avLst/>
          </a:prstGeom>
          <a:solidFill>
            <a:srgbClr val="FBFBF8"/>
          </a:solidFill>
          <a:ln w="19050">
            <a:solidFill>
              <a:srgbClr val="6A7382"/>
            </a:solidFill>
            <a:prstDash val="solid"/>
          </a:ln>
        </p:spPr>
      </p:sp>
      <p:sp>
        <p:nvSpPr>
          <p:cNvPr id="17" name="Shape 14"/>
          <p:cNvSpPr/>
          <p:nvPr/>
        </p:nvSpPr>
        <p:spPr>
          <a:xfrm>
            <a:off x="10281827" y="2700526"/>
            <a:ext cx="170422" cy="170422"/>
          </a:xfrm>
          <a:prstGeom prst="ellipse">
            <a:avLst/>
          </a:prstGeom>
          <a:solidFill>
            <a:srgbClr val="D9692B"/>
          </a:solidFill>
          <a:ln w="19050">
            <a:solidFill>
              <a:srgbClr val="D9692B"/>
            </a:solidFill>
            <a:prstDash val="solid"/>
          </a:ln>
        </p:spPr>
      </p:sp>
      <p:sp>
        <p:nvSpPr>
          <p:cNvPr id="18" name="Shape 15"/>
          <p:cNvSpPr/>
          <p:nvPr/>
        </p:nvSpPr>
        <p:spPr>
          <a:xfrm>
            <a:off x="10601367" y="2700526"/>
            <a:ext cx="170422" cy="170422"/>
          </a:xfrm>
          <a:prstGeom prst="ellipse">
            <a:avLst/>
          </a:prstGeom>
          <a:solidFill>
            <a:srgbClr val="FBFBF8"/>
          </a:solidFill>
          <a:ln w="19050">
            <a:solidFill>
              <a:srgbClr val="6A7382"/>
            </a:solidFill>
            <a:prstDash val="solid"/>
          </a:ln>
        </p:spPr>
      </p:sp>
      <p:sp>
        <p:nvSpPr>
          <p:cNvPr id="19" name="Shape 16"/>
          <p:cNvSpPr/>
          <p:nvPr/>
        </p:nvSpPr>
        <p:spPr>
          <a:xfrm>
            <a:off x="10920908" y="2700526"/>
            <a:ext cx="170422" cy="170422"/>
          </a:xfrm>
          <a:prstGeom prst="ellipse">
            <a:avLst/>
          </a:prstGeom>
          <a:solidFill>
            <a:srgbClr val="FBFBF8"/>
          </a:solidFill>
          <a:ln w="19050">
            <a:solidFill>
              <a:srgbClr val="6A7382"/>
            </a:solidFill>
            <a:prstDash val="solid"/>
          </a:ln>
        </p:spPr>
      </p:sp>
      <p:sp>
        <p:nvSpPr>
          <p:cNvPr id="20" name="Shape 17"/>
          <p:cNvSpPr/>
          <p:nvPr/>
        </p:nvSpPr>
        <p:spPr>
          <a:xfrm flipH="1">
            <a:off x="9834470" y="2892250"/>
            <a:ext cx="532567" cy="1278162"/>
          </a:xfrm>
          <a:prstGeom prst="line">
            <a:avLst/>
          </a:prstGeom>
          <a:noFill/>
          <a:ln w="31750">
            <a:solidFill>
              <a:srgbClr val="D9692B"/>
            </a:solidFill>
            <a:prstDash val="solid"/>
          </a:ln>
        </p:spPr>
      </p:sp>
      <p:sp>
        <p:nvSpPr>
          <p:cNvPr id="21" name="Shape 18"/>
          <p:cNvSpPr/>
          <p:nvPr/>
        </p:nvSpPr>
        <p:spPr>
          <a:xfrm>
            <a:off x="8875849" y="4170412"/>
            <a:ext cx="1704215" cy="159770"/>
          </a:xfrm>
          <a:prstGeom prst="roundRect">
            <a:avLst>
              <a:gd name="adj" fmla="val 17170"/>
            </a:avLst>
          </a:prstGeom>
          <a:solidFill>
            <a:srgbClr val="F6D9C6"/>
          </a:solidFill>
          <a:ln w="12700">
            <a:solidFill>
              <a:srgbClr val="6A7382"/>
            </a:solidFill>
            <a:prstDash val="solid"/>
          </a:ln>
        </p:spPr>
      </p:sp>
      <p:sp>
        <p:nvSpPr>
          <p:cNvPr id="22" name="Shape 19"/>
          <p:cNvSpPr/>
          <p:nvPr/>
        </p:nvSpPr>
        <p:spPr>
          <a:xfrm rot="10800000">
            <a:off x="9301903" y="4543209"/>
            <a:ext cx="852108" cy="426054"/>
          </a:xfrm>
          <a:prstGeom prst="trapezoid">
            <a:avLst/>
          </a:prstGeom>
          <a:solidFill>
            <a:srgbClr val="FBFBF8"/>
          </a:solidFill>
          <a:ln w="19050">
            <a:solidFill>
              <a:srgbClr val="14213D"/>
            </a:solidFill>
            <a:prstDash val="solid"/>
          </a:ln>
        </p:spPr>
      </p:sp>
      <p:sp>
        <p:nvSpPr>
          <p:cNvPr id="23" name="Shape 20"/>
          <p:cNvSpPr/>
          <p:nvPr/>
        </p:nvSpPr>
        <p:spPr>
          <a:xfrm>
            <a:off x="9727957" y="4969263"/>
            <a:ext cx="0" cy="426054"/>
          </a:xfrm>
          <a:prstGeom prst="line">
            <a:avLst/>
          </a:prstGeom>
          <a:noFill/>
          <a:ln w="19050">
            <a:solidFill>
              <a:srgbClr val="14213D"/>
            </a:solidFill>
            <a:prstDash val="solid"/>
          </a:ln>
        </p:spPr>
      </p:sp>
      <p:sp>
        <p:nvSpPr>
          <p:cNvPr id="24" name="Shape 21"/>
          <p:cNvSpPr/>
          <p:nvPr/>
        </p:nvSpPr>
        <p:spPr>
          <a:xfrm>
            <a:off x="9301903" y="5395317"/>
            <a:ext cx="852108" cy="479311"/>
          </a:xfrm>
          <a:prstGeom prst="roundRect">
            <a:avLst>
              <a:gd name="adj" fmla="val 11446"/>
            </a:avLst>
          </a:prstGeom>
          <a:solidFill>
            <a:srgbClr val="FBFBF8"/>
          </a:solidFill>
          <a:ln w="19050">
            <a:solidFill>
              <a:srgbClr val="14213D"/>
            </a:solidFill>
            <a:prstDash val="solid"/>
          </a:ln>
        </p:spPr>
      </p:sp>
      <p:sp>
        <p:nvSpPr>
          <p:cNvPr id="25" name="Text 22"/>
          <p:cNvSpPr txBox="1"/>
          <p:nvPr/>
        </p:nvSpPr>
        <p:spPr>
          <a:xfrm>
            <a:off x="8183512" y="2972135"/>
            <a:ext cx="1650959" cy="228594"/>
          </a:xfrm>
          <a:prstGeom prst="rect">
            <a:avLst/>
          </a:prstGeom>
          <a:noFill/>
          <a:ln/>
        </p:spPr>
        <p:txBody>
          <a:bodyPr wrap="square" lIns="0" tIns="0" rIns="0" bIns="0" rtlCol="0" anchor="t"/>
          <a:lstStyle/>
          <a:p>
            <a:pPr indent="0" marL="0">
              <a:buNone/>
            </a:pPr>
            <a:r>
              <a:rPr lang="en-US" sz="1300" dirty="0">
                <a:solidFill>
                  <a:srgbClr val="3D4A5C"/>
                </a:solidFill>
                <a:latin typeface="Calibri" pitchFamily="34" charset="0"/>
                <a:ea typeface="Calibri" pitchFamily="34" charset="-122"/>
                <a:cs typeface="Calibri" pitchFamily="34" charset="-120"/>
              </a:rPr>
              <a:t>Matriz de LEDs</a:t>
            </a:r>
            <a:endParaRPr lang="en-US" sz="1300" dirty="0"/>
          </a:p>
        </p:txBody>
      </p:sp>
      <p:sp>
        <p:nvSpPr>
          <p:cNvPr id="26" name="Text 23"/>
          <p:cNvSpPr txBox="1"/>
          <p:nvPr/>
        </p:nvSpPr>
        <p:spPr>
          <a:xfrm>
            <a:off x="10633321" y="4154435"/>
            <a:ext cx="1015975" cy="228594"/>
          </a:xfrm>
          <a:prstGeom prst="rect">
            <a:avLst/>
          </a:prstGeom>
          <a:noFill/>
          <a:ln/>
        </p:spPr>
        <p:txBody>
          <a:bodyPr wrap="square" lIns="0" tIns="0" rIns="0" bIns="0" rtlCol="0" anchor="t"/>
          <a:lstStyle/>
          <a:p>
            <a:pPr indent="0" marL="0">
              <a:buNone/>
            </a:pPr>
            <a:r>
              <a:rPr lang="en-US" sz="1300" dirty="0">
                <a:solidFill>
                  <a:srgbClr val="3D4A5C"/>
                </a:solidFill>
                <a:latin typeface="Calibri" pitchFamily="34" charset="0"/>
                <a:ea typeface="Calibri" pitchFamily="34" charset="-122"/>
                <a:cs typeface="Calibri" pitchFamily="34" charset="-120"/>
              </a:rPr>
              <a:t>Muestra</a:t>
            </a:r>
            <a:endParaRPr lang="en-US" sz="1300" dirty="0"/>
          </a:p>
        </p:txBody>
      </p:sp>
      <p:sp>
        <p:nvSpPr>
          <p:cNvPr id="27" name="Text 24"/>
          <p:cNvSpPr txBox="1"/>
          <p:nvPr/>
        </p:nvSpPr>
        <p:spPr>
          <a:xfrm>
            <a:off x="10207267" y="4676351"/>
            <a:ext cx="1015975" cy="228594"/>
          </a:xfrm>
          <a:prstGeom prst="rect">
            <a:avLst/>
          </a:prstGeom>
          <a:noFill/>
          <a:ln/>
        </p:spPr>
        <p:txBody>
          <a:bodyPr wrap="square" lIns="0" tIns="0" rIns="0" bIns="0" rtlCol="0" anchor="t"/>
          <a:lstStyle/>
          <a:p>
            <a:pPr indent="0" marL="0">
              <a:buNone/>
            </a:pPr>
            <a:r>
              <a:rPr lang="en-US" sz="1300" dirty="0">
                <a:solidFill>
                  <a:srgbClr val="3D4A5C"/>
                </a:solidFill>
                <a:latin typeface="Calibri" pitchFamily="34" charset="0"/>
                <a:ea typeface="Calibri" pitchFamily="34" charset="-122"/>
                <a:cs typeface="Calibri" pitchFamily="34" charset="-120"/>
              </a:rPr>
              <a:t>Objetivo</a:t>
            </a:r>
            <a:endParaRPr lang="en-US" sz="1300" dirty="0"/>
          </a:p>
        </p:txBody>
      </p:sp>
      <p:sp>
        <p:nvSpPr>
          <p:cNvPr id="28" name="Text 25"/>
          <p:cNvSpPr txBox="1"/>
          <p:nvPr/>
        </p:nvSpPr>
        <p:spPr>
          <a:xfrm>
            <a:off x="10207267" y="5555087"/>
            <a:ext cx="1015975" cy="228594"/>
          </a:xfrm>
          <a:prstGeom prst="rect">
            <a:avLst/>
          </a:prstGeom>
          <a:noFill/>
          <a:ln/>
        </p:spPr>
        <p:txBody>
          <a:bodyPr wrap="square" lIns="0" tIns="0" rIns="0" bIns="0" rtlCol="0" anchor="t"/>
          <a:lstStyle/>
          <a:p>
            <a:pPr indent="0" marL="0">
              <a:buNone/>
            </a:pPr>
            <a:r>
              <a:rPr lang="en-US" sz="1300" dirty="0">
                <a:solidFill>
                  <a:srgbClr val="3D4A5C"/>
                </a:solidFill>
                <a:latin typeface="Calibri" pitchFamily="34" charset="0"/>
                <a:ea typeface="Calibri" pitchFamily="34" charset="-122"/>
                <a:cs typeface="Calibri" pitchFamily="34" charset="-120"/>
              </a:rPr>
              <a:t>Cámara</a:t>
            </a:r>
            <a:endParaRPr lang="en-US" sz="1300" dirty="0"/>
          </a:p>
        </p:txBody>
      </p:sp>
      <p:sp>
        <p:nvSpPr>
          <p:cNvPr id="29" name="Text 26"/>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2 /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3035224" cy="330192"/>
          </a:xfrm>
          <a:prstGeom prst="roundRect">
            <a:avLst>
              <a:gd name="adj" fmla="val 55386"/>
            </a:avLst>
          </a:prstGeom>
          <a:solidFill>
            <a:srgbClr val="FBFBF8"/>
          </a:solidFill>
          <a:ln w="19050">
            <a:solidFill>
              <a:srgbClr val="2F6FB0"/>
            </a:solidFill>
            <a:prstDash val="solid"/>
          </a:ln>
        </p:spPr>
      </p:sp>
      <p:sp>
        <p:nvSpPr>
          <p:cNvPr id="4" name="Text 1"/>
          <p:cNvSpPr txBox="1"/>
          <p:nvPr/>
        </p:nvSpPr>
        <p:spPr>
          <a:xfrm>
            <a:off x="812780" y="711182"/>
            <a:ext cx="3035224" cy="330192"/>
          </a:xfrm>
          <a:prstGeom prst="rect">
            <a:avLst/>
          </a:prstGeom>
          <a:noFill/>
          <a:ln/>
        </p:spPr>
        <p:txBody>
          <a:bodyPr wrap="square" lIns="0" tIns="0" rIns="0" bIns="0" rtlCol="0" anchor="ctr"/>
          <a:lstStyle/>
          <a:p>
            <a:pPr algn="ctr" indent="0" marL="0">
              <a:buNone/>
            </a:pPr>
            <a:r>
              <a:rPr lang="en-US" sz="1300" b="1" spc="200" kern="0" dirty="0">
                <a:solidFill>
                  <a:srgbClr val="2F6FB0"/>
                </a:solidFill>
                <a:latin typeface="Calibri" pitchFamily="34" charset="0"/>
                <a:ea typeface="Calibri" pitchFamily="34" charset="-122"/>
                <a:cs typeface="Calibri" pitchFamily="34" charset="-120"/>
              </a:rPr>
              <a:t>RESULTADO PRINCIPAL</a:t>
            </a:r>
            <a:endParaRPr lang="en-US" sz="1300" dirty="0"/>
          </a:p>
        </p:txBody>
      </p:sp>
      <p:sp>
        <p:nvSpPr>
          <p:cNvPr id="5" name="Text 2"/>
          <p:cNvSpPr txBox="1"/>
          <p:nvPr/>
        </p:nvSpPr>
        <p:spPr>
          <a:xfrm>
            <a:off x="812780" y="1142971"/>
            <a:ext cx="10566136" cy="1079473"/>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Reconstrucción con imágenes tomadas en el laboratorio en 3 canales RGB</a:t>
            </a:r>
            <a:endParaRPr lang="en-US" sz="3300" dirty="0"/>
          </a:p>
        </p:txBody>
      </p:sp>
      <p:pic>
        <p:nvPicPr>
          <p:cNvPr id="6" name="Image 0" descr="/home/chanoscopio/Documents/LucasC/reproducible-research-template/report/informe/img/fig_rgb_2809b_es.png">    </p:cNvPr>
          <p:cNvPicPr>
            <a:picLocks noChangeAspect="1"/>
          </p:cNvPicPr>
          <p:nvPr/>
        </p:nvPicPr>
        <p:blipFill>
          <a:blip r:embed="rId1"/>
          <a:stretch>
            <a:fillRect/>
          </a:stretch>
        </p:blipFill>
        <p:spPr>
          <a:xfrm>
            <a:off x="815364" y="2349441"/>
            <a:ext cx="5519193" cy="3651159"/>
          </a:xfrm>
          <a:prstGeom prst="rect">
            <a:avLst/>
          </a:prstGeom>
        </p:spPr>
      </p:pic>
      <p:sp>
        <p:nvSpPr>
          <p:cNvPr id="7" name="Text 3"/>
          <p:cNvSpPr txBox="1"/>
          <p:nvPr/>
        </p:nvSpPr>
        <p:spPr>
          <a:xfrm>
            <a:off x="6641934" y="2381190"/>
            <a:ext cx="4736982" cy="253994"/>
          </a:xfrm>
          <a:prstGeom prst="rect">
            <a:avLst/>
          </a:prstGeom>
          <a:noFill/>
          <a:ln/>
        </p:spPr>
        <p:txBody>
          <a:bodyPr wrap="square" lIns="0" tIns="0" rIns="0" bIns="0" rtlCol="0" anchor="t"/>
          <a:lstStyle/>
          <a:p>
            <a:pPr indent="0" marL="0">
              <a:buNone/>
            </a:pPr>
            <a:r>
              <a:rPr lang="en-US" sz="1100" b="1" spc="100" kern="0" dirty="0">
                <a:solidFill>
                  <a:srgbClr val="6A7382"/>
                </a:solidFill>
                <a:latin typeface="Calibri" pitchFamily="34" charset="0"/>
                <a:ea typeface="Calibri" pitchFamily="34" charset="-122"/>
                <a:cs typeface="Calibri" pitchFamily="34" charset="-120"/>
              </a:rPr>
              <a:t>QUÉ SUGIRIERON LOS AGENTES PARA LAS CAPTURAS</a:t>
            </a:r>
            <a:endParaRPr lang="en-US" sz="1100" dirty="0"/>
          </a:p>
        </p:txBody>
      </p:sp>
      <p:sp>
        <p:nvSpPr>
          <p:cNvPr id="8" name="Text 4"/>
          <p:cNvSpPr txBox="1"/>
          <p:nvPr/>
        </p:nvSpPr>
        <p:spPr>
          <a:xfrm>
            <a:off x="6641934" y="2730432"/>
            <a:ext cx="253994" cy="317492"/>
          </a:xfrm>
          <a:prstGeom prst="rect">
            <a:avLst/>
          </a:prstGeom>
          <a:noFill/>
          <a:ln/>
        </p:spPr>
        <p:txBody>
          <a:bodyPr wrap="square" lIns="0" tIns="0" rIns="0" bIns="0" rtlCol="0" anchor="t"/>
          <a:lstStyle/>
          <a:p>
            <a:pPr indent="0" marL="0">
              <a:buNone/>
            </a:pPr>
            <a:r>
              <a:rPr lang="en-US" sz="1800" b="1" dirty="0">
                <a:solidFill>
                  <a:srgbClr val="2F6FB0"/>
                </a:solidFill>
                <a:latin typeface="Cambria" pitchFamily="34" charset="0"/>
                <a:ea typeface="Cambria" pitchFamily="34" charset="-122"/>
                <a:cs typeface="Cambria" pitchFamily="34" charset="-120"/>
              </a:rPr>
              <a:t>1</a:t>
            </a:r>
            <a:endParaRPr lang="en-US" sz="1800" dirty="0"/>
          </a:p>
        </p:txBody>
      </p:sp>
      <p:sp>
        <p:nvSpPr>
          <p:cNvPr id="9" name="Text 5"/>
          <p:cNvSpPr txBox="1"/>
          <p:nvPr/>
        </p:nvSpPr>
        <p:spPr>
          <a:xfrm>
            <a:off x="6997525" y="2730432"/>
            <a:ext cx="4381390" cy="4952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Varios tiempos por LED: corto en luz directa, largo en luz inclinada</a:t>
            </a:r>
            <a:endParaRPr lang="en-US" sz="1400" dirty="0"/>
          </a:p>
        </p:txBody>
      </p:sp>
      <p:sp>
        <p:nvSpPr>
          <p:cNvPr id="10" name="Text 6"/>
          <p:cNvSpPr txBox="1"/>
          <p:nvPr/>
        </p:nvSpPr>
        <p:spPr>
          <a:xfrm>
            <a:off x="6997525" y="3238419"/>
            <a:ext cx="4381390" cy="215895"/>
          </a:xfrm>
          <a:prstGeom prst="rect">
            <a:avLst/>
          </a:prstGeom>
          <a:noFill/>
          <a:ln/>
        </p:spPr>
        <p:txBody>
          <a:bodyPr wrap="square" lIns="0" tIns="0" rIns="0" bIns="0" rtlCol="0" anchor="t"/>
          <a:lstStyle/>
          <a:p>
            <a:pPr indent="0" marL="0">
              <a:buNone/>
            </a:pPr>
            <a:r>
              <a:rPr lang="en-US" sz="1150" dirty="0">
                <a:solidFill>
                  <a:srgbClr val="6A7382"/>
                </a:solidFill>
                <a:latin typeface="Calibri" pitchFamily="34" charset="0"/>
                <a:ea typeface="Calibri" pitchFamily="34" charset="-122"/>
                <a:cs typeface="Calibri" pitchFamily="34" charset="-120"/>
              </a:rPr>
              <a:t>24/09: 131 de 169 LEDs con señal útil (señal/ruido &gt; 3)</a:t>
            </a:r>
            <a:endParaRPr lang="en-US" sz="1150" dirty="0"/>
          </a:p>
        </p:txBody>
      </p:sp>
      <p:sp>
        <p:nvSpPr>
          <p:cNvPr id="11" name="Text 7"/>
          <p:cNvSpPr txBox="1"/>
          <p:nvPr/>
        </p:nvSpPr>
        <p:spPr>
          <a:xfrm>
            <a:off x="6641934" y="3517812"/>
            <a:ext cx="253994" cy="317492"/>
          </a:xfrm>
          <a:prstGeom prst="rect">
            <a:avLst/>
          </a:prstGeom>
          <a:noFill/>
          <a:ln/>
        </p:spPr>
        <p:txBody>
          <a:bodyPr wrap="square" lIns="0" tIns="0" rIns="0" bIns="0" rtlCol="0" anchor="t"/>
          <a:lstStyle/>
          <a:p>
            <a:pPr indent="0" marL="0">
              <a:buNone/>
            </a:pPr>
            <a:r>
              <a:rPr lang="en-US" sz="1800" b="1" dirty="0">
                <a:solidFill>
                  <a:srgbClr val="2F6FB0"/>
                </a:solidFill>
                <a:latin typeface="Cambria" pitchFamily="34" charset="0"/>
                <a:ea typeface="Cambria" pitchFamily="34" charset="-122"/>
                <a:cs typeface="Cambria" pitchFamily="34" charset="-120"/>
              </a:rPr>
              <a:t>2</a:t>
            </a:r>
            <a:endParaRPr lang="en-US" sz="1800" dirty="0"/>
          </a:p>
        </p:txBody>
      </p:sp>
      <p:sp>
        <p:nvSpPr>
          <p:cNvPr id="12" name="Text 8"/>
          <p:cNvSpPr txBox="1"/>
          <p:nvPr/>
        </p:nvSpPr>
        <p:spPr>
          <a:xfrm>
            <a:off x="6997525" y="3517812"/>
            <a:ext cx="4381390" cy="4952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Fotos a oscuras para restar el fondo del sensor</a:t>
            </a:r>
            <a:endParaRPr lang="en-US" sz="1400" dirty="0"/>
          </a:p>
        </p:txBody>
      </p:sp>
      <p:sp>
        <p:nvSpPr>
          <p:cNvPr id="13" name="Text 9"/>
          <p:cNvSpPr txBox="1"/>
          <p:nvPr/>
        </p:nvSpPr>
        <p:spPr>
          <a:xfrm>
            <a:off x="6997525" y="4025799"/>
            <a:ext cx="4381390" cy="215895"/>
          </a:xfrm>
          <a:prstGeom prst="rect">
            <a:avLst/>
          </a:prstGeom>
          <a:noFill/>
          <a:ln/>
        </p:spPr>
        <p:txBody>
          <a:bodyPr wrap="square" lIns="0" tIns="0" rIns="0" bIns="0" rtlCol="0" anchor="t"/>
          <a:lstStyle/>
          <a:p>
            <a:pPr indent="0" marL="0">
              <a:buNone/>
            </a:pPr>
            <a:r>
              <a:rPr lang="en-US" sz="1150" dirty="0">
                <a:solidFill>
                  <a:srgbClr val="6A7382"/>
                </a:solidFill>
                <a:latin typeface="Calibri" pitchFamily="34" charset="0"/>
                <a:ea typeface="Calibri" pitchFamily="34" charset="-122"/>
                <a:cs typeface="Calibri" pitchFamily="34" charset="-120"/>
              </a:rPr>
              <a:t>Repetidas cuando salieron saturadas</a:t>
            </a:r>
            <a:endParaRPr lang="en-US" sz="1150" dirty="0"/>
          </a:p>
        </p:txBody>
      </p:sp>
      <p:sp>
        <p:nvSpPr>
          <p:cNvPr id="14" name="Text 10"/>
          <p:cNvSpPr txBox="1"/>
          <p:nvPr/>
        </p:nvSpPr>
        <p:spPr>
          <a:xfrm>
            <a:off x="6641934" y="4305192"/>
            <a:ext cx="253994" cy="317492"/>
          </a:xfrm>
          <a:prstGeom prst="rect">
            <a:avLst/>
          </a:prstGeom>
          <a:noFill/>
          <a:ln/>
        </p:spPr>
        <p:txBody>
          <a:bodyPr wrap="square" lIns="0" tIns="0" rIns="0" bIns="0" rtlCol="0" anchor="t"/>
          <a:lstStyle/>
          <a:p>
            <a:pPr indent="0" marL="0">
              <a:buNone/>
            </a:pPr>
            <a:r>
              <a:rPr lang="en-US" sz="1800" b="1" dirty="0">
                <a:solidFill>
                  <a:srgbClr val="2F6FB0"/>
                </a:solidFill>
                <a:latin typeface="Cambria" pitchFamily="34" charset="0"/>
                <a:ea typeface="Cambria" pitchFamily="34" charset="-122"/>
                <a:cs typeface="Cambria" pitchFamily="34" charset="-120"/>
              </a:rPr>
              <a:t>3</a:t>
            </a:r>
            <a:endParaRPr lang="en-US" sz="1800" dirty="0"/>
          </a:p>
        </p:txBody>
      </p:sp>
      <p:sp>
        <p:nvSpPr>
          <p:cNvPr id="15" name="Text 11"/>
          <p:cNvSpPr txBox="1"/>
          <p:nvPr/>
        </p:nvSpPr>
        <p:spPr>
          <a:xfrm>
            <a:off x="6997525" y="4305192"/>
            <a:ext cx="4381390" cy="4952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El tiempo de cada LED, calculado de la captura anterior</a:t>
            </a:r>
            <a:endParaRPr lang="en-US" sz="1400" dirty="0"/>
          </a:p>
        </p:txBody>
      </p:sp>
      <p:sp>
        <p:nvSpPr>
          <p:cNvPr id="16" name="Text 12"/>
          <p:cNvSpPr txBox="1"/>
          <p:nvPr/>
        </p:nvSpPr>
        <p:spPr>
          <a:xfrm>
            <a:off x="6997525" y="4813180"/>
            <a:ext cx="4381390" cy="215895"/>
          </a:xfrm>
          <a:prstGeom prst="rect">
            <a:avLst/>
          </a:prstGeom>
          <a:noFill/>
          <a:ln/>
        </p:spPr>
        <p:txBody>
          <a:bodyPr wrap="square" lIns="0" tIns="0" rIns="0" bIns="0" rtlCol="0" anchor="t"/>
          <a:lstStyle/>
          <a:p>
            <a:pPr indent="0" marL="0">
              <a:buNone/>
            </a:pPr>
            <a:r>
              <a:rPr lang="en-US" sz="1150" dirty="0">
                <a:solidFill>
                  <a:srgbClr val="6A7382"/>
                </a:solidFill>
                <a:latin typeface="Calibri" pitchFamily="34" charset="0"/>
                <a:ea typeface="Calibri" pitchFamily="34" charset="-122"/>
                <a:cs typeface="Calibri" pitchFamily="34" charset="-120"/>
              </a:rPr>
              <a:t>Mapa de exposición por LED y por color</a:t>
            </a:r>
            <a:endParaRPr lang="en-US" sz="1150" dirty="0"/>
          </a:p>
        </p:txBody>
      </p:sp>
      <p:sp>
        <p:nvSpPr>
          <p:cNvPr id="17" name="Text 13"/>
          <p:cNvSpPr txBox="1"/>
          <p:nvPr/>
        </p:nvSpPr>
        <p:spPr>
          <a:xfrm>
            <a:off x="6641934" y="5092573"/>
            <a:ext cx="253994" cy="317492"/>
          </a:xfrm>
          <a:prstGeom prst="rect">
            <a:avLst/>
          </a:prstGeom>
          <a:noFill/>
          <a:ln/>
        </p:spPr>
        <p:txBody>
          <a:bodyPr wrap="square" lIns="0" tIns="0" rIns="0" bIns="0" rtlCol="0" anchor="t"/>
          <a:lstStyle/>
          <a:p>
            <a:pPr indent="0" marL="0">
              <a:buNone/>
            </a:pPr>
            <a:r>
              <a:rPr lang="en-US" sz="1800" b="1" dirty="0">
                <a:solidFill>
                  <a:srgbClr val="2F6FB0"/>
                </a:solidFill>
                <a:latin typeface="Cambria" pitchFamily="34" charset="0"/>
                <a:ea typeface="Cambria" pitchFamily="34" charset="-122"/>
                <a:cs typeface="Cambria" pitchFamily="34" charset="-120"/>
              </a:rPr>
              <a:t>4</a:t>
            </a:r>
            <a:endParaRPr lang="en-US" sz="1800" dirty="0"/>
          </a:p>
        </p:txBody>
      </p:sp>
      <p:sp>
        <p:nvSpPr>
          <p:cNvPr id="18" name="Text 14"/>
          <p:cNvSpPr txBox="1"/>
          <p:nvPr/>
        </p:nvSpPr>
        <p:spPr>
          <a:xfrm>
            <a:off x="6997525" y="5092573"/>
            <a:ext cx="4381390" cy="304792"/>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Alejar la matriz de 74 a ~98 mm</a:t>
            </a:r>
            <a:endParaRPr lang="en-US" sz="1400" dirty="0"/>
          </a:p>
        </p:txBody>
      </p:sp>
      <p:sp>
        <p:nvSpPr>
          <p:cNvPr id="19" name="Text 15"/>
          <p:cNvSpPr txBox="1"/>
          <p:nvPr/>
        </p:nvSpPr>
        <p:spPr>
          <a:xfrm>
            <a:off x="6997525" y="5410065"/>
            <a:ext cx="4381390" cy="215895"/>
          </a:xfrm>
          <a:prstGeom prst="rect">
            <a:avLst/>
          </a:prstGeom>
          <a:noFill/>
          <a:ln/>
        </p:spPr>
        <p:txBody>
          <a:bodyPr wrap="square" lIns="0" tIns="0" rIns="0" bIns="0" rtlCol="0" anchor="t"/>
          <a:lstStyle/>
          <a:p>
            <a:pPr indent="0" marL="0">
              <a:buNone/>
            </a:pPr>
            <a:r>
              <a:rPr lang="en-US" sz="1150" dirty="0">
                <a:solidFill>
                  <a:srgbClr val="6A7382"/>
                </a:solidFill>
                <a:latin typeface="Calibri" pitchFamily="34" charset="0"/>
                <a:ea typeface="Calibri" pitchFamily="34" charset="-122"/>
                <a:cs typeface="Calibri" pitchFamily="34" charset="-120"/>
              </a:rPr>
              <a:t>Más solapamiento entre LEDs vecinos: de 31 % a 46 %</a:t>
            </a:r>
            <a:endParaRPr lang="en-US" sz="1150" dirty="0"/>
          </a:p>
        </p:txBody>
      </p:sp>
      <p:sp>
        <p:nvSpPr>
          <p:cNvPr id="20" name="Text 16"/>
          <p:cNvSpPr txBox="1"/>
          <p:nvPr/>
        </p:nvSpPr>
        <p:spPr>
          <a:xfrm>
            <a:off x="6641934" y="5689458"/>
            <a:ext cx="253994" cy="317492"/>
          </a:xfrm>
          <a:prstGeom prst="rect">
            <a:avLst/>
          </a:prstGeom>
          <a:noFill/>
          <a:ln/>
        </p:spPr>
        <p:txBody>
          <a:bodyPr wrap="square" lIns="0" tIns="0" rIns="0" bIns="0" rtlCol="0" anchor="t"/>
          <a:lstStyle/>
          <a:p>
            <a:pPr indent="0" marL="0">
              <a:buNone/>
            </a:pPr>
            <a:r>
              <a:rPr lang="en-US" sz="1800" b="1" dirty="0">
                <a:solidFill>
                  <a:srgbClr val="2F6FB0"/>
                </a:solidFill>
                <a:latin typeface="Cambria" pitchFamily="34" charset="0"/>
                <a:ea typeface="Cambria" pitchFamily="34" charset="-122"/>
                <a:cs typeface="Cambria" pitchFamily="34" charset="-120"/>
              </a:rPr>
              <a:t>5</a:t>
            </a:r>
            <a:endParaRPr lang="en-US" sz="1800" dirty="0"/>
          </a:p>
        </p:txBody>
      </p:sp>
      <p:sp>
        <p:nvSpPr>
          <p:cNvPr id="21" name="Text 17"/>
          <p:cNvSpPr txBox="1"/>
          <p:nvPr/>
        </p:nvSpPr>
        <p:spPr>
          <a:xfrm>
            <a:off x="6997525" y="5689458"/>
            <a:ext cx="4381390" cy="304792"/>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Cada color en su propio foco</a:t>
            </a:r>
            <a:endParaRPr lang="en-US" sz="1400" dirty="0"/>
          </a:p>
        </p:txBody>
      </p:sp>
      <p:sp>
        <p:nvSpPr>
          <p:cNvPr id="22" name="Text 18"/>
          <p:cNvSpPr txBox="1"/>
          <p:nvPr/>
        </p:nvSpPr>
        <p:spPr>
          <a:xfrm>
            <a:off x="6997525" y="6006950"/>
            <a:ext cx="4381390" cy="215895"/>
          </a:xfrm>
          <a:prstGeom prst="rect">
            <a:avLst/>
          </a:prstGeom>
          <a:noFill/>
          <a:ln/>
        </p:spPr>
        <p:txBody>
          <a:bodyPr wrap="square" lIns="0" tIns="0" rIns="0" bIns="0" rtlCol="0" anchor="t"/>
          <a:lstStyle/>
          <a:p>
            <a:pPr indent="0" marL="0">
              <a:buNone/>
            </a:pPr>
            <a:r>
              <a:rPr lang="en-US" sz="1150" dirty="0">
                <a:solidFill>
                  <a:srgbClr val="6A7382"/>
                </a:solidFill>
                <a:latin typeface="Calibri" pitchFamily="34" charset="0"/>
                <a:ea typeface="Calibri" pitchFamily="34" charset="-122"/>
                <a:cs typeface="Calibri" pitchFamily="34" charset="-120"/>
              </a:rPr>
              <a:t>Con un solo foco, solo el color enfocado se parecía a la muestra</a:t>
            </a:r>
            <a:endParaRPr lang="en-US" sz="1150" dirty="0"/>
          </a:p>
        </p:txBody>
      </p:sp>
      <p:sp>
        <p:nvSpPr>
          <p:cNvPr id="23" name="Text 19"/>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3 / 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1777956" cy="330192"/>
          </a:xfrm>
          <a:prstGeom prst="roundRect">
            <a:avLst>
              <a:gd name="adj" fmla="val 55386"/>
            </a:avLst>
          </a:prstGeom>
          <a:solidFill>
            <a:srgbClr val="FBFBF8"/>
          </a:solidFill>
          <a:ln w="19050">
            <a:solidFill>
              <a:srgbClr val="2F6FB0"/>
            </a:solidFill>
            <a:prstDash val="solid"/>
          </a:ln>
        </p:spPr>
      </p:sp>
      <p:sp>
        <p:nvSpPr>
          <p:cNvPr id="4" name="Text 1"/>
          <p:cNvSpPr txBox="1"/>
          <p:nvPr/>
        </p:nvSpPr>
        <p:spPr>
          <a:xfrm>
            <a:off x="812780" y="711182"/>
            <a:ext cx="1777956" cy="330192"/>
          </a:xfrm>
          <a:prstGeom prst="rect">
            <a:avLst/>
          </a:prstGeom>
          <a:noFill/>
          <a:ln/>
        </p:spPr>
        <p:txBody>
          <a:bodyPr wrap="square" lIns="0" tIns="0" rIns="0" bIns="0" rtlCol="0" anchor="ctr"/>
          <a:lstStyle/>
          <a:p>
            <a:pPr algn="ctr" indent="0" marL="0">
              <a:buNone/>
            </a:pPr>
            <a:r>
              <a:rPr lang="en-US" sz="1300" b="1" spc="200" kern="0" dirty="0">
                <a:solidFill>
                  <a:srgbClr val="2F6FB0"/>
                </a:solidFill>
                <a:latin typeface="Calibri" pitchFamily="34" charset="0"/>
                <a:ea typeface="Calibri" pitchFamily="34" charset="-122"/>
                <a:cs typeface="Calibri" pitchFamily="34" charset="-120"/>
              </a:rPr>
              <a:t>VALIDACIÓN</a:t>
            </a:r>
            <a:endParaRPr lang="en-US" sz="1300" dirty="0"/>
          </a:p>
        </p:txBody>
      </p:sp>
      <p:sp>
        <p:nvSpPr>
          <p:cNvPr id="5" name="Text 2"/>
          <p:cNvSpPr txBox="1"/>
          <p:nvPr/>
        </p:nvSpPr>
        <p:spPr>
          <a:xfrm>
            <a:off x="812780" y="1142971"/>
            <a:ext cx="10566136" cy="571486"/>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¿Cómo decidimos si confiar?</a:t>
            </a:r>
            <a:endParaRPr lang="en-US" sz="3300" dirty="0"/>
          </a:p>
        </p:txBody>
      </p:sp>
      <p:pic>
        <p:nvPicPr>
          <p:cNvPr id="6" name="Image 0" descr="/home/chanoscopio/Documents/LucasC/reproducible-research-template/report/informe/img/fig_fase_2809b.png">    </p:cNvPr>
          <p:cNvPicPr>
            <a:picLocks noChangeAspect="1"/>
          </p:cNvPicPr>
          <p:nvPr/>
        </p:nvPicPr>
        <p:blipFill>
          <a:blip r:embed="rId1"/>
          <a:stretch>
            <a:fillRect/>
          </a:stretch>
        </p:blipFill>
        <p:spPr>
          <a:xfrm>
            <a:off x="815270" y="1904952"/>
            <a:ext cx="4820899" cy="2235144"/>
          </a:xfrm>
          <a:prstGeom prst="rect">
            <a:avLst/>
          </a:prstGeom>
        </p:spPr>
      </p:pic>
      <p:sp>
        <p:nvSpPr>
          <p:cNvPr id="7" name="Shape 3"/>
          <p:cNvSpPr/>
          <p:nvPr/>
        </p:nvSpPr>
        <p:spPr>
          <a:xfrm>
            <a:off x="812780" y="4317892"/>
            <a:ext cx="4825879" cy="1079473"/>
          </a:xfrm>
          <a:prstGeom prst="roundRect">
            <a:avLst>
              <a:gd name="adj" fmla="val 8471"/>
            </a:avLst>
          </a:prstGeom>
          <a:solidFill>
            <a:srgbClr val="F6D9C6"/>
          </a:solidFill>
          <a:ln w="12700">
            <a:solidFill>
              <a:srgbClr val="F6D9C6"/>
            </a:solidFill>
            <a:prstDash val="solid"/>
          </a:ln>
        </p:spPr>
      </p:sp>
      <p:sp>
        <p:nvSpPr>
          <p:cNvPr id="8" name="Text 4"/>
          <p:cNvSpPr txBox="1"/>
          <p:nvPr/>
        </p:nvSpPr>
        <p:spPr>
          <a:xfrm>
            <a:off x="990575" y="4317892"/>
            <a:ext cx="4470288" cy="1079473"/>
          </a:xfrm>
          <a:prstGeom prst="rect">
            <a:avLst/>
          </a:prstGeom>
          <a:noFill/>
          <a:ln/>
        </p:spPr>
        <p:txBody>
          <a:bodyPr wrap="square" lIns="0" tIns="0" rIns="0" bIns="0" rtlCol="0" anchor="ctr"/>
          <a:lstStyle/>
          <a:p>
            <a:pPr indent="0" marL="0">
              <a:buNone/>
            </a:pPr>
            <a:r>
              <a:rPr lang="en-US" sz="1450" dirty="0">
                <a:solidFill>
                  <a:srgbClr val="14213D"/>
                </a:solidFill>
                <a:latin typeface="Calibri" pitchFamily="34" charset="0"/>
                <a:ea typeface="Calibri" pitchFamily="34" charset="-122"/>
                <a:cs typeface="Calibri" pitchFamily="34" charset="-120"/>
              </a:rPr>
              <a:t>Recuperamos la </a:t>
            </a:r>
            <a:pPr indent="0" marL="0">
              <a:buNone/>
            </a:pPr>
            <a:r>
              <a:rPr lang="en-US" sz="1450" b="1" dirty="0">
                <a:solidFill>
                  <a:srgbClr val="14213D"/>
                </a:solidFill>
                <a:latin typeface="Calibri" pitchFamily="34" charset="0"/>
                <a:ea typeface="Calibri" pitchFamily="34" charset="-122"/>
                <a:cs typeface="Calibri" pitchFamily="34" charset="-120"/>
              </a:rPr>
              <a:t>fase</a:t>
            </a:r>
            <a:pPr indent="0" marL="0">
              <a:buNone/>
            </a:pPr>
            <a:r>
              <a:rPr lang="en-US" sz="1450" dirty="0">
                <a:solidFill>
                  <a:srgbClr val="14213D"/>
                </a:solidFill>
                <a:latin typeface="Calibri" pitchFamily="34" charset="0"/>
                <a:ea typeface="Calibri" pitchFamily="34" charset="-122"/>
                <a:cs typeface="Calibri" pitchFamily="34" charset="-120"/>
              </a:rPr>
              <a:t> de la muestra real (la reconstrucción predice fotos que no usó). </a:t>
            </a:r>
            <a:pPr indent="0" marL="0">
              <a:buNone/>
            </a:pPr>
            <a:r>
              <a:rPr lang="en-US" sz="1450" b="1" dirty="0">
                <a:solidFill>
                  <a:srgbClr val="14213D"/>
                </a:solidFill>
                <a:latin typeface="Calibri" pitchFamily="34" charset="0"/>
                <a:ea typeface="Calibri" pitchFamily="34" charset="-122"/>
                <a:cs typeface="Calibri" pitchFamily="34" charset="-120"/>
              </a:rPr>
              <a:t>Ganar resolución todavía no está demostrado.</a:t>
            </a:r>
            <a:endParaRPr lang="en-US" sz="1450" dirty="0"/>
          </a:p>
        </p:txBody>
      </p:sp>
      <p:sp>
        <p:nvSpPr>
          <p:cNvPr id="9" name="Shape 5"/>
          <p:cNvSpPr/>
          <p:nvPr/>
        </p:nvSpPr>
        <p:spPr>
          <a:xfrm>
            <a:off x="5892653" y="1841454"/>
            <a:ext cx="5486263" cy="1206470"/>
          </a:xfrm>
          <a:prstGeom prst="roundRect">
            <a:avLst>
              <a:gd name="adj" fmla="val 9095"/>
            </a:avLst>
          </a:prstGeom>
          <a:solidFill>
            <a:srgbClr val="FFFFFF"/>
          </a:solidFill>
          <a:ln w="9525">
            <a:solidFill>
              <a:srgbClr val="DDDBD2"/>
            </a:solidFill>
            <a:prstDash val="solid"/>
          </a:ln>
        </p:spPr>
      </p:sp>
      <p:sp>
        <p:nvSpPr>
          <p:cNvPr id="10" name="Shape 6"/>
          <p:cNvSpPr/>
          <p:nvPr/>
        </p:nvSpPr>
        <p:spPr>
          <a:xfrm>
            <a:off x="5892653" y="1879553"/>
            <a:ext cx="57149" cy="1130272"/>
          </a:xfrm>
          <a:prstGeom prst="rect">
            <a:avLst/>
          </a:prstGeom>
          <a:solidFill>
            <a:srgbClr val="2F6FB0"/>
          </a:solidFill>
          <a:ln w="12700">
            <a:solidFill>
              <a:srgbClr val="2F6FB0"/>
            </a:solidFill>
            <a:prstDash val="solid"/>
          </a:ln>
        </p:spPr>
      </p:sp>
      <p:sp>
        <p:nvSpPr>
          <p:cNvPr id="11" name="Text 7"/>
          <p:cNvSpPr txBox="1"/>
          <p:nvPr/>
        </p:nvSpPr>
        <p:spPr>
          <a:xfrm>
            <a:off x="6070448" y="1943051"/>
            <a:ext cx="253994" cy="279393"/>
          </a:xfrm>
          <a:prstGeom prst="rect">
            <a:avLst/>
          </a:prstGeom>
          <a:noFill/>
          <a:ln/>
        </p:spPr>
        <p:txBody>
          <a:bodyPr wrap="square" lIns="0" tIns="0" rIns="0" bIns="0" rtlCol="0" anchor="t"/>
          <a:lstStyle/>
          <a:p>
            <a:pPr indent="0" marL="0">
              <a:buNone/>
            </a:pPr>
            <a:r>
              <a:rPr lang="en-US" sz="1700" b="1" dirty="0">
                <a:solidFill>
                  <a:srgbClr val="2F6FB0"/>
                </a:solidFill>
                <a:latin typeface="Cambria" pitchFamily="34" charset="0"/>
                <a:ea typeface="Cambria" pitchFamily="34" charset="-122"/>
                <a:cs typeface="Cambria" pitchFamily="34" charset="-120"/>
              </a:rPr>
              <a:t>1</a:t>
            </a:r>
            <a:endParaRPr lang="en-US" sz="1700" dirty="0"/>
          </a:p>
        </p:txBody>
      </p:sp>
      <p:sp>
        <p:nvSpPr>
          <p:cNvPr id="12" name="Text 8"/>
          <p:cNvSpPr txBox="1"/>
          <p:nvPr/>
        </p:nvSpPr>
        <p:spPr>
          <a:xfrm>
            <a:off x="6324442" y="1955751"/>
            <a:ext cx="3746406" cy="482588"/>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¿Funciona donde conocemos la respuesta?</a:t>
            </a:r>
            <a:endParaRPr lang="en-US" sz="1250" dirty="0"/>
          </a:p>
        </p:txBody>
      </p:sp>
      <p:sp>
        <p:nvSpPr>
          <p:cNvPr id="13" name="Text 9"/>
          <p:cNvSpPr txBox="1"/>
          <p:nvPr/>
        </p:nvSpPr>
        <p:spPr>
          <a:xfrm>
            <a:off x="10096248" y="1955751"/>
            <a:ext cx="1142971" cy="253994"/>
          </a:xfrm>
          <a:prstGeom prst="rect">
            <a:avLst/>
          </a:prstGeom>
          <a:noFill/>
          <a:ln/>
        </p:spPr>
        <p:txBody>
          <a:bodyPr wrap="square" lIns="0" tIns="0" rIns="0" bIns="0" rtlCol="0" anchor="t"/>
          <a:lstStyle/>
          <a:p>
            <a:pPr algn="r" indent="0" marL="0">
              <a:buNone/>
            </a:pPr>
            <a:r>
              <a:rPr lang="en-US" sz="1350" b="1" dirty="0">
                <a:solidFill>
                  <a:srgbClr val="2F6FB0"/>
                </a:solidFill>
                <a:latin typeface="Calibri" pitchFamily="34" charset="0"/>
                <a:ea typeface="Calibri" pitchFamily="34" charset="-122"/>
                <a:cs typeface="Calibri" pitchFamily="34" charset="-120"/>
              </a:rPr>
              <a:t>Funciona</a:t>
            </a:r>
            <a:endParaRPr lang="en-US" sz="1350" dirty="0"/>
          </a:p>
        </p:txBody>
      </p:sp>
      <p:sp>
        <p:nvSpPr>
          <p:cNvPr id="14" name="Text 10"/>
          <p:cNvSpPr txBox="1"/>
          <p:nvPr/>
        </p:nvSpPr>
        <p:spPr>
          <a:xfrm>
            <a:off x="6070448" y="2463738"/>
            <a:ext cx="5181470" cy="228594"/>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Simulación: amplitud 0,997 · fase 0,64 con la matriz a 75 mm</a:t>
            </a:r>
            <a:endParaRPr lang="en-US" sz="1150" dirty="0"/>
          </a:p>
        </p:txBody>
      </p:sp>
      <p:sp>
        <p:nvSpPr>
          <p:cNvPr id="15" name="Text 11"/>
          <p:cNvSpPr txBox="1"/>
          <p:nvPr/>
        </p:nvSpPr>
        <p:spPr>
          <a:xfrm>
            <a:off x="6070448" y="2717732"/>
            <a:ext cx="5181470" cy="304792"/>
          </a:xfrm>
          <a:prstGeom prst="rect">
            <a:avLst/>
          </a:prstGeom>
          <a:noFill/>
          <a:ln/>
        </p:spPr>
        <p:txBody>
          <a:bodyPr wrap="square" lIns="0" tIns="0" rIns="0" bIns="0" rtlCol="0" anchor="t"/>
          <a:lstStyle/>
          <a:p>
            <a:pPr indent="0" marL="0">
              <a:buNone/>
            </a:pPr>
            <a:r>
              <a:rPr lang="en-US" sz="1100" dirty="0">
                <a:solidFill>
                  <a:srgbClr val="6A7382"/>
                </a:solidFill>
                <a:latin typeface="Calibri" pitchFamily="34" charset="0"/>
                <a:ea typeface="Calibri" pitchFamily="34" charset="-122"/>
                <a:cs typeface="Calibri" pitchFamily="34" charset="-120"/>
              </a:rPr>
              <a:t>Fase 0,97 a 100 mm (más solapamiento). 1 = igual a la muestra inventada</a:t>
            </a:r>
            <a:endParaRPr lang="en-US" sz="1100" dirty="0"/>
          </a:p>
        </p:txBody>
      </p:sp>
      <p:sp>
        <p:nvSpPr>
          <p:cNvPr id="16" name="Shape 12"/>
          <p:cNvSpPr/>
          <p:nvPr/>
        </p:nvSpPr>
        <p:spPr>
          <a:xfrm>
            <a:off x="5892653" y="3124122"/>
            <a:ext cx="5486263" cy="1269968"/>
          </a:xfrm>
          <a:prstGeom prst="roundRect">
            <a:avLst>
              <a:gd name="adj" fmla="val 8640"/>
            </a:avLst>
          </a:prstGeom>
          <a:solidFill>
            <a:srgbClr val="FFFFFF"/>
          </a:solidFill>
          <a:ln w="9525">
            <a:solidFill>
              <a:srgbClr val="DDDBD2"/>
            </a:solidFill>
            <a:prstDash val="solid"/>
          </a:ln>
        </p:spPr>
      </p:sp>
      <p:sp>
        <p:nvSpPr>
          <p:cNvPr id="17" name="Shape 13"/>
          <p:cNvSpPr/>
          <p:nvPr/>
        </p:nvSpPr>
        <p:spPr>
          <a:xfrm>
            <a:off x="5892653" y="3162221"/>
            <a:ext cx="57149" cy="1193770"/>
          </a:xfrm>
          <a:prstGeom prst="rect">
            <a:avLst/>
          </a:prstGeom>
          <a:solidFill>
            <a:srgbClr val="2F6FB0"/>
          </a:solidFill>
          <a:ln w="12700">
            <a:solidFill>
              <a:srgbClr val="2F6FB0"/>
            </a:solidFill>
            <a:prstDash val="solid"/>
          </a:ln>
        </p:spPr>
      </p:sp>
      <p:sp>
        <p:nvSpPr>
          <p:cNvPr id="18" name="Text 14"/>
          <p:cNvSpPr txBox="1"/>
          <p:nvPr/>
        </p:nvSpPr>
        <p:spPr>
          <a:xfrm>
            <a:off x="6070448" y="3225719"/>
            <a:ext cx="253994" cy="279393"/>
          </a:xfrm>
          <a:prstGeom prst="rect">
            <a:avLst/>
          </a:prstGeom>
          <a:noFill/>
          <a:ln/>
        </p:spPr>
        <p:txBody>
          <a:bodyPr wrap="square" lIns="0" tIns="0" rIns="0" bIns="0" rtlCol="0" anchor="t"/>
          <a:lstStyle/>
          <a:p>
            <a:pPr indent="0" marL="0">
              <a:buNone/>
            </a:pPr>
            <a:r>
              <a:rPr lang="en-US" sz="1700" b="1" dirty="0">
                <a:solidFill>
                  <a:srgbClr val="2F6FB0"/>
                </a:solidFill>
                <a:latin typeface="Cambria" pitchFamily="34" charset="0"/>
                <a:ea typeface="Cambria" pitchFamily="34" charset="-122"/>
                <a:cs typeface="Cambria" pitchFamily="34" charset="-120"/>
              </a:rPr>
              <a:t>2</a:t>
            </a:r>
            <a:endParaRPr lang="en-US" sz="1700" dirty="0"/>
          </a:p>
        </p:txBody>
      </p:sp>
      <p:sp>
        <p:nvSpPr>
          <p:cNvPr id="19" name="Text 15"/>
          <p:cNvSpPr txBox="1"/>
          <p:nvPr/>
        </p:nvSpPr>
        <p:spPr>
          <a:xfrm>
            <a:off x="6324442" y="3238419"/>
            <a:ext cx="3746406" cy="482588"/>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¿Predice las fotos que no usó?</a:t>
            </a:r>
            <a:endParaRPr lang="en-US" sz="1250" dirty="0"/>
          </a:p>
        </p:txBody>
      </p:sp>
      <p:sp>
        <p:nvSpPr>
          <p:cNvPr id="20" name="Text 16"/>
          <p:cNvSpPr txBox="1"/>
          <p:nvPr/>
        </p:nvSpPr>
        <p:spPr>
          <a:xfrm>
            <a:off x="10096248" y="3238419"/>
            <a:ext cx="1142971" cy="253994"/>
          </a:xfrm>
          <a:prstGeom prst="rect">
            <a:avLst/>
          </a:prstGeom>
          <a:noFill/>
          <a:ln/>
        </p:spPr>
        <p:txBody>
          <a:bodyPr wrap="square" lIns="0" tIns="0" rIns="0" bIns="0" rtlCol="0" anchor="t"/>
          <a:lstStyle/>
          <a:p>
            <a:pPr algn="r" indent="0" marL="0">
              <a:buNone/>
            </a:pPr>
            <a:r>
              <a:rPr lang="en-US" sz="1350" b="1" dirty="0">
                <a:solidFill>
                  <a:srgbClr val="2F6FB0"/>
                </a:solidFill>
                <a:latin typeface="Calibri" pitchFamily="34" charset="0"/>
                <a:ea typeface="Calibri" pitchFamily="34" charset="-122"/>
                <a:cs typeface="Calibri" pitchFamily="34" charset="-120"/>
              </a:rPr>
              <a:t>Pasa</a:t>
            </a:r>
            <a:endParaRPr lang="en-US" sz="1350" dirty="0"/>
          </a:p>
        </p:txBody>
      </p:sp>
      <p:sp>
        <p:nvSpPr>
          <p:cNvPr id="21" name="Text 17"/>
          <p:cNvSpPr txBox="1"/>
          <p:nvPr/>
        </p:nvSpPr>
        <p:spPr>
          <a:xfrm>
            <a:off x="6070448" y="3746406"/>
            <a:ext cx="5181470" cy="228594"/>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Error 0,46–0,62 (0 = perfecto; sin reconstruir: 0,98)</a:t>
            </a:r>
            <a:endParaRPr lang="en-US" sz="1150" dirty="0"/>
          </a:p>
        </p:txBody>
      </p:sp>
      <p:sp>
        <p:nvSpPr>
          <p:cNvPr id="22" name="Text 18"/>
          <p:cNvSpPr txBox="1"/>
          <p:nvPr/>
        </p:nvSpPr>
        <p:spPr>
          <a:xfrm>
            <a:off x="6070448" y="4000400"/>
            <a:ext cx="5181470" cy="368291"/>
          </a:xfrm>
          <a:prstGeom prst="rect">
            <a:avLst/>
          </a:prstGeom>
          <a:noFill/>
          <a:ln/>
        </p:spPr>
        <p:txBody>
          <a:bodyPr wrap="square" lIns="0" tIns="0" rIns="0" bIns="0" rtlCol="0" anchor="t"/>
          <a:lstStyle/>
          <a:p>
            <a:pPr indent="0" marL="0">
              <a:buNone/>
            </a:pPr>
            <a:r>
              <a:rPr lang="en-US" sz="1100" dirty="0">
                <a:solidFill>
                  <a:srgbClr val="6A7382"/>
                </a:solidFill>
                <a:latin typeface="Calibri" pitchFamily="34" charset="0"/>
                <a:ea typeface="Calibri" pitchFamily="34" charset="-122"/>
                <a:cs typeface="Calibri" pitchFamily="34" charset="-120"/>
              </a:rPr>
              <a:t>Se apartan LEDs, se reconstruye sin ellos y se compara la foto predicha con la medida</a:t>
            </a:r>
            <a:endParaRPr lang="en-US" sz="1100" dirty="0"/>
          </a:p>
        </p:txBody>
      </p:sp>
      <p:sp>
        <p:nvSpPr>
          <p:cNvPr id="23" name="Shape 19"/>
          <p:cNvSpPr/>
          <p:nvPr/>
        </p:nvSpPr>
        <p:spPr>
          <a:xfrm>
            <a:off x="5892653" y="4470288"/>
            <a:ext cx="5486263" cy="1333467"/>
          </a:xfrm>
          <a:prstGeom prst="roundRect">
            <a:avLst>
              <a:gd name="adj" fmla="val 8229"/>
            </a:avLst>
          </a:prstGeom>
          <a:solidFill>
            <a:srgbClr val="FFFFFF"/>
          </a:solidFill>
          <a:ln w="9525">
            <a:solidFill>
              <a:srgbClr val="DDDBD2"/>
            </a:solidFill>
            <a:prstDash val="solid"/>
          </a:ln>
        </p:spPr>
      </p:sp>
      <p:sp>
        <p:nvSpPr>
          <p:cNvPr id="24" name="Shape 20"/>
          <p:cNvSpPr/>
          <p:nvPr/>
        </p:nvSpPr>
        <p:spPr>
          <a:xfrm>
            <a:off x="5892653" y="4508387"/>
            <a:ext cx="57149" cy="1257269"/>
          </a:xfrm>
          <a:prstGeom prst="rect">
            <a:avLst/>
          </a:prstGeom>
          <a:solidFill>
            <a:srgbClr val="D9692B"/>
          </a:solidFill>
          <a:ln w="12700">
            <a:solidFill>
              <a:srgbClr val="D9692B"/>
            </a:solidFill>
            <a:prstDash val="solid"/>
          </a:ln>
        </p:spPr>
      </p:sp>
      <p:sp>
        <p:nvSpPr>
          <p:cNvPr id="25" name="Text 21"/>
          <p:cNvSpPr txBox="1"/>
          <p:nvPr/>
        </p:nvSpPr>
        <p:spPr>
          <a:xfrm>
            <a:off x="6070448" y="4571886"/>
            <a:ext cx="253994" cy="279393"/>
          </a:xfrm>
          <a:prstGeom prst="rect">
            <a:avLst/>
          </a:prstGeom>
          <a:noFill/>
          <a:ln/>
        </p:spPr>
        <p:txBody>
          <a:bodyPr wrap="square" lIns="0" tIns="0" rIns="0" bIns="0" rtlCol="0" anchor="t"/>
          <a:lstStyle/>
          <a:p>
            <a:pPr indent="0" marL="0">
              <a:buNone/>
            </a:pPr>
            <a:r>
              <a:rPr lang="en-US" sz="1700" b="1" dirty="0">
                <a:solidFill>
                  <a:srgbClr val="D9692B"/>
                </a:solidFill>
                <a:latin typeface="Cambria" pitchFamily="34" charset="0"/>
                <a:ea typeface="Cambria" pitchFamily="34" charset="-122"/>
                <a:cs typeface="Cambria" pitchFamily="34" charset="-120"/>
              </a:rPr>
              <a:t>3</a:t>
            </a:r>
            <a:endParaRPr lang="en-US" sz="1700" dirty="0"/>
          </a:p>
        </p:txBody>
      </p:sp>
      <p:sp>
        <p:nvSpPr>
          <p:cNvPr id="26" name="Text 22"/>
          <p:cNvSpPr txBox="1"/>
          <p:nvPr/>
        </p:nvSpPr>
        <p:spPr>
          <a:xfrm>
            <a:off x="6324442" y="4584585"/>
            <a:ext cx="3746406" cy="482588"/>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¿Dos reconstrucciones independientes ven el mismo detalle fino?</a:t>
            </a:r>
            <a:endParaRPr lang="en-US" sz="1250" dirty="0"/>
          </a:p>
        </p:txBody>
      </p:sp>
      <p:sp>
        <p:nvSpPr>
          <p:cNvPr id="27" name="Text 23"/>
          <p:cNvSpPr txBox="1"/>
          <p:nvPr/>
        </p:nvSpPr>
        <p:spPr>
          <a:xfrm>
            <a:off x="10096248" y="4584585"/>
            <a:ext cx="1142971" cy="253994"/>
          </a:xfrm>
          <a:prstGeom prst="rect">
            <a:avLst/>
          </a:prstGeom>
          <a:noFill/>
          <a:ln/>
        </p:spPr>
        <p:txBody>
          <a:bodyPr wrap="square" lIns="0" tIns="0" rIns="0" bIns="0" rtlCol="0" anchor="t"/>
          <a:lstStyle/>
          <a:p>
            <a:pPr algn="r" indent="0" marL="0">
              <a:buNone/>
            </a:pPr>
            <a:r>
              <a:rPr lang="en-US" sz="1350" b="1" dirty="0">
                <a:solidFill>
                  <a:srgbClr val="D9692B"/>
                </a:solidFill>
                <a:latin typeface="Calibri" pitchFamily="34" charset="0"/>
                <a:ea typeface="Calibri" pitchFamily="34" charset="-122"/>
                <a:cs typeface="Calibri" pitchFamily="34" charset="-120"/>
              </a:rPr>
              <a:t>No alcanza</a:t>
            </a:r>
            <a:endParaRPr lang="en-US" sz="1350" dirty="0"/>
          </a:p>
        </p:txBody>
      </p:sp>
      <p:sp>
        <p:nvSpPr>
          <p:cNvPr id="28" name="Text 24"/>
          <p:cNvSpPr txBox="1"/>
          <p:nvPr/>
        </p:nvSpPr>
        <p:spPr>
          <a:xfrm>
            <a:off x="6070448" y="5092573"/>
            <a:ext cx="5181470" cy="228594"/>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0,043–0,099 (1 = idénticas): de 5 a 14 veces el azar; umbral 0,143</a:t>
            </a:r>
            <a:endParaRPr lang="en-US" sz="1150" dirty="0"/>
          </a:p>
        </p:txBody>
      </p:sp>
      <p:sp>
        <p:nvSpPr>
          <p:cNvPr id="29" name="Text 25"/>
          <p:cNvSpPr txBox="1"/>
          <p:nvPr/>
        </p:nvSpPr>
        <p:spPr>
          <a:xfrm>
            <a:off x="6070448" y="5346566"/>
            <a:ext cx="5181470" cy="431789"/>
          </a:xfrm>
          <a:prstGeom prst="rect">
            <a:avLst/>
          </a:prstGeom>
          <a:noFill/>
          <a:ln/>
        </p:spPr>
        <p:txBody>
          <a:bodyPr wrap="square" lIns="0" tIns="0" rIns="0" bIns="0" rtlCol="0" anchor="t"/>
          <a:lstStyle/>
          <a:p>
            <a:pPr indent="0" marL="0">
              <a:buNone/>
            </a:pPr>
            <a:r>
              <a:rPr lang="en-US" sz="1100" dirty="0">
                <a:solidFill>
                  <a:srgbClr val="6A7382"/>
                </a:solidFill>
                <a:latin typeface="Calibri" pitchFamily="34" charset="0"/>
                <a:ea typeface="Calibri" pitchFamily="34" charset="-122"/>
                <a:cs typeface="Calibri" pitchFamily="34" charset="-120"/>
              </a:rPr>
              <a:t>Cada una con la mitad de los LEDs; se compara el detalle más fino que el objetivo</a:t>
            </a:r>
            <a:endParaRPr lang="en-US" sz="1100" dirty="0"/>
          </a:p>
        </p:txBody>
      </p:sp>
      <p:sp>
        <p:nvSpPr>
          <p:cNvPr id="30" name="Text 26"/>
          <p:cNvSpPr txBox="1"/>
          <p:nvPr/>
        </p:nvSpPr>
        <p:spPr>
          <a:xfrm>
            <a:off x="5892653" y="5905352"/>
            <a:ext cx="5486263" cy="228594"/>
          </a:xfrm>
          <a:prstGeom prst="rect">
            <a:avLst/>
          </a:prstGeom>
          <a:noFill/>
          <a:ln/>
        </p:spPr>
        <p:txBody>
          <a:bodyPr wrap="square" lIns="0" tIns="0" rIns="0" bIns="0" rtlCol="0" anchor="t"/>
          <a:lstStyle/>
          <a:p>
            <a:pPr indent="0" marL="0">
              <a:buNone/>
            </a:pPr>
            <a:r>
              <a:rPr lang="en-US" sz="1250" dirty="0">
                <a:solidFill>
                  <a:srgbClr val="6A7382"/>
                </a:solidFill>
                <a:latin typeface="Calibri" pitchFamily="34" charset="0"/>
                <a:ea typeface="Calibri" pitchFamily="34" charset="-122"/>
                <a:cs typeface="Calibri" pitchFamily="34" charset="-120"/>
              </a:rPr>
              <a:t>Criterios y umbrales escritos </a:t>
            </a:r>
            <a:pPr indent="0" marL="0">
              <a:buNone/>
            </a:pPr>
            <a:r>
              <a:rPr lang="en-US" sz="1250" b="1" dirty="0">
                <a:solidFill>
                  <a:srgbClr val="6A7382"/>
                </a:solidFill>
                <a:latin typeface="Calibri" pitchFamily="34" charset="0"/>
                <a:ea typeface="Calibri" pitchFamily="34" charset="-122"/>
                <a:cs typeface="Calibri" pitchFamily="34" charset="-120"/>
              </a:rPr>
              <a:t>antes</a:t>
            </a:r>
            <a:pPr indent="0" marL="0">
              <a:buNone/>
            </a:pPr>
            <a:r>
              <a:rPr lang="en-US" sz="1250" dirty="0">
                <a:solidFill>
                  <a:srgbClr val="6A7382"/>
                </a:solidFill>
                <a:latin typeface="Calibri" pitchFamily="34" charset="0"/>
                <a:ea typeface="Calibri" pitchFamily="34" charset="-122"/>
                <a:cs typeface="Calibri" pitchFamily="34" charset="-120"/>
              </a:rPr>
              <a:t> de mirar los datos reales.</a:t>
            </a:r>
            <a:endParaRPr lang="en-US" sz="1250" dirty="0"/>
          </a:p>
        </p:txBody>
      </p:sp>
      <p:sp>
        <p:nvSpPr>
          <p:cNvPr id="31" name="Text 27"/>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4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3873403" cy="330192"/>
          </a:xfrm>
          <a:prstGeom prst="roundRect">
            <a:avLst>
              <a:gd name="adj" fmla="val 55386"/>
            </a:avLst>
          </a:prstGeom>
          <a:solidFill>
            <a:srgbClr val="FBFBF8"/>
          </a:solidFill>
          <a:ln w="19050">
            <a:solidFill>
              <a:srgbClr val="D9692B"/>
            </a:solidFill>
            <a:prstDash val="solid"/>
          </a:ln>
        </p:spPr>
      </p:sp>
      <p:sp>
        <p:nvSpPr>
          <p:cNvPr id="4" name="Text 1"/>
          <p:cNvSpPr txBox="1"/>
          <p:nvPr/>
        </p:nvSpPr>
        <p:spPr>
          <a:xfrm>
            <a:off x="812780" y="711182"/>
            <a:ext cx="3873403" cy="330192"/>
          </a:xfrm>
          <a:prstGeom prst="rect">
            <a:avLst/>
          </a:prstGeom>
          <a:noFill/>
          <a:ln/>
        </p:spPr>
        <p:txBody>
          <a:bodyPr wrap="square" lIns="0" tIns="0" rIns="0" bIns="0" rtlCol="0" anchor="ctr"/>
          <a:lstStyle/>
          <a:p>
            <a:pPr algn="ctr" indent="0" marL="0">
              <a:buNone/>
            </a:pPr>
            <a:r>
              <a:rPr lang="en-US" sz="1300" b="1" spc="200" kern="0" dirty="0">
                <a:solidFill>
                  <a:srgbClr val="D9692B"/>
                </a:solidFill>
                <a:latin typeface="Calibri" pitchFamily="34" charset="0"/>
                <a:ea typeface="Calibri" pitchFamily="34" charset="-122"/>
                <a:cs typeface="Calibri" pitchFamily="34" charset="-120"/>
              </a:rPr>
              <a:t>EXPERIENCIA / APRENDIZAJE</a:t>
            </a:r>
            <a:endParaRPr lang="en-US" sz="1300" dirty="0"/>
          </a:p>
        </p:txBody>
      </p:sp>
      <p:sp>
        <p:nvSpPr>
          <p:cNvPr id="5" name="Text 2"/>
          <p:cNvSpPr txBox="1"/>
          <p:nvPr/>
        </p:nvSpPr>
        <p:spPr>
          <a:xfrm>
            <a:off x="812780" y="1142971"/>
            <a:ext cx="10566136" cy="571486"/>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Pasar todas las pruebas no alcanza</a:t>
            </a:r>
            <a:endParaRPr lang="en-US" sz="3300" dirty="0"/>
          </a:p>
        </p:txBody>
      </p:sp>
      <p:pic>
        <p:nvPicPr>
          <p:cNvPr id="6" name="Image 0" descr="/home/chanoscopio/Documents/LucasC/reproducible-research-template/report/informe/img/fig_congelado.png">    </p:cNvPr>
          <p:cNvPicPr>
            <a:picLocks noChangeAspect="1"/>
          </p:cNvPicPr>
          <p:nvPr/>
        </p:nvPicPr>
        <p:blipFill>
          <a:blip r:embed="rId1"/>
          <a:stretch>
            <a:fillRect/>
          </a:stretch>
        </p:blipFill>
        <p:spPr>
          <a:xfrm>
            <a:off x="816667" y="1904952"/>
            <a:ext cx="4818104" cy="1816055"/>
          </a:xfrm>
          <a:prstGeom prst="rect">
            <a:avLst/>
          </a:prstGeom>
        </p:spPr>
      </p:pic>
      <p:sp>
        <p:nvSpPr>
          <p:cNvPr id="7" name="Text 3"/>
          <p:cNvSpPr txBox="1"/>
          <p:nvPr/>
        </p:nvSpPr>
        <p:spPr>
          <a:xfrm>
            <a:off x="5918052" y="1841454"/>
            <a:ext cx="5460863" cy="507987"/>
          </a:xfrm>
          <a:prstGeom prst="rect">
            <a:avLst/>
          </a:prstGeom>
          <a:noFill/>
          <a:ln/>
        </p:spPr>
        <p:txBody>
          <a:bodyPr wrap="square" lIns="0" tIns="0" rIns="0" bIns="0" rtlCol="0" anchor="t"/>
          <a:lstStyle/>
          <a:p>
            <a:pPr indent="0" marL="0">
              <a:buNone/>
            </a:pPr>
            <a:r>
              <a:rPr lang="en-US" sz="1350" dirty="0">
                <a:solidFill>
                  <a:srgbClr val="3D4A5C"/>
                </a:solidFill>
                <a:latin typeface="Calibri" pitchFamily="34" charset="0"/>
                <a:ea typeface="Calibri" pitchFamily="34" charset="-122"/>
                <a:cs typeface="Calibri" pitchFamily="34" charset="-120"/>
              </a:rPr>
              <a:t>El programa mejora la imagen de a poco: compara las fotos que predice con las medidas y la corrige un poco en cada vuelta.</a:t>
            </a:r>
            <a:endParaRPr lang="en-US" sz="1350" dirty="0"/>
          </a:p>
        </p:txBody>
      </p:sp>
      <p:sp>
        <p:nvSpPr>
          <p:cNvPr id="8" name="Text 4"/>
          <p:cNvSpPr txBox="1"/>
          <p:nvPr/>
        </p:nvSpPr>
        <p:spPr>
          <a:xfrm>
            <a:off x="5918052" y="2444689"/>
            <a:ext cx="5460863" cy="761981"/>
          </a:xfrm>
          <a:prstGeom prst="rect">
            <a:avLst/>
          </a:prstGeom>
          <a:noFill/>
          <a:ln/>
        </p:spPr>
        <p:txBody>
          <a:bodyPr wrap="square" lIns="0" tIns="0" rIns="0" bIns="0" rtlCol="0" anchor="t"/>
          <a:lstStyle/>
          <a:p>
            <a:pPr indent="0" marL="0">
              <a:buNone/>
            </a:pPr>
            <a:r>
              <a:rPr lang="en-US" sz="1350" dirty="0">
                <a:solidFill>
                  <a:srgbClr val="3D4A5C"/>
                </a:solidFill>
                <a:latin typeface="Calibri" pitchFamily="34" charset="0"/>
                <a:ea typeface="Calibri" pitchFamily="34" charset="-122"/>
                <a:cs typeface="Calibri" pitchFamily="34" charset="-120"/>
              </a:rPr>
              <a:t>Esas correcciones eran </a:t>
            </a:r>
            <a:pPr indent="0" marL="0">
              <a:buNone/>
            </a:pPr>
            <a:r>
              <a:rPr lang="en-US" sz="1350" b="1" dirty="0">
                <a:solidFill>
                  <a:srgbClr val="3D4A5C"/>
                </a:solidFill>
                <a:latin typeface="Calibri" pitchFamily="34" charset="0"/>
                <a:ea typeface="Calibri" pitchFamily="34" charset="-122"/>
                <a:cs typeface="Calibri" pitchFamily="34" charset="-120"/>
              </a:rPr>
              <a:t>~8.000 veces</a:t>
            </a:r>
            <a:pPr indent="0" marL="0">
              <a:buNone/>
            </a:pPr>
            <a:r>
              <a:rPr lang="en-US" sz="1350" dirty="0">
                <a:solidFill>
                  <a:srgbClr val="3D4A5C"/>
                </a:solidFill>
                <a:latin typeface="Calibri" pitchFamily="34" charset="0"/>
                <a:ea typeface="Calibri" pitchFamily="34" charset="-122"/>
                <a:cs typeface="Calibri" pitchFamily="34" charset="-120"/>
              </a:rPr>
              <a:t> más chicas de lo debido: después de cientos de vueltas devolvía casi la foto original, </a:t>
            </a:r>
            <a:pPr indent="0" marL="0">
              <a:buNone/>
            </a:pPr>
            <a:r>
              <a:rPr lang="en-US" sz="1350" b="1" dirty="0">
                <a:solidFill>
                  <a:srgbClr val="3D4A5C"/>
                </a:solidFill>
                <a:latin typeface="Calibri" pitchFamily="34" charset="0"/>
                <a:ea typeface="Calibri" pitchFamily="34" charset="-122"/>
                <a:cs typeface="Calibri" pitchFamily="34" charset="-120"/>
              </a:rPr>
              <a:t>y aun así pasaba cientos de pruebas</a:t>
            </a:r>
            <a:pPr indent="0" marL="0">
              <a:buNone/>
            </a:pPr>
            <a:r>
              <a:rPr lang="en-US" sz="1350" dirty="0">
                <a:solidFill>
                  <a:srgbClr val="3D4A5C"/>
                </a:solidFill>
                <a:latin typeface="Calibri" pitchFamily="34" charset="0"/>
                <a:ea typeface="Calibri" pitchFamily="34" charset="-122"/>
                <a:cs typeface="Calibri" pitchFamily="34" charset="-120"/>
              </a:rPr>
              <a:t>, hechas con imágenes chiquitas (16–32 píxeles).</a:t>
            </a:r>
            <a:endParaRPr lang="en-US" sz="1350" dirty="0"/>
          </a:p>
        </p:txBody>
      </p:sp>
      <p:sp>
        <p:nvSpPr>
          <p:cNvPr id="9" name="Text 5"/>
          <p:cNvSpPr txBox="1"/>
          <p:nvPr/>
        </p:nvSpPr>
        <p:spPr>
          <a:xfrm>
            <a:off x="5918052" y="3301917"/>
            <a:ext cx="5460863" cy="507987"/>
          </a:xfrm>
          <a:prstGeom prst="rect">
            <a:avLst/>
          </a:prstGeom>
          <a:noFill/>
          <a:ln/>
        </p:spPr>
        <p:txBody>
          <a:bodyPr wrap="square" lIns="0" tIns="0" rIns="0" bIns="0" rtlCol="0" anchor="t"/>
          <a:lstStyle/>
          <a:p>
            <a:pPr indent="0" marL="0">
              <a:buNone/>
            </a:pPr>
            <a:r>
              <a:rPr lang="en-US" sz="1350" dirty="0">
                <a:solidFill>
                  <a:srgbClr val="3D4A5C"/>
                </a:solidFill>
                <a:latin typeface="Calibri" pitchFamily="34" charset="0"/>
                <a:ea typeface="Calibri" pitchFamily="34" charset="-122"/>
                <a:cs typeface="Calibri" pitchFamily="34" charset="-120"/>
              </a:rPr>
              <a:t>Lo encontró un agente que investigaba otra cosa. Los agentes también se equivocaron: supusieron mal el hardware.</a:t>
            </a:r>
            <a:endParaRPr lang="en-US" sz="1350" dirty="0"/>
          </a:p>
        </p:txBody>
      </p:sp>
      <p:sp>
        <p:nvSpPr>
          <p:cNvPr id="10" name="Shape 6"/>
          <p:cNvSpPr/>
          <p:nvPr/>
        </p:nvSpPr>
        <p:spPr>
          <a:xfrm>
            <a:off x="812780" y="4063898"/>
            <a:ext cx="2546286" cy="1587460"/>
          </a:xfrm>
          <a:prstGeom prst="roundRect">
            <a:avLst>
              <a:gd name="adj" fmla="val 6912"/>
            </a:avLst>
          </a:prstGeom>
          <a:solidFill>
            <a:srgbClr val="FFFFFF"/>
          </a:solidFill>
          <a:ln w="9525">
            <a:solidFill>
              <a:srgbClr val="DDDBD2"/>
            </a:solidFill>
            <a:prstDash val="solid"/>
          </a:ln>
        </p:spPr>
      </p:sp>
      <p:sp>
        <p:nvSpPr>
          <p:cNvPr id="11" name="Text 7"/>
          <p:cNvSpPr txBox="1"/>
          <p:nvPr/>
        </p:nvSpPr>
        <p:spPr>
          <a:xfrm>
            <a:off x="977876" y="4203595"/>
            <a:ext cx="380990" cy="317492"/>
          </a:xfrm>
          <a:prstGeom prst="rect">
            <a:avLst/>
          </a:prstGeom>
          <a:noFill/>
          <a:ln/>
        </p:spPr>
        <p:txBody>
          <a:bodyPr wrap="square" lIns="0" tIns="0" rIns="0" bIns="0" rtlCol="0" anchor="t"/>
          <a:lstStyle/>
          <a:p>
            <a:pPr indent="0" marL="0">
              <a:buNone/>
            </a:pPr>
            <a:r>
              <a:rPr lang="en-US" sz="2200" b="1" dirty="0">
                <a:solidFill>
                  <a:srgbClr val="D9692B"/>
                </a:solidFill>
                <a:latin typeface="Cambria" pitchFamily="34" charset="0"/>
                <a:ea typeface="Cambria" pitchFamily="34" charset="-122"/>
                <a:cs typeface="Cambria" pitchFamily="34" charset="-120"/>
              </a:rPr>
              <a:t>1</a:t>
            </a:r>
            <a:endParaRPr lang="en-US" sz="2200" dirty="0"/>
          </a:p>
        </p:txBody>
      </p:sp>
      <p:sp>
        <p:nvSpPr>
          <p:cNvPr id="12" name="Text 8"/>
          <p:cNvSpPr txBox="1"/>
          <p:nvPr/>
        </p:nvSpPr>
        <p:spPr>
          <a:xfrm>
            <a:off x="977876" y="4584585"/>
            <a:ext cx="2216095" cy="4825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Probar con datos reales</a:t>
            </a:r>
            <a:endParaRPr lang="en-US" sz="1400" dirty="0"/>
          </a:p>
        </p:txBody>
      </p:sp>
      <p:sp>
        <p:nvSpPr>
          <p:cNvPr id="13" name="Text 9"/>
          <p:cNvSpPr txBox="1"/>
          <p:nvPr/>
        </p:nvSpPr>
        <p:spPr>
          <a:xfrm>
            <a:off x="977876" y="5079873"/>
            <a:ext cx="2216095" cy="482588"/>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Del tamaño y el tipo reales, no solo casos chicos</a:t>
            </a:r>
            <a:endParaRPr lang="en-US" sz="1200" dirty="0"/>
          </a:p>
        </p:txBody>
      </p:sp>
      <p:sp>
        <p:nvSpPr>
          <p:cNvPr id="14" name="Shape 10"/>
          <p:cNvSpPr/>
          <p:nvPr/>
        </p:nvSpPr>
        <p:spPr>
          <a:xfrm>
            <a:off x="3486063" y="4063898"/>
            <a:ext cx="2546286" cy="1587460"/>
          </a:xfrm>
          <a:prstGeom prst="roundRect">
            <a:avLst>
              <a:gd name="adj" fmla="val 6912"/>
            </a:avLst>
          </a:prstGeom>
          <a:solidFill>
            <a:srgbClr val="FFFFFF"/>
          </a:solidFill>
          <a:ln w="9525">
            <a:solidFill>
              <a:srgbClr val="DDDBD2"/>
            </a:solidFill>
            <a:prstDash val="solid"/>
          </a:ln>
        </p:spPr>
      </p:sp>
      <p:sp>
        <p:nvSpPr>
          <p:cNvPr id="15" name="Text 11"/>
          <p:cNvSpPr txBox="1"/>
          <p:nvPr/>
        </p:nvSpPr>
        <p:spPr>
          <a:xfrm>
            <a:off x="3651159" y="4203595"/>
            <a:ext cx="380990" cy="317492"/>
          </a:xfrm>
          <a:prstGeom prst="rect">
            <a:avLst/>
          </a:prstGeom>
          <a:noFill/>
          <a:ln/>
        </p:spPr>
        <p:txBody>
          <a:bodyPr wrap="square" lIns="0" tIns="0" rIns="0" bIns="0" rtlCol="0" anchor="t"/>
          <a:lstStyle/>
          <a:p>
            <a:pPr indent="0" marL="0">
              <a:buNone/>
            </a:pPr>
            <a:r>
              <a:rPr lang="en-US" sz="2200" b="1" dirty="0">
                <a:solidFill>
                  <a:srgbClr val="D9692B"/>
                </a:solidFill>
                <a:latin typeface="Cambria" pitchFamily="34" charset="0"/>
                <a:ea typeface="Cambria" pitchFamily="34" charset="-122"/>
                <a:cs typeface="Cambria" pitchFamily="34" charset="-120"/>
              </a:rPr>
              <a:t>2</a:t>
            </a:r>
            <a:endParaRPr lang="en-US" sz="2200" dirty="0"/>
          </a:p>
        </p:txBody>
      </p:sp>
      <p:sp>
        <p:nvSpPr>
          <p:cNvPr id="16" name="Text 12"/>
          <p:cNvSpPr txBox="1"/>
          <p:nvPr/>
        </p:nvSpPr>
        <p:spPr>
          <a:xfrm>
            <a:off x="3651159" y="4584585"/>
            <a:ext cx="2216095" cy="4825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Criterio escrito antes</a:t>
            </a:r>
            <a:endParaRPr lang="en-US" sz="1400" dirty="0"/>
          </a:p>
        </p:txBody>
      </p:sp>
      <p:sp>
        <p:nvSpPr>
          <p:cNvPr id="17" name="Text 13"/>
          <p:cNvSpPr txBox="1"/>
          <p:nvPr/>
        </p:nvSpPr>
        <p:spPr>
          <a:xfrm>
            <a:off x="3651159" y="5079873"/>
            <a:ext cx="2216095" cy="482588"/>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Qué cuenta como éxito, antes de ver el resultado</a:t>
            </a:r>
            <a:endParaRPr lang="en-US" sz="1200" dirty="0"/>
          </a:p>
        </p:txBody>
      </p:sp>
      <p:sp>
        <p:nvSpPr>
          <p:cNvPr id="18" name="Shape 14"/>
          <p:cNvSpPr/>
          <p:nvPr/>
        </p:nvSpPr>
        <p:spPr>
          <a:xfrm>
            <a:off x="6159346" y="4063898"/>
            <a:ext cx="2546286" cy="1587460"/>
          </a:xfrm>
          <a:prstGeom prst="roundRect">
            <a:avLst>
              <a:gd name="adj" fmla="val 6912"/>
            </a:avLst>
          </a:prstGeom>
          <a:solidFill>
            <a:srgbClr val="FFFFFF"/>
          </a:solidFill>
          <a:ln w="9525">
            <a:solidFill>
              <a:srgbClr val="DDDBD2"/>
            </a:solidFill>
            <a:prstDash val="solid"/>
          </a:ln>
        </p:spPr>
      </p:sp>
      <p:sp>
        <p:nvSpPr>
          <p:cNvPr id="19" name="Text 15"/>
          <p:cNvSpPr txBox="1"/>
          <p:nvPr/>
        </p:nvSpPr>
        <p:spPr>
          <a:xfrm>
            <a:off x="6324442" y="4203595"/>
            <a:ext cx="380990" cy="317492"/>
          </a:xfrm>
          <a:prstGeom prst="rect">
            <a:avLst/>
          </a:prstGeom>
          <a:noFill/>
          <a:ln/>
        </p:spPr>
        <p:txBody>
          <a:bodyPr wrap="square" lIns="0" tIns="0" rIns="0" bIns="0" rtlCol="0" anchor="t"/>
          <a:lstStyle/>
          <a:p>
            <a:pPr indent="0" marL="0">
              <a:buNone/>
            </a:pPr>
            <a:r>
              <a:rPr lang="en-US" sz="2200" b="1" dirty="0">
                <a:solidFill>
                  <a:srgbClr val="D9692B"/>
                </a:solidFill>
                <a:latin typeface="Cambria" pitchFamily="34" charset="0"/>
                <a:ea typeface="Cambria" pitchFamily="34" charset="-122"/>
                <a:cs typeface="Cambria" pitchFamily="34" charset="-120"/>
              </a:rPr>
              <a:t>3</a:t>
            </a:r>
            <a:endParaRPr lang="en-US" sz="2200" dirty="0"/>
          </a:p>
        </p:txBody>
      </p:sp>
      <p:sp>
        <p:nvSpPr>
          <p:cNvPr id="20" name="Text 16"/>
          <p:cNvSpPr txBox="1"/>
          <p:nvPr/>
        </p:nvSpPr>
        <p:spPr>
          <a:xfrm>
            <a:off x="6324442" y="4584585"/>
            <a:ext cx="2216095" cy="4825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Verificación independiente</a:t>
            </a:r>
            <a:endParaRPr lang="en-US" sz="1400" dirty="0"/>
          </a:p>
        </p:txBody>
      </p:sp>
      <p:sp>
        <p:nvSpPr>
          <p:cNvPr id="21" name="Text 17"/>
          <p:cNvSpPr txBox="1"/>
          <p:nvPr/>
        </p:nvSpPr>
        <p:spPr>
          <a:xfrm>
            <a:off x="6324442" y="5079873"/>
            <a:ext cx="2216095" cy="482588"/>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Otro agente, con otro código, rehace cada número</a:t>
            </a:r>
            <a:endParaRPr lang="en-US" sz="1200" dirty="0"/>
          </a:p>
        </p:txBody>
      </p:sp>
      <p:sp>
        <p:nvSpPr>
          <p:cNvPr id="22" name="Shape 18"/>
          <p:cNvSpPr/>
          <p:nvPr/>
        </p:nvSpPr>
        <p:spPr>
          <a:xfrm>
            <a:off x="8832629" y="4063898"/>
            <a:ext cx="2546286" cy="1587460"/>
          </a:xfrm>
          <a:prstGeom prst="roundRect">
            <a:avLst>
              <a:gd name="adj" fmla="val 6912"/>
            </a:avLst>
          </a:prstGeom>
          <a:solidFill>
            <a:srgbClr val="FFFFFF"/>
          </a:solidFill>
          <a:ln w="9525">
            <a:solidFill>
              <a:srgbClr val="DDDBD2"/>
            </a:solidFill>
            <a:prstDash val="solid"/>
          </a:ln>
        </p:spPr>
      </p:sp>
      <p:sp>
        <p:nvSpPr>
          <p:cNvPr id="23" name="Text 19"/>
          <p:cNvSpPr txBox="1"/>
          <p:nvPr/>
        </p:nvSpPr>
        <p:spPr>
          <a:xfrm>
            <a:off x="8997725" y="4203595"/>
            <a:ext cx="380990" cy="317492"/>
          </a:xfrm>
          <a:prstGeom prst="rect">
            <a:avLst/>
          </a:prstGeom>
          <a:noFill/>
          <a:ln/>
        </p:spPr>
        <p:txBody>
          <a:bodyPr wrap="square" lIns="0" tIns="0" rIns="0" bIns="0" rtlCol="0" anchor="t"/>
          <a:lstStyle/>
          <a:p>
            <a:pPr indent="0" marL="0">
              <a:buNone/>
            </a:pPr>
            <a:r>
              <a:rPr lang="en-US" sz="2200" b="1" dirty="0">
                <a:solidFill>
                  <a:srgbClr val="D9692B"/>
                </a:solidFill>
                <a:latin typeface="Cambria" pitchFamily="34" charset="0"/>
                <a:ea typeface="Cambria" pitchFamily="34" charset="-122"/>
                <a:cs typeface="Cambria" pitchFamily="34" charset="-120"/>
              </a:rPr>
              <a:t>4</a:t>
            </a:r>
            <a:endParaRPr lang="en-US" sz="2200" dirty="0"/>
          </a:p>
        </p:txBody>
      </p:sp>
      <p:sp>
        <p:nvSpPr>
          <p:cNvPr id="24" name="Text 20"/>
          <p:cNvSpPr txBox="1"/>
          <p:nvPr/>
        </p:nvSpPr>
        <p:spPr>
          <a:xfrm>
            <a:off x="8997725" y="4584585"/>
            <a:ext cx="2216095" cy="48258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Alguien que conozca el equipo</a:t>
            </a:r>
            <a:endParaRPr lang="en-US" sz="1400" dirty="0"/>
          </a:p>
        </p:txBody>
      </p:sp>
      <p:sp>
        <p:nvSpPr>
          <p:cNvPr id="25" name="Text 21"/>
          <p:cNvSpPr txBox="1"/>
          <p:nvPr/>
        </p:nvSpPr>
        <p:spPr>
          <a:xfrm>
            <a:off x="8997725" y="5079873"/>
            <a:ext cx="2216095" cy="482588"/>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Los agentes no saben lo que no se les dice</a:t>
            </a:r>
            <a:endParaRPr lang="en-US" sz="1200" dirty="0"/>
          </a:p>
        </p:txBody>
      </p:sp>
      <p:sp>
        <p:nvSpPr>
          <p:cNvPr id="26" name="Text 22"/>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5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812780" y="711182"/>
            <a:ext cx="10566136" cy="571486"/>
          </a:xfrm>
          <a:prstGeom prst="rect">
            <a:avLst/>
          </a:prstGeom>
          <a:noFill/>
          <a:ln/>
        </p:spPr>
        <p:txBody>
          <a:bodyPr wrap="square" lIns="0" tIns="0" rIns="0" bIns="0" rtlCol="0" anchor="t"/>
          <a:lstStyle/>
          <a:p>
            <a:pPr indent="0" marL="0">
              <a:buNone/>
            </a:pPr>
            <a:r>
              <a:rPr lang="en-US" sz="3300" b="1" dirty="0">
                <a:solidFill>
                  <a:srgbClr val="FBFBF8"/>
                </a:solidFill>
                <a:latin typeface="Cambria" pitchFamily="34" charset="0"/>
                <a:ea typeface="Cambria" pitchFamily="34" charset="-122"/>
                <a:cs typeface="Cambria" pitchFamily="34" charset="-120"/>
              </a:rPr>
              <a:t>En resumen</a:t>
            </a:r>
            <a:endParaRPr lang="en-US" sz="3300" dirty="0"/>
          </a:p>
        </p:txBody>
      </p:sp>
      <p:sp>
        <p:nvSpPr>
          <p:cNvPr id="4" name="Text 1"/>
          <p:cNvSpPr txBox="1"/>
          <p:nvPr/>
        </p:nvSpPr>
        <p:spPr>
          <a:xfrm>
            <a:off x="812780" y="1523962"/>
            <a:ext cx="10566136" cy="330192"/>
          </a:xfrm>
          <a:prstGeom prst="rect">
            <a:avLst/>
          </a:prstGeom>
          <a:noFill/>
          <a:ln/>
        </p:spPr>
        <p:txBody>
          <a:bodyPr wrap="square" lIns="0" tIns="0" rIns="0" bIns="0" rtlCol="0" anchor="t"/>
          <a:lstStyle/>
          <a:p>
            <a:pPr indent="0" marL="0">
              <a:buNone/>
            </a:pPr>
            <a:r>
              <a:rPr lang="en-US" sz="1900" b="1" dirty="0">
                <a:solidFill>
                  <a:srgbClr val="FBFBF8"/>
                </a:solidFill>
                <a:latin typeface="Calibri" pitchFamily="34" charset="0"/>
                <a:ea typeface="Calibri" pitchFamily="34" charset="-122"/>
                <a:cs typeface="Calibri" pitchFamily="34" charset="-120"/>
              </a:rPr>
              <a:t>Los agentes: más útiles para auditar que para juzgar resultados reales</a:t>
            </a:r>
            <a:endParaRPr lang="en-US" sz="1900" dirty="0"/>
          </a:p>
        </p:txBody>
      </p:sp>
      <p:sp>
        <p:nvSpPr>
          <p:cNvPr id="5" name="Text 2"/>
          <p:cNvSpPr txBox="1"/>
          <p:nvPr/>
        </p:nvSpPr>
        <p:spPr>
          <a:xfrm>
            <a:off x="812780" y="1879553"/>
            <a:ext cx="10566136" cy="279393"/>
          </a:xfrm>
          <a:prstGeom prst="rect">
            <a:avLst/>
          </a:prstGeom>
          <a:noFill/>
          <a:ln/>
        </p:spPr>
        <p:txBody>
          <a:bodyPr wrap="square" lIns="0" tIns="0" rIns="0" bIns="0" rtlCol="0" anchor="t"/>
          <a:lstStyle/>
          <a:p>
            <a:pPr indent="0" marL="0">
              <a:buNone/>
            </a:pPr>
            <a:r>
              <a:rPr lang="en-US" sz="1400" dirty="0">
                <a:solidFill>
                  <a:srgbClr val="BFD0E6"/>
                </a:solidFill>
                <a:latin typeface="Calibri" pitchFamily="34" charset="0"/>
                <a:ea typeface="Calibri" pitchFamily="34" charset="-122"/>
                <a:cs typeface="Calibri" pitchFamily="34" charset="-120"/>
              </a:rPr>
              <a:t>Aportan volumen, auditoría y diseño de experimentos; fallan en el mundo físico y por exceso de confianza</a:t>
            </a:r>
            <a:endParaRPr lang="en-US" sz="1400" dirty="0"/>
          </a:p>
        </p:txBody>
      </p:sp>
      <p:sp>
        <p:nvSpPr>
          <p:cNvPr id="6" name="Text 3"/>
          <p:cNvSpPr txBox="1"/>
          <p:nvPr/>
        </p:nvSpPr>
        <p:spPr>
          <a:xfrm>
            <a:off x="812780" y="2425639"/>
            <a:ext cx="10566136" cy="330192"/>
          </a:xfrm>
          <a:prstGeom prst="rect">
            <a:avLst/>
          </a:prstGeom>
          <a:noFill/>
          <a:ln/>
        </p:spPr>
        <p:txBody>
          <a:bodyPr wrap="square" lIns="0" tIns="0" rIns="0" bIns="0" rtlCol="0" anchor="t"/>
          <a:lstStyle/>
          <a:p>
            <a:pPr indent="0" marL="0">
              <a:buNone/>
            </a:pPr>
            <a:r>
              <a:rPr lang="en-US" sz="1900" b="1" dirty="0">
                <a:solidFill>
                  <a:srgbClr val="FBFBF8"/>
                </a:solidFill>
                <a:latin typeface="Calibri" pitchFamily="34" charset="0"/>
                <a:ea typeface="Calibri" pitchFamily="34" charset="-122"/>
                <a:cs typeface="Calibri" pitchFamily="34" charset="-120"/>
              </a:rPr>
              <a:t>Ya medido: el foco de cada color pesa más que el solapamiento</a:t>
            </a:r>
            <a:endParaRPr lang="en-US" sz="1900" dirty="0"/>
          </a:p>
        </p:txBody>
      </p:sp>
      <p:sp>
        <p:nvSpPr>
          <p:cNvPr id="7" name="Text 4"/>
          <p:cNvSpPr txBox="1"/>
          <p:nvPr/>
        </p:nvSpPr>
        <p:spPr>
          <a:xfrm>
            <a:off x="812780" y="2781230"/>
            <a:ext cx="10566136" cy="279393"/>
          </a:xfrm>
          <a:prstGeom prst="rect">
            <a:avLst/>
          </a:prstGeom>
          <a:noFill/>
          <a:ln/>
        </p:spPr>
        <p:txBody>
          <a:bodyPr wrap="square" lIns="0" tIns="0" rIns="0" bIns="0" rtlCol="0" anchor="t"/>
          <a:lstStyle/>
          <a:p>
            <a:pPr indent="0" marL="0">
              <a:buNone/>
            </a:pPr>
            <a:r>
              <a:rPr lang="en-US" sz="1400" dirty="0">
                <a:solidFill>
                  <a:srgbClr val="BFD0E6"/>
                </a:solidFill>
                <a:latin typeface="Calibri" pitchFamily="34" charset="0"/>
                <a:ea typeface="Calibri" pitchFamily="34" charset="-122"/>
                <a:cs typeface="Calibri" pitchFamily="34" charset="-120"/>
              </a:rPr>
              <a:t>Provisional: el modelo todavía no incluye el desenfoque</a:t>
            </a:r>
            <a:endParaRPr lang="en-US" sz="1400" dirty="0"/>
          </a:p>
        </p:txBody>
      </p:sp>
      <p:sp>
        <p:nvSpPr>
          <p:cNvPr id="8" name="Text 5"/>
          <p:cNvSpPr txBox="1"/>
          <p:nvPr/>
        </p:nvSpPr>
        <p:spPr>
          <a:xfrm>
            <a:off x="812780" y="3327317"/>
            <a:ext cx="10566136" cy="330192"/>
          </a:xfrm>
          <a:prstGeom prst="rect">
            <a:avLst/>
          </a:prstGeom>
          <a:noFill/>
          <a:ln/>
        </p:spPr>
        <p:txBody>
          <a:bodyPr wrap="square" lIns="0" tIns="0" rIns="0" bIns="0" rtlCol="0" anchor="t"/>
          <a:lstStyle/>
          <a:p>
            <a:pPr indent="0" marL="0">
              <a:buNone/>
            </a:pPr>
            <a:r>
              <a:rPr lang="en-US" sz="1900" b="1" dirty="0">
                <a:solidFill>
                  <a:srgbClr val="FBFBF8"/>
                </a:solidFill>
                <a:latin typeface="Calibri" pitchFamily="34" charset="0"/>
                <a:ea typeface="Calibri" pitchFamily="34" charset="-122"/>
                <a:cs typeface="Calibri" pitchFamily="34" charset="-120"/>
              </a:rPr>
              <a:t>Próximo: una placa de calibración con líneas de ancho conocido</a:t>
            </a:r>
            <a:endParaRPr lang="en-US" sz="1900" dirty="0"/>
          </a:p>
        </p:txBody>
      </p:sp>
      <p:sp>
        <p:nvSpPr>
          <p:cNvPr id="9" name="Text 6"/>
          <p:cNvSpPr txBox="1"/>
          <p:nvPr/>
        </p:nvSpPr>
        <p:spPr>
          <a:xfrm>
            <a:off x="812780" y="3682908"/>
            <a:ext cx="10566136" cy="279393"/>
          </a:xfrm>
          <a:prstGeom prst="rect">
            <a:avLst/>
          </a:prstGeom>
          <a:noFill/>
          <a:ln/>
        </p:spPr>
        <p:txBody>
          <a:bodyPr wrap="square" lIns="0" tIns="0" rIns="0" bIns="0" rtlCol="0" anchor="t"/>
          <a:lstStyle/>
          <a:p>
            <a:pPr indent="0" marL="0">
              <a:buNone/>
            </a:pPr>
            <a:r>
              <a:rPr lang="en-US" sz="1400" dirty="0">
                <a:solidFill>
                  <a:srgbClr val="BFD0E6"/>
                </a:solidFill>
                <a:latin typeface="Calibri" pitchFamily="34" charset="0"/>
                <a:ea typeface="Calibri" pitchFamily="34" charset="-122"/>
                <a:cs typeface="Calibri" pitchFamily="34" charset="-120"/>
              </a:rPr>
              <a:t>Decide si el método gana detalle en nuestro montaje</a:t>
            </a:r>
            <a:endParaRPr lang="en-US" sz="1400" dirty="0"/>
          </a:p>
        </p:txBody>
      </p:sp>
      <p:sp>
        <p:nvSpPr>
          <p:cNvPr id="10" name="Text 7"/>
          <p:cNvSpPr txBox="1"/>
          <p:nvPr/>
        </p:nvSpPr>
        <p:spPr>
          <a:xfrm>
            <a:off x="812780" y="4228994"/>
            <a:ext cx="10566136" cy="330192"/>
          </a:xfrm>
          <a:prstGeom prst="rect">
            <a:avLst/>
          </a:prstGeom>
          <a:noFill/>
          <a:ln/>
        </p:spPr>
        <p:txBody>
          <a:bodyPr wrap="square" lIns="0" tIns="0" rIns="0" bIns="0" rtlCol="0" anchor="t"/>
          <a:lstStyle/>
          <a:p>
            <a:pPr indent="0" marL="0">
              <a:buNone/>
            </a:pPr>
            <a:r>
              <a:rPr lang="en-US" sz="1900" b="1" dirty="0">
                <a:solidFill>
                  <a:srgbClr val="FBFBF8"/>
                </a:solidFill>
                <a:latin typeface="Calibri" pitchFamily="34" charset="0"/>
                <a:ea typeface="Calibri" pitchFamily="34" charset="-122"/>
                <a:cs typeface="Calibri" pitchFamily="34" charset="-120"/>
              </a:rPr>
              <a:t>Próximo: combinar verde y azul con la dispersión conocida, en datos reales</a:t>
            </a:r>
            <a:endParaRPr lang="en-US" sz="1900" dirty="0"/>
          </a:p>
        </p:txBody>
      </p:sp>
      <p:sp>
        <p:nvSpPr>
          <p:cNvPr id="11" name="Text 8"/>
          <p:cNvSpPr txBox="1"/>
          <p:nvPr/>
        </p:nvSpPr>
        <p:spPr>
          <a:xfrm>
            <a:off x="812780" y="4584585"/>
            <a:ext cx="10566136" cy="279393"/>
          </a:xfrm>
          <a:prstGeom prst="rect">
            <a:avLst/>
          </a:prstGeom>
          <a:noFill/>
          <a:ln/>
        </p:spPr>
        <p:txBody>
          <a:bodyPr wrap="square" lIns="0" tIns="0" rIns="0" bIns="0" rtlCol="0" anchor="t"/>
          <a:lstStyle/>
          <a:p>
            <a:pPr indent="0" marL="0">
              <a:buNone/>
            </a:pPr>
            <a:r>
              <a:rPr lang="en-US" sz="1400" dirty="0">
                <a:solidFill>
                  <a:srgbClr val="BFD0E6"/>
                </a:solidFill>
                <a:latin typeface="Calibri" pitchFamily="34" charset="0"/>
                <a:ea typeface="Calibri" pitchFamily="34" charset="-122"/>
                <a:cs typeface="Calibri" pitchFamily="34" charset="-120"/>
              </a:rPr>
              <a:t>En simulación funciona; con datos reales todavía no se probó</a:t>
            </a:r>
            <a:endParaRPr lang="en-US" sz="1400" dirty="0"/>
          </a:p>
        </p:txBody>
      </p:sp>
      <p:sp>
        <p:nvSpPr>
          <p:cNvPr id="12" name="Text 9"/>
          <p:cNvSpPr txBox="1"/>
          <p:nvPr/>
        </p:nvSpPr>
        <p:spPr>
          <a:xfrm>
            <a:off x="812780" y="5714857"/>
            <a:ext cx="10566136" cy="279393"/>
          </a:xfrm>
          <a:prstGeom prst="rect">
            <a:avLst/>
          </a:prstGeom>
          <a:noFill/>
          <a:ln/>
        </p:spPr>
        <p:txBody>
          <a:bodyPr wrap="square" lIns="0" tIns="0" rIns="0" bIns="0" rtlCol="0" anchor="t"/>
          <a:lstStyle/>
          <a:p>
            <a:pPr indent="0" marL="0">
              <a:buNone/>
            </a:pPr>
            <a:r>
              <a:rPr lang="en-US" sz="1400" dirty="0">
                <a:solidFill>
                  <a:srgbClr val="D9692B"/>
                </a:solidFill>
                <a:latin typeface="Calibri" pitchFamily="34" charset="0"/>
                <a:ea typeface="Calibri" pitchFamily="34" charset="-122"/>
                <a:cs typeface="Calibri" pitchFamily="34" charset="-120"/>
              </a:rPr>
              <a:t>Informe completo: https://claude.ai/code/artifact/de7eab31-d9e0-4828-a62d-285ba0d46a98</a:t>
            </a:r>
            <a:endParaRPr lang="en-US" sz="1400" dirty="0"/>
          </a:p>
        </p:txBody>
      </p:sp>
      <p:sp>
        <p:nvSpPr>
          <p:cNvPr id="13" name="Text 10"/>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6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812780" y="2412940"/>
            <a:ext cx="10566136" cy="317492"/>
          </a:xfrm>
          <a:prstGeom prst="rect">
            <a:avLst/>
          </a:prstGeom>
          <a:noFill/>
          <a:ln/>
        </p:spPr>
        <p:txBody>
          <a:bodyPr wrap="square" lIns="0" tIns="0" rIns="0" bIns="0" rtlCol="0" anchor="t"/>
          <a:lstStyle/>
          <a:p>
            <a:pPr indent="0" marL="0">
              <a:buNone/>
            </a:pPr>
            <a:r>
              <a:rPr lang="en-US" sz="1600" b="1" spc="200" kern="0" dirty="0">
                <a:solidFill>
                  <a:srgbClr val="D9692B"/>
                </a:solidFill>
                <a:latin typeface="Calibri" pitchFamily="34" charset="0"/>
                <a:ea typeface="Calibri" pitchFamily="34" charset="-122"/>
                <a:cs typeface="Calibri" pitchFamily="34" charset="-120"/>
              </a:rPr>
              <a:t>APÉNDICE</a:t>
            </a:r>
            <a:endParaRPr lang="en-US" sz="1600" dirty="0"/>
          </a:p>
        </p:txBody>
      </p:sp>
      <p:sp>
        <p:nvSpPr>
          <p:cNvPr id="4" name="Text 1"/>
          <p:cNvSpPr txBox="1"/>
          <p:nvPr/>
        </p:nvSpPr>
        <p:spPr>
          <a:xfrm>
            <a:off x="812780" y="2857429"/>
            <a:ext cx="10566136" cy="825479"/>
          </a:xfrm>
          <a:prstGeom prst="rect">
            <a:avLst/>
          </a:prstGeom>
          <a:noFill/>
          <a:ln/>
        </p:spPr>
        <p:txBody>
          <a:bodyPr wrap="square" lIns="0" tIns="0" rIns="0" bIns="0" rtlCol="0" anchor="t"/>
          <a:lstStyle/>
          <a:p>
            <a:pPr indent="0" marL="0">
              <a:buNone/>
            </a:pPr>
            <a:r>
              <a:rPr lang="en-US" sz="4800" b="1" dirty="0">
                <a:solidFill>
                  <a:srgbClr val="FBFBF8"/>
                </a:solidFill>
                <a:latin typeface="Cambria" pitchFamily="34" charset="0"/>
                <a:ea typeface="Cambria" pitchFamily="34" charset="-122"/>
                <a:cs typeface="Cambria" pitchFamily="34" charset="-120"/>
              </a:rPr>
              <a:t>Para preguntas</a:t>
            </a:r>
            <a:endParaRPr lang="en-US" sz="4800" dirty="0"/>
          </a:p>
        </p:txBody>
      </p:sp>
      <p:sp>
        <p:nvSpPr>
          <p:cNvPr id="5" name="Text 2"/>
          <p:cNvSpPr txBox="1"/>
          <p:nvPr/>
        </p:nvSpPr>
        <p:spPr>
          <a:xfrm>
            <a:off x="812780" y="3873403"/>
            <a:ext cx="10566136" cy="380990"/>
          </a:xfrm>
          <a:prstGeom prst="rect">
            <a:avLst/>
          </a:prstGeom>
          <a:noFill/>
          <a:ln/>
        </p:spPr>
        <p:txBody>
          <a:bodyPr wrap="square" lIns="0" tIns="0" rIns="0" bIns="0" rtlCol="0" anchor="t"/>
          <a:lstStyle/>
          <a:p>
            <a:pPr indent="0" marL="0">
              <a:buNone/>
            </a:pPr>
            <a:r>
              <a:rPr lang="en-US" sz="1800" dirty="0">
                <a:solidFill>
                  <a:srgbClr val="BFD0E6"/>
                </a:solidFill>
                <a:latin typeface="Calibri" pitchFamily="34" charset="0"/>
                <a:ea typeface="Calibri" pitchFamily="34" charset="-122"/>
                <a:cs typeface="Calibri" pitchFamily="34" charset="-120"/>
              </a:rPr>
              <a:t>Control de los agentes · quién hizo qué · reconstrucción conjunta · foco o solapamiento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1498563" cy="330192"/>
          </a:xfrm>
          <a:prstGeom prst="roundRect">
            <a:avLst>
              <a:gd name="adj" fmla="val 55386"/>
            </a:avLst>
          </a:prstGeom>
          <a:solidFill>
            <a:srgbClr val="FBFBF8"/>
          </a:solidFill>
          <a:ln w="19050">
            <a:solidFill>
              <a:srgbClr val="6A7382"/>
            </a:solidFill>
            <a:prstDash val="solid"/>
          </a:ln>
        </p:spPr>
      </p:sp>
      <p:sp>
        <p:nvSpPr>
          <p:cNvPr id="4" name="Text 1"/>
          <p:cNvSpPr txBox="1"/>
          <p:nvPr/>
        </p:nvSpPr>
        <p:spPr>
          <a:xfrm>
            <a:off x="812780" y="711182"/>
            <a:ext cx="1498563" cy="330192"/>
          </a:xfrm>
          <a:prstGeom prst="rect">
            <a:avLst/>
          </a:prstGeom>
          <a:noFill/>
          <a:ln/>
        </p:spPr>
        <p:txBody>
          <a:bodyPr wrap="square" lIns="0" tIns="0" rIns="0" bIns="0" rtlCol="0" anchor="ctr"/>
          <a:lstStyle/>
          <a:p>
            <a:pPr algn="ctr" indent="0" marL="0">
              <a:buNone/>
            </a:pPr>
            <a:r>
              <a:rPr lang="en-US" sz="1300" b="1" spc="200" kern="0" dirty="0">
                <a:solidFill>
                  <a:srgbClr val="6A7382"/>
                </a:solidFill>
                <a:latin typeface="Calibri" pitchFamily="34" charset="0"/>
                <a:ea typeface="Calibri" pitchFamily="34" charset="-122"/>
                <a:cs typeface="Calibri" pitchFamily="34" charset="-120"/>
              </a:rPr>
              <a:t>APÉNDICE</a:t>
            </a:r>
            <a:endParaRPr lang="en-US" sz="1300" dirty="0"/>
          </a:p>
        </p:txBody>
      </p:sp>
      <p:sp>
        <p:nvSpPr>
          <p:cNvPr id="5" name="Text 2"/>
          <p:cNvSpPr txBox="1"/>
          <p:nvPr/>
        </p:nvSpPr>
        <p:spPr>
          <a:xfrm>
            <a:off x="812780" y="1142971"/>
            <a:ext cx="10566136" cy="571486"/>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¿Cómo controlamos a los agentes?</a:t>
            </a:r>
            <a:endParaRPr lang="en-US" sz="3300" dirty="0"/>
          </a:p>
        </p:txBody>
      </p:sp>
      <p:sp>
        <p:nvSpPr>
          <p:cNvPr id="6" name="Shape 3"/>
          <p:cNvSpPr/>
          <p:nvPr/>
        </p:nvSpPr>
        <p:spPr>
          <a:xfrm>
            <a:off x="812780" y="1904952"/>
            <a:ext cx="5206870" cy="1587460"/>
          </a:xfrm>
          <a:prstGeom prst="roundRect">
            <a:avLst>
              <a:gd name="adj" fmla="val 6912"/>
            </a:avLst>
          </a:prstGeom>
          <a:solidFill>
            <a:srgbClr val="FFFFFF"/>
          </a:solidFill>
          <a:ln w="9525">
            <a:solidFill>
              <a:srgbClr val="DDDBD2"/>
            </a:solidFill>
            <a:prstDash val="solid"/>
          </a:ln>
        </p:spPr>
      </p:sp>
      <p:sp>
        <p:nvSpPr>
          <p:cNvPr id="7" name="Text 4"/>
          <p:cNvSpPr txBox="1"/>
          <p:nvPr/>
        </p:nvSpPr>
        <p:spPr>
          <a:xfrm>
            <a:off x="1015975" y="2070048"/>
            <a:ext cx="4800480"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Cada número con su fuente</a:t>
            </a:r>
            <a:endParaRPr lang="en-US" sz="1500" dirty="0"/>
          </a:p>
        </p:txBody>
      </p:sp>
      <p:sp>
        <p:nvSpPr>
          <p:cNvPr id="8" name="Text 5"/>
          <p:cNvSpPr txBox="1"/>
          <p:nvPr/>
        </p:nvSpPr>
        <p:spPr>
          <a:xfrm>
            <a:off x="1015975" y="2412940"/>
            <a:ext cx="4800480" cy="952476"/>
          </a:xfrm>
          <a:prstGeom prst="rect">
            <a:avLst/>
          </a:prstGeom>
          <a:noFill/>
          <a:ln/>
        </p:spPr>
        <p:txBody>
          <a:bodyPr wrap="square" lIns="0" tIns="0" rIns="0" bIns="0" rtlCol="0" anchor="t"/>
          <a:lstStyle/>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El resumen tiene </a:t>
            </a:r>
            <a:pPr indent="0" marL="0">
              <a:spcAft>
                <a:spcPts val="600"/>
              </a:spcAft>
              <a:buNone/>
            </a:pPr>
            <a:r>
              <a:rPr lang="en-US" sz="1300" b="1" dirty="0">
                <a:solidFill>
                  <a:srgbClr val="3D4A5C"/>
                </a:solidFill>
                <a:latin typeface="Calibri" pitchFamily="34" charset="0"/>
                <a:ea typeface="Calibri" pitchFamily="34" charset="-122"/>
                <a:cs typeface="Calibri" pitchFamily="34" charset="-120"/>
              </a:rPr>
              <a:t>41</a:t>
            </a:r>
            <a:pPr indent="0" marL="0">
              <a:spcAft>
                <a:spcPts val="600"/>
              </a:spcAft>
              <a:buNone/>
            </a:pPr>
            <a:r>
              <a:rPr lang="en-US" sz="1300" dirty="0">
                <a:solidFill>
                  <a:srgbClr val="3D4A5C"/>
                </a:solidFill>
                <a:latin typeface="Calibri" pitchFamily="34" charset="0"/>
                <a:ea typeface="Calibri" pitchFamily="34" charset="-122"/>
                <a:cs typeface="Calibri" pitchFamily="34" charset="-120"/>
              </a:rPr>
              <a:t> números marcados; un script verifica que cada uno coincide con el registro (69 entradas).</a:t>
            </a:r>
            <a:endParaRPr lang="en-US" sz="1300" dirty="0"/>
          </a:p>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El registro lo escribe solo un programa, no una persona ni un agente.</a:t>
            </a:r>
            <a:endParaRPr lang="en-US" sz="1300" dirty="0"/>
          </a:p>
        </p:txBody>
      </p:sp>
      <p:sp>
        <p:nvSpPr>
          <p:cNvPr id="9" name="Shape 6"/>
          <p:cNvSpPr/>
          <p:nvPr/>
        </p:nvSpPr>
        <p:spPr>
          <a:xfrm>
            <a:off x="6172046" y="1904952"/>
            <a:ext cx="5206870" cy="1587460"/>
          </a:xfrm>
          <a:prstGeom prst="roundRect">
            <a:avLst>
              <a:gd name="adj" fmla="val 6912"/>
            </a:avLst>
          </a:prstGeom>
          <a:solidFill>
            <a:srgbClr val="FFFFFF"/>
          </a:solidFill>
          <a:ln w="9525">
            <a:solidFill>
              <a:srgbClr val="DDDBD2"/>
            </a:solidFill>
            <a:prstDash val="solid"/>
          </a:ln>
        </p:spPr>
      </p:sp>
      <p:sp>
        <p:nvSpPr>
          <p:cNvPr id="10" name="Text 7"/>
          <p:cNvSpPr txBox="1"/>
          <p:nvPr/>
        </p:nvSpPr>
        <p:spPr>
          <a:xfrm>
            <a:off x="6375241" y="2070048"/>
            <a:ext cx="4800480"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Pruebas que el agente no puede editar</a:t>
            </a:r>
            <a:endParaRPr lang="en-US" sz="1500" dirty="0"/>
          </a:p>
        </p:txBody>
      </p:sp>
      <p:sp>
        <p:nvSpPr>
          <p:cNvPr id="11" name="Text 8"/>
          <p:cNvSpPr txBox="1"/>
          <p:nvPr/>
        </p:nvSpPr>
        <p:spPr>
          <a:xfrm>
            <a:off x="6375241" y="2412940"/>
            <a:ext cx="4800480" cy="952476"/>
          </a:xfrm>
          <a:prstGeom prst="rect">
            <a:avLst/>
          </a:prstGeom>
          <a:noFill/>
          <a:ln/>
        </p:spPr>
        <p:txBody>
          <a:bodyPr wrap="square" lIns="0" tIns="0" rIns="0" bIns="0" rtlCol="0" anchor="t"/>
          <a:lstStyle/>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En la reconstrucción conjunta, la prueba de aceptación tenía su hash fijado.</a:t>
            </a:r>
            <a:endParaRPr lang="en-US" sz="1300" dirty="0"/>
          </a:p>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Criterios y umbrales fijos: no se cambian después de ver resultados.</a:t>
            </a:r>
            <a:endParaRPr lang="en-US" sz="1300" dirty="0"/>
          </a:p>
        </p:txBody>
      </p:sp>
      <p:sp>
        <p:nvSpPr>
          <p:cNvPr id="12" name="Shape 9"/>
          <p:cNvSpPr/>
          <p:nvPr/>
        </p:nvSpPr>
        <p:spPr>
          <a:xfrm>
            <a:off x="812780" y="3644809"/>
            <a:ext cx="5206870" cy="1587460"/>
          </a:xfrm>
          <a:prstGeom prst="roundRect">
            <a:avLst>
              <a:gd name="adj" fmla="val 6912"/>
            </a:avLst>
          </a:prstGeom>
          <a:solidFill>
            <a:srgbClr val="FFFFFF"/>
          </a:solidFill>
          <a:ln w="9525">
            <a:solidFill>
              <a:srgbClr val="DDDBD2"/>
            </a:solidFill>
            <a:prstDash val="solid"/>
          </a:ln>
        </p:spPr>
      </p:sp>
      <p:sp>
        <p:nvSpPr>
          <p:cNvPr id="13" name="Text 10"/>
          <p:cNvSpPr txBox="1"/>
          <p:nvPr/>
        </p:nvSpPr>
        <p:spPr>
          <a:xfrm>
            <a:off x="1015975" y="3809905"/>
            <a:ext cx="4800480"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Un verificador independiente</a:t>
            </a:r>
            <a:endParaRPr lang="en-US" sz="1500" dirty="0"/>
          </a:p>
        </p:txBody>
      </p:sp>
      <p:sp>
        <p:nvSpPr>
          <p:cNvPr id="14" name="Text 11"/>
          <p:cNvSpPr txBox="1"/>
          <p:nvPr/>
        </p:nvSpPr>
        <p:spPr>
          <a:xfrm>
            <a:off x="1015975" y="4152796"/>
            <a:ext cx="4800480" cy="952476"/>
          </a:xfrm>
          <a:prstGeom prst="rect">
            <a:avLst/>
          </a:prstGeom>
          <a:noFill/>
          <a:ln/>
        </p:spPr>
        <p:txBody>
          <a:bodyPr wrap="square" lIns="0" tIns="0" rIns="0" bIns="0" rtlCol="0" anchor="t"/>
          <a:lstStyle/>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Otro agente rehace cada número con su propio código.</a:t>
            </a:r>
            <a:endParaRPr lang="en-US" sz="1300" dirty="0"/>
          </a:p>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Ej.: gradiente 1,03e-8; el verificador obtuvo 6,0e-9.</a:t>
            </a:r>
            <a:endParaRPr lang="en-US" sz="1300" dirty="0"/>
          </a:p>
        </p:txBody>
      </p:sp>
      <p:sp>
        <p:nvSpPr>
          <p:cNvPr id="15" name="Shape 12"/>
          <p:cNvSpPr/>
          <p:nvPr/>
        </p:nvSpPr>
        <p:spPr>
          <a:xfrm>
            <a:off x="6172046" y="3644809"/>
            <a:ext cx="5206870" cy="1587460"/>
          </a:xfrm>
          <a:prstGeom prst="roundRect">
            <a:avLst>
              <a:gd name="adj" fmla="val 6912"/>
            </a:avLst>
          </a:prstGeom>
          <a:solidFill>
            <a:srgbClr val="FFFFFF"/>
          </a:solidFill>
          <a:ln w="9525">
            <a:solidFill>
              <a:srgbClr val="DDDBD2"/>
            </a:solidFill>
            <a:prstDash val="solid"/>
          </a:ln>
        </p:spPr>
      </p:sp>
      <p:sp>
        <p:nvSpPr>
          <p:cNvPr id="16" name="Text 13"/>
          <p:cNvSpPr txBox="1"/>
          <p:nvPr/>
        </p:nvSpPr>
        <p:spPr>
          <a:xfrm>
            <a:off x="6375241" y="3809905"/>
            <a:ext cx="4800480"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Criterios escritos antes</a:t>
            </a:r>
            <a:endParaRPr lang="en-US" sz="1500" dirty="0"/>
          </a:p>
        </p:txBody>
      </p:sp>
      <p:sp>
        <p:nvSpPr>
          <p:cNvPr id="17" name="Text 14"/>
          <p:cNvSpPr txBox="1"/>
          <p:nvPr/>
        </p:nvSpPr>
        <p:spPr>
          <a:xfrm>
            <a:off x="6375241" y="4152796"/>
            <a:ext cx="4800480" cy="952476"/>
          </a:xfrm>
          <a:prstGeom prst="rect">
            <a:avLst/>
          </a:prstGeom>
          <a:noFill/>
          <a:ln/>
        </p:spPr>
        <p:txBody>
          <a:bodyPr wrap="square" lIns="0" tIns="0" rIns="0" bIns="0" rtlCol="0" anchor="t"/>
          <a:lstStyle/>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Cada experimento largo tiene un plan en docs/ con los criterios de éxito, escrito antes de correr.</a:t>
            </a:r>
            <a:endParaRPr lang="en-US" sz="1300" dirty="0"/>
          </a:p>
          <a:p>
            <a:pPr indent="0" marL="0">
              <a:spcAft>
                <a:spcPts val="600"/>
              </a:spcAft>
              <a:buNone/>
            </a:pPr>
            <a:r>
              <a:rPr lang="en-US" sz="1300" dirty="0">
                <a:solidFill>
                  <a:srgbClr val="3D4A5C"/>
                </a:solidFill>
                <a:latin typeface="Calibri" pitchFamily="34" charset="0"/>
                <a:ea typeface="Calibri" pitchFamily="34" charset="-122"/>
                <a:cs typeface="Calibri" pitchFamily="34" charset="-120"/>
              </a:rPr>
              <a:t>Suite de pruebas automáticas: 399 pasan</a:t>
            </a:r>
            <a:endParaRPr lang="en-US" sz="1300" dirty="0"/>
          </a:p>
        </p:txBody>
      </p:sp>
      <p:sp>
        <p:nvSpPr>
          <p:cNvPr id="18" name="Text 15"/>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A1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1498563" cy="330192"/>
          </a:xfrm>
          <a:prstGeom prst="roundRect">
            <a:avLst>
              <a:gd name="adj" fmla="val 55386"/>
            </a:avLst>
          </a:prstGeom>
          <a:solidFill>
            <a:srgbClr val="FBFBF8"/>
          </a:solidFill>
          <a:ln w="19050">
            <a:solidFill>
              <a:srgbClr val="6A7382"/>
            </a:solidFill>
            <a:prstDash val="solid"/>
          </a:ln>
        </p:spPr>
      </p:sp>
      <p:sp>
        <p:nvSpPr>
          <p:cNvPr id="4" name="Text 1"/>
          <p:cNvSpPr txBox="1"/>
          <p:nvPr/>
        </p:nvSpPr>
        <p:spPr>
          <a:xfrm>
            <a:off x="812780" y="711182"/>
            <a:ext cx="1498563" cy="330192"/>
          </a:xfrm>
          <a:prstGeom prst="rect">
            <a:avLst/>
          </a:prstGeom>
          <a:noFill/>
          <a:ln/>
        </p:spPr>
        <p:txBody>
          <a:bodyPr wrap="square" lIns="0" tIns="0" rIns="0" bIns="0" rtlCol="0" anchor="ctr"/>
          <a:lstStyle/>
          <a:p>
            <a:pPr algn="ctr" indent="0" marL="0">
              <a:buNone/>
            </a:pPr>
            <a:r>
              <a:rPr lang="en-US" sz="1300" b="1" spc="200" kern="0" dirty="0">
                <a:solidFill>
                  <a:srgbClr val="6A7382"/>
                </a:solidFill>
                <a:latin typeface="Calibri" pitchFamily="34" charset="0"/>
                <a:ea typeface="Calibri" pitchFamily="34" charset="-122"/>
                <a:cs typeface="Calibri" pitchFamily="34" charset="-120"/>
              </a:rPr>
              <a:t>APÉNDICE</a:t>
            </a:r>
            <a:endParaRPr lang="en-US" sz="1300" dirty="0"/>
          </a:p>
        </p:txBody>
      </p:sp>
      <p:sp>
        <p:nvSpPr>
          <p:cNvPr id="5" name="Text 2"/>
          <p:cNvSpPr txBox="1"/>
          <p:nvPr/>
        </p:nvSpPr>
        <p:spPr>
          <a:xfrm>
            <a:off x="812780" y="1142971"/>
            <a:ext cx="10566136" cy="571486"/>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¿Quién hizo qué?</a:t>
            </a:r>
            <a:endParaRPr lang="en-US" sz="3300" dirty="0"/>
          </a:p>
        </p:txBody>
      </p:sp>
      <p:sp>
        <p:nvSpPr>
          <p:cNvPr id="6" name="Shape 3"/>
          <p:cNvSpPr/>
          <p:nvPr/>
        </p:nvSpPr>
        <p:spPr>
          <a:xfrm>
            <a:off x="812780" y="1841454"/>
            <a:ext cx="5181470" cy="1904952"/>
          </a:xfrm>
          <a:prstGeom prst="roundRect">
            <a:avLst>
              <a:gd name="adj" fmla="val 5760"/>
            </a:avLst>
          </a:prstGeom>
          <a:solidFill>
            <a:srgbClr val="FFFFFF"/>
          </a:solidFill>
          <a:ln w="9525">
            <a:solidFill>
              <a:srgbClr val="DDDBD2"/>
            </a:solidFill>
            <a:prstDash val="solid"/>
          </a:ln>
        </p:spPr>
      </p:sp>
      <p:sp>
        <p:nvSpPr>
          <p:cNvPr id="7" name="Text 4"/>
          <p:cNvSpPr txBox="1"/>
          <p:nvPr/>
        </p:nvSpPr>
        <p:spPr>
          <a:xfrm>
            <a:off x="1015975" y="2006550"/>
            <a:ext cx="4775081" cy="279393"/>
          </a:xfrm>
          <a:prstGeom prst="rect">
            <a:avLst/>
          </a:prstGeom>
          <a:noFill/>
          <a:ln/>
        </p:spPr>
        <p:txBody>
          <a:bodyPr wrap="square" lIns="0" tIns="0" rIns="0" bIns="0" rtlCol="0" anchor="t"/>
          <a:lstStyle/>
          <a:p>
            <a:pPr indent="0" marL="0">
              <a:buNone/>
            </a:pPr>
            <a:r>
              <a:rPr lang="en-US" sz="1500" b="1" dirty="0">
                <a:solidFill>
                  <a:srgbClr val="D9692B"/>
                </a:solidFill>
                <a:latin typeface="Calibri" pitchFamily="34" charset="0"/>
                <a:ea typeface="Calibri" pitchFamily="34" charset="-122"/>
                <a:cs typeface="Calibri" pitchFamily="34" charset="-120"/>
              </a:rPr>
              <a:t>La persona (Lucas)</a:t>
            </a:r>
            <a:endParaRPr lang="en-US" sz="1500" dirty="0"/>
          </a:p>
        </p:txBody>
      </p:sp>
      <p:sp>
        <p:nvSpPr>
          <p:cNvPr id="8" name="Text 5"/>
          <p:cNvSpPr txBox="1"/>
          <p:nvPr/>
        </p:nvSpPr>
        <p:spPr>
          <a:xfrm>
            <a:off x="1015975" y="2349441"/>
            <a:ext cx="4775081" cy="1269968"/>
          </a:xfrm>
          <a:prstGeom prst="rect">
            <a:avLst/>
          </a:prstGeom>
          <a:noFill/>
          <a:ln/>
        </p:spPr>
        <p:txBody>
          <a:bodyPr wrap="square" lIns="0" tIns="0" rIns="0" bIns="0" rtlCol="0" anchor="t"/>
          <a:lstStyle/>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Armó el montaje y tomó las capturas en el laboratorio</a:t>
            </a:r>
            <a:endParaRPr lang="en-US" sz="1400" dirty="0"/>
          </a:p>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Dio los datos reales del hardware: objetivo, cámara, altura de la matriz</a:t>
            </a:r>
            <a:endParaRPr lang="en-US" sz="1400" dirty="0"/>
          </a:p>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Decidió qué probar y tuvo el criterio final</a:t>
            </a:r>
            <a:endParaRPr lang="en-US" sz="1400" dirty="0"/>
          </a:p>
        </p:txBody>
      </p:sp>
      <p:sp>
        <p:nvSpPr>
          <p:cNvPr id="9" name="Shape 6"/>
          <p:cNvSpPr/>
          <p:nvPr/>
        </p:nvSpPr>
        <p:spPr>
          <a:xfrm>
            <a:off x="6197445" y="1841454"/>
            <a:ext cx="5181470" cy="1904952"/>
          </a:xfrm>
          <a:prstGeom prst="roundRect">
            <a:avLst>
              <a:gd name="adj" fmla="val 5760"/>
            </a:avLst>
          </a:prstGeom>
          <a:solidFill>
            <a:srgbClr val="FFFFFF"/>
          </a:solidFill>
          <a:ln w="9525">
            <a:solidFill>
              <a:srgbClr val="DDDBD2"/>
            </a:solidFill>
            <a:prstDash val="solid"/>
          </a:ln>
        </p:spPr>
      </p:sp>
      <p:sp>
        <p:nvSpPr>
          <p:cNvPr id="10" name="Text 7"/>
          <p:cNvSpPr txBox="1"/>
          <p:nvPr/>
        </p:nvSpPr>
        <p:spPr>
          <a:xfrm>
            <a:off x="6400640" y="2006550"/>
            <a:ext cx="4775081"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Los agentes (Claude)</a:t>
            </a:r>
            <a:endParaRPr lang="en-US" sz="1500" dirty="0"/>
          </a:p>
        </p:txBody>
      </p:sp>
      <p:sp>
        <p:nvSpPr>
          <p:cNvPr id="11" name="Text 8"/>
          <p:cNvSpPr txBox="1"/>
          <p:nvPr/>
        </p:nvSpPr>
        <p:spPr>
          <a:xfrm>
            <a:off x="6400640" y="2349441"/>
            <a:ext cx="4775081" cy="1269968"/>
          </a:xfrm>
          <a:prstGeom prst="rect">
            <a:avLst/>
          </a:prstGeom>
          <a:noFill/>
          <a:ln/>
        </p:spPr>
        <p:txBody>
          <a:bodyPr wrap="square" lIns="0" tIns="0" rIns="0" bIns="0" rtlCol="0" anchor="t"/>
          <a:lstStyle/>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El código del simulador y de la reconstrucción: </a:t>
            </a:r>
            <a:pPr indent="0" marL="0">
              <a:spcAft>
                <a:spcPts val="600"/>
              </a:spcAft>
              <a:buNone/>
            </a:pPr>
            <a:r>
              <a:rPr lang="en-US" sz="1400" b="1" dirty="0">
                <a:solidFill>
                  <a:srgbClr val="3D4A5C"/>
                </a:solidFill>
                <a:latin typeface="Calibri" pitchFamily="34" charset="0"/>
                <a:ea typeface="Calibri" pitchFamily="34" charset="-122"/>
                <a:cs typeface="Calibri" pitchFamily="34" charset="-120"/>
              </a:rPr>
              <a:t>97 de 99</a:t>
            </a:r>
            <a:pPr indent="0" marL="0">
              <a:spcAft>
                <a:spcPts val="600"/>
              </a:spcAft>
              <a:buNone/>
            </a:pPr>
            <a:r>
              <a:rPr lang="en-US" sz="1400" dirty="0">
                <a:solidFill>
                  <a:srgbClr val="3D4A5C"/>
                </a:solidFill>
                <a:latin typeface="Calibri" pitchFamily="34" charset="0"/>
                <a:ea typeface="Calibri" pitchFamily="34" charset="-122"/>
                <a:cs typeface="Calibri" pitchFamily="34" charset="-120"/>
              </a:rPr>
              <a:t> commits con Claude como coautor</a:t>
            </a:r>
            <a:endParaRPr lang="en-US" sz="1400" dirty="0"/>
          </a:p>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Análisis, diagnóstico de errores e informes</a:t>
            </a:r>
            <a:endParaRPr lang="en-US" sz="1400" dirty="0"/>
          </a:p>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Sugerencias de captura y esta presentación</a:t>
            </a:r>
            <a:endParaRPr lang="en-US" sz="1400" dirty="0"/>
          </a:p>
        </p:txBody>
      </p:sp>
      <p:sp>
        <p:nvSpPr>
          <p:cNvPr id="12" name="Text 9"/>
          <p:cNvSpPr txBox="1"/>
          <p:nvPr/>
        </p:nvSpPr>
        <p:spPr>
          <a:xfrm>
            <a:off x="812780" y="3898803"/>
            <a:ext cx="10566136" cy="253994"/>
          </a:xfrm>
          <a:prstGeom prst="rect">
            <a:avLst/>
          </a:prstGeom>
          <a:noFill/>
          <a:ln/>
        </p:spPr>
        <p:txBody>
          <a:bodyPr wrap="square" lIns="0" tIns="0" rIns="0" bIns="0" rtlCol="0" anchor="t"/>
          <a:lstStyle/>
          <a:p>
            <a:pPr indent="0" marL="0">
              <a:buNone/>
            </a:pPr>
            <a:r>
              <a:rPr lang="en-US" sz="1400" dirty="0">
                <a:solidFill>
                  <a:srgbClr val="6A7382"/>
                </a:solidFill>
                <a:latin typeface="Calibri" pitchFamily="34" charset="0"/>
                <a:ea typeface="Calibri" pitchFamily="34" charset="-122"/>
                <a:cs typeface="Calibri" pitchFamily="34" charset="-120"/>
              </a:rPr>
              <a:t>Los agentes no hacen commits por su cuenta: solo cuando la persona lo pide.</a:t>
            </a:r>
            <a:endParaRPr lang="en-US" sz="1400" dirty="0"/>
          </a:p>
        </p:txBody>
      </p:sp>
      <p:sp>
        <p:nvSpPr>
          <p:cNvPr id="13" name="Text 10"/>
          <p:cNvSpPr txBox="1"/>
          <p:nvPr/>
        </p:nvSpPr>
        <p:spPr>
          <a:xfrm>
            <a:off x="812780" y="4444889"/>
            <a:ext cx="10566136" cy="253994"/>
          </a:xfrm>
          <a:prstGeom prst="rect">
            <a:avLst/>
          </a:prstGeom>
          <a:noFill/>
          <a:ln/>
        </p:spPr>
        <p:txBody>
          <a:bodyPr wrap="square" lIns="0" tIns="0" rIns="0" bIns="0" rtlCol="0" anchor="t"/>
          <a:lstStyle/>
          <a:p>
            <a:pPr indent="0" marL="0">
              <a:buNone/>
            </a:pPr>
            <a:r>
              <a:rPr lang="en-US" sz="1300" b="1" dirty="0">
                <a:solidFill>
                  <a:srgbClr val="6A7382"/>
                </a:solidFill>
                <a:latin typeface="Calibri" pitchFamily="34" charset="0"/>
                <a:ea typeface="Calibri" pitchFamily="34" charset="-122"/>
                <a:cs typeface="Calibri" pitchFamily="34" charset="-120"/>
              </a:rPr>
              <a:t>Una ronda de un equipo de agentes</a:t>
            </a:r>
            <a:endParaRPr lang="en-US" sz="1300" dirty="0"/>
          </a:p>
        </p:txBody>
      </p:sp>
      <p:sp>
        <p:nvSpPr>
          <p:cNvPr id="14" name="Shape 11"/>
          <p:cNvSpPr/>
          <p:nvPr/>
        </p:nvSpPr>
        <p:spPr>
          <a:xfrm>
            <a:off x="812780" y="4800480"/>
            <a:ext cx="1904952" cy="482588"/>
          </a:xfrm>
          <a:prstGeom prst="roundRect">
            <a:avLst>
              <a:gd name="adj" fmla="val 18948"/>
            </a:avLst>
          </a:prstGeom>
          <a:solidFill>
            <a:srgbClr val="FFFFFF"/>
          </a:solidFill>
          <a:ln w="19050">
            <a:solidFill>
              <a:srgbClr val="DDDBD2"/>
            </a:solidFill>
            <a:prstDash val="solid"/>
          </a:ln>
        </p:spPr>
      </p:sp>
      <p:sp>
        <p:nvSpPr>
          <p:cNvPr id="15" name="Text 12"/>
          <p:cNvSpPr txBox="1"/>
          <p:nvPr/>
        </p:nvSpPr>
        <p:spPr>
          <a:xfrm>
            <a:off x="812780" y="4800480"/>
            <a:ext cx="1904952" cy="48258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Persona: la pregunta</a:t>
            </a:r>
            <a:endParaRPr lang="en-US" sz="1300" dirty="0"/>
          </a:p>
        </p:txBody>
      </p:sp>
      <p:sp>
        <p:nvSpPr>
          <p:cNvPr id="16" name="Shape 13"/>
          <p:cNvSpPr/>
          <p:nvPr/>
        </p:nvSpPr>
        <p:spPr>
          <a:xfrm>
            <a:off x="2793930" y="5041774"/>
            <a:ext cx="253994" cy="0"/>
          </a:xfrm>
          <a:prstGeom prst="line">
            <a:avLst/>
          </a:prstGeom>
          <a:noFill/>
          <a:ln w="19050">
            <a:solidFill>
              <a:srgbClr val="6A7382"/>
            </a:solidFill>
            <a:prstDash val="solid"/>
            <a:tailEnd type="triangle"/>
          </a:ln>
        </p:spPr>
      </p:sp>
      <p:sp>
        <p:nvSpPr>
          <p:cNvPr id="17" name="Shape 14"/>
          <p:cNvSpPr/>
          <p:nvPr/>
        </p:nvSpPr>
        <p:spPr>
          <a:xfrm>
            <a:off x="3124122" y="4800480"/>
            <a:ext cx="1269968" cy="482588"/>
          </a:xfrm>
          <a:prstGeom prst="roundRect">
            <a:avLst>
              <a:gd name="adj" fmla="val 18948"/>
            </a:avLst>
          </a:prstGeom>
          <a:solidFill>
            <a:srgbClr val="FFFFFF"/>
          </a:solidFill>
          <a:ln w="19050">
            <a:solidFill>
              <a:srgbClr val="DDDBD2"/>
            </a:solidFill>
            <a:prstDash val="solid"/>
          </a:ln>
        </p:spPr>
      </p:sp>
      <p:sp>
        <p:nvSpPr>
          <p:cNvPr id="18" name="Text 15"/>
          <p:cNvSpPr txBox="1"/>
          <p:nvPr/>
        </p:nvSpPr>
        <p:spPr>
          <a:xfrm>
            <a:off x="3124122" y="4800480"/>
            <a:ext cx="1269968" cy="48258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Agente líder</a:t>
            </a:r>
            <a:endParaRPr lang="en-US" sz="1300" dirty="0"/>
          </a:p>
        </p:txBody>
      </p:sp>
      <p:sp>
        <p:nvSpPr>
          <p:cNvPr id="19" name="Shape 16"/>
          <p:cNvSpPr/>
          <p:nvPr/>
        </p:nvSpPr>
        <p:spPr>
          <a:xfrm>
            <a:off x="4470288" y="5041774"/>
            <a:ext cx="253994" cy="0"/>
          </a:xfrm>
          <a:prstGeom prst="line">
            <a:avLst/>
          </a:prstGeom>
          <a:noFill/>
          <a:ln w="19050">
            <a:solidFill>
              <a:srgbClr val="6A7382"/>
            </a:solidFill>
            <a:prstDash val="solid"/>
            <a:tailEnd type="triangle"/>
          </a:ln>
        </p:spPr>
      </p:sp>
      <p:sp>
        <p:nvSpPr>
          <p:cNvPr id="20" name="Shape 17"/>
          <p:cNvSpPr/>
          <p:nvPr/>
        </p:nvSpPr>
        <p:spPr>
          <a:xfrm>
            <a:off x="4800480" y="4800480"/>
            <a:ext cx="1333467" cy="482588"/>
          </a:xfrm>
          <a:prstGeom prst="roundRect">
            <a:avLst>
              <a:gd name="adj" fmla="val 18948"/>
            </a:avLst>
          </a:prstGeom>
          <a:solidFill>
            <a:srgbClr val="FFFFFF"/>
          </a:solidFill>
          <a:ln w="19050">
            <a:solidFill>
              <a:srgbClr val="DDDBD2"/>
            </a:solidFill>
            <a:prstDash val="solid"/>
          </a:ln>
        </p:spPr>
      </p:sp>
      <p:sp>
        <p:nvSpPr>
          <p:cNvPr id="21" name="Text 18"/>
          <p:cNvSpPr txBox="1"/>
          <p:nvPr/>
        </p:nvSpPr>
        <p:spPr>
          <a:xfrm>
            <a:off x="4800480" y="4800480"/>
            <a:ext cx="1333467" cy="48258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Trabajadores</a:t>
            </a:r>
            <a:endParaRPr lang="en-US" sz="1300" dirty="0"/>
          </a:p>
        </p:txBody>
      </p:sp>
      <p:sp>
        <p:nvSpPr>
          <p:cNvPr id="22" name="Shape 19"/>
          <p:cNvSpPr/>
          <p:nvPr/>
        </p:nvSpPr>
        <p:spPr>
          <a:xfrm>
            <a:off x="6210145" y="5041774"/>
            <a:ext cx="253994" cy="0"/>
          </a:xfrm>
          <a:prstGeom prst="line">
            <a:avLst/>
          </a:prstGeom>
          <a:noFill/>
          <a:ln w="19050">
            <a:solidFill>
              <a:srgbClr val="6A7382"/>
            </a:solidFill>
            <a:prstDash val="solid"/>
            <a:tailEnd type="triangle"/>
          </a:ln>
        </p:spPr>
      </p:sp>
      <p:sp>
        <p:nvSpPr>
          <p:cNvPr id="23" name="Shape 20"/>
          <p:cNvSpPr/>
          <p:nvPr/>
        </p:nvSpPr>
        <p:spPr>
          <a:xfrm>
            <a:off x="6540336" y="4800480"/>
            <a:ext cx="1206470" cy="482588"/>
          </a:xfrm>
          <a:prstGeom prst="roundRect">
            <a:avLst>
              <a:gd name="adj" fmla="val 18948"/>
            </a:avLst>
          </a:prstGeom>
          <a:solidFill>
            <a:srgbClr val="F6D9C6"/>
          </a:solidFill>
          <a:ln w="19050">
            <a:solidFill>
              <a:srgbClr val="D9692B"/>
            </a:solidFill>
            <a:prstDash val="solid"/>
          </a:ln>
        </p:spPr>
      </p:sp>
      <p:sp>
        <p:nvSpPr>
          <p:cNvPr id="24" name="Text 21"/>
          <p:cNvSpPr txBox="1"/>
          <p:nvPr/>
        </p:nvSpPr>
        <p:spPr>
          <a:xfrm>
            <a:off x="6540336" y="4800480"/>
            <a:ext cx="1206470" cy="48258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Verificador</a:t>
            </a:r>
            <a:endParaRPr lang="en-US" sz="1300" dirty="0"/>
          </a:p>
        </p:txBody>
      </p:sp>
      <p:sp>
        <p:nvSpPr>
          <p:cNvPr id="25" name="Shape 22"/>
          <p:cNvSpPr/>
          <p:nvPr/>
        </p:nvSpPr>
        <p:spPr>
          <a:xfrm>
            <a:off x="7823004" y="5041774"/>
            <a:ext cx="253994" cy="0"/>
          </a:xfrm>
          <a:prstGeom prst="line">
            <a:avLst/>
          </a:prstGeom>
          <a:noFill/>
          <a:ln w="19050">
            <a:solidFill>
              <a:srgbClr val="6A7382"/>
            </a:solidFill>
            <a:prstDash val="solid"/>
            <a:tailEnd type="triangle"/>
          </a:ln>
        </p:spPr>
      </p:sp>
      <p:sp>
        <p:nvSpPr>
          <p:cNvPr id="26" name="Shape 23"/>
          <p:cNvSpPr/>
          <p:nvPr/>
        </p:nvSpPr>
        <p:spPr>
          <a:xfrm>
            <a:off x="8153196" y="4800480"/>
            <a:ext cx="1523962" cy="482588"/>
          </a:xfrm>
          <a:prstGeom prst="roundRect">
            <a:avLst>
              <a:gd name="adj" fmla="val 18948"/>
            </a:avLst>
          </a:prstGeom>
          <a:solidFill>
            <a:srgbClr val="FFFFFF"/>
          </a:solidFill>
          <a:ln w="19050">
            <a:solidFill>
              <a:srgbClr val="DDDBD2"/>
            </a:solidFill>
            <a:prstDash val="solid"/>
          </a:ln>
        </p:spPr>
      </p:sp>
      <p:sp>
        <p:nvSpPr>
          <p:cNvPr id="27" name="Text 24"/>
          <p:cNvSpPr txBox="1"/>
          <p:nvPr/>
        </p:nvSpPr>
        <p:spPr>
          <a:xfrm>
            <a:off x="8153196" y="4800480"/>
            <a:ext cx="1523962" cy="482588"/>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Persona decide</a:t>
            </a:r>
            <a:endParaRPr lang="en-US" sz="1300" dirty="0"/>
          </a:p>
        </p:txBody>
      </p:sp>
      <p:sp>
        <p:nvSpPr>
          <p:cNvPr id="28" name="Text 25"/>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A2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1498563" cy="330192"/>
          </a:xfrm>
          <a:prstGeom prst="roundRect">
            <a:avLst>
              <a:gd name="adj" fmla="val 55386"/>
            </a:avLst>
          </a:prstGeom>
          <a:solidFill>
            <a:srgbClr val="FBFBF8"/>
          </a:solidFill>
          <a:ln w="19050">
            <a:solidFill>
              <a:srgbClr val="6A7382"/>
            </a:solidFill>
            <a:prstDash val="solid"/>
          </a:ln>
        </p:spPr>
      </p:sp>
      <p:sp>
        <p:nvSpPr>
          <p:cNvPr id="4" name="Text 1"/>
          <p:cNvSpPr txBox="1"/>
          <p:nvPr/>
        </p:nvSpPr>
        <p:spPr>
          <a:xfrm>
            <a:off x="812780" y="711182"/>
            <a:ext cx="1498563" cy="330192"/>
          </a:xfrm>
          <a:prstGeom prst="rect">
            <a:avLst/>
          </a:prstGeom>
          <a:noFill/>
          <a:ln/>
        </p:spPr>
        <p:txBody>
          <a:bodyPr wrap="square" lIns="0" tIns="0" rIns="0" bIns="0" rtlCol="0" anchor="ctr"/>
          <a:lstStyle/>
          <a:p>
            <a:pPr algn="ctr" indent="0" marL="0">
              <a:buNone/>
            </a:pPr>
            <a:r>
              <a:rPr lang="en-US" sz="1300" b="1" spc="200" kern="0" dirty="0">
                <a:solidFill>
                  <a:srgbClr val="6A7382"/>
                </a:solidFill>
                <a:latin typeface="Calibri" pitchFamily="34" charset="0"/>
                <a:ea typeface="Calibri" pitchFamily="34" charset="-122"/>
                <a:cs typeface="Calibri" pitchFamily="34" charset="-120"/>
              </a:rPr>
              <a:t>APÉNDICE</a:t>
            </a:r>
            <a:endParaRPr lang="en-US" sz="1300" dirty="0"/>
          </a:p>
        </p:txBody>
      </p:sp>
      <p:sp>
        <p:nvSpPr>
          <p:cNvPr id="5" name="Text 2"/>
          <p:cNvSpPr txBox="1"/>
          <p:nvPr/>
        </p:nvSpPr>
        <p:spPr>
          <a:xfrm>
            <a:off x="812780" y="1142971"/>
            <a:ext cx="10566136" cy="1079473"/>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Reconstruir los tres colores juntos: pasó las pruebas y no sirve</a:t>
            </a:r>
            <a:endParaRPr lang="en-US" sz="3300" dirty="0"/>
          </a:p>
        </p:txBody>
      </p:sp>
      <p:pic>
        <p:nvPicPr>
          <p:cNvPr id="6" name="Image 0" descr="/home/chanoscopio/Documents/LucasC/reproducible-research-template/report/informe/img/fig_conjunta_verdad_vs_conjunta.png">    </p:cNvPr>
          <p:cNvPicPr>
            <a:picLocks noChangeAspect="1"/>
          </p:cNvPicPr>
          <p:nvPr/>
        </p:nvPicPr>
        <p:blipFill>
          <a:blip r:embed="rId1"/>
          <a:stretch>
            <a:fillRect/>
          </a:stretch>
        </p:blipFill>
        <p:spPr>
          <a:xfrm>
            <a:off x="812780" y="2414132"/>
            <a:ext cx="5587860" cy="2474053"/>
          </a:xfrm>
          <a:prstGeom prst="rect">
            <a:avLst/>
          </a:prstGeom>
        </p:spPr>
      </p:pic>
      <p:sp>
        <p:nvSpPr>
          <p:cNvPr id="7" name="Shape 3"/>
          <p:cNvSpPr/>
          <p:nvPr/>
        </p:nvSpPr>
        <p:spPr>
          <a:xfrm>
            <a:off x="6680033" y="2412940"/>
            <a:ext cx="4698883" cy="952476"/>
          </a:xfrm>
          <a:prstGeom prst="roundRect">
            <a:avLst>
              <a:gd name="adj" fmla="val 11520"/>
            </a:avLst>
          </a:prstGeom>
          <a:solidFill>
            <a:srgbClr val="FFFFFF"/>
          </a:solidFill>
          <a:ln w="9525">
            <a:solidFill>
              <a:srgbClr val="DDDBD2"/>
            </a:solidFill>
            <a:prstDash val="solid"/>
          </a:ln>
        </p:spPr>
      </p:sp>
      <p:sp>
        <p:nvSpPr>
          <p:cNvPr id="8" name="Shape 4"/>
          <p:cNvSpPr/>
          <p:nvPr/>
        </p:nvSpPr>
        <p:spPr>
          <a:xfrm>
            <a:off x="6680033" y="2451039"/>
            <a:ext cx="57149" cy="876278"/>
          </a:xfrm>
          <a:prstGeom prst="rect">
            <a:avLst/>
          </a:prstGeom>
          <a:solidFill>
            <a:srgbClr val="2F6FB0"/>
          </a:solidFill>
          <a:ln w="12700">
            <a:solidFill>
              <a:srgbClr val="2F6FB0"/>
            </a:solidFill>
            <a:prstDash val="solid"/>
          </a:ln>
        </p:spPr>
      </p:sp>
      <p:sp>
        <p:nvSpPr>
          <p:cNvPr id="9" name="Text 5"/>
          <p:cNvSpPr txBox="1"/>
          <p:nvPr/>
        </p:nvSpPr>
        <p:spPr>
          <a:xfrm>
            <a:off x="6870528" y="2527237"/>
            <a:ext cx="4381390" cy="2031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Ajuste de las fotos</a:t>
            </a:r>
            <a:endParaRPr lang="en-US" sz="1200" dirty="0"/>
          </a:p>
        </p:txBody>
      </p:sp>
      <p:sp>
        <p:nvSpPr>
          <p:cNvPr id="10" name="Text 6"/>
          <p:cNvSpPr txBox="1"/>
          <p:nvPr/>
        </p:nvSpPr>
        <p:spPr>
          <a:xfrm>
            <a:off x="6870528" y="2743131"/>
            <a:ext cx="4381390" cy="279393"/>
          </a:xfrm>
          <a:prstGeom prst="rect">
            <a:avLst/>
          </a:prstGeom>
          <a:noFill/>
          <a:ln/>
        </p:spPr>
        <p:txBody>
          <a:bodyPr wrap="square" lIns="0" tIns="0" rIns="0" bIns="0" rtlCol="0" anchor="t"/>
          <a:lstStyle/>
          <a:p>
            <a:pPr indent="0" marL="0">
              <a:buNone/>
            </a:pPr>
            <a:r>
              <a:rPr lang="en-US" sz="1700" b="1" dirty="0">
                <a:solidFill>
                  <a:srgbClr val="2F6FB0"/>
                </a:solidFill>
                <a:latin typeface="Calibri" pitchFamily="34" charset="0"/>
                <a:ea typeface="Calibri" pitchFamily="34" charset="-122"/>
                <a:cs typeface="Calibri" pitchFamily="34" charset="-120"/>
              </a:rPr>
              <a:t>0,97 × el piso de ruido</a:t>
            </a:r>
            <a:endParaRPr lang="en-US" sz="1700" dirty="0"/>
          </a:p>
        </p:txBody>
      </p:sp>
      <p:sp>
        <p:nvSpPr>
          <p:cNvPr id="11" name="Text 7"/>
          <p:cNvSpPr txBox="1"/>
          <p:nvPr/>
        </p:nvSpPr>
        <p:spPr>
          <a:xfrm>
            <a:off x="6870528" y="3060623"/>
            <a:ext cx="4381390" cy="215895"/>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Mejor que la muestra verdadera</a:t>
            </a:r>
            <a:endParaRPr lang="en-US" sz="1200" dirty="0"/>
          </a:p>
        </p:txBody>
      </p:sp>
      <p:sp>
        <p:nvSpPr>
          <p:cNvPr id="12" name="Shape 8"/>
          <p:cNvSpPr/>
          <p:nvPr/>
        </p:nvSpPr>
        <p:spPr>
          <a:xfrm>
            <a:off x="6680033" y="3467013"/>
            <a:ext cx="4698883" cy="952476"/>
          </a:xfrm>
          <a:prstGeom prst="roundRect">
            <a:avLst>
              <a:gd name="adj" fmla="val 11520"/>
            </a:avLst>
          </a:prstGeom>
          <a:solidFill>
            <a:srgbClr val="FFFFFF"/>
          </a:solidFill>
          <a:ln w="9525">
            <a:solidFill>
              <a:srgbClr val="DDDBD2"/>
            </a:solidFill>
            <a:prstDash val="solid"/>
          </a:ln>
        </p:spPr>
      </p:sp>
      <p:sp>
        <p:nvSpPr>
          <p:cNvPr id="13" name="Shape 9"/>
          <p:cNvSpPr/>
          <p:nvPr/>
        </p:nvSpPr>
        <p:spPr>
          <a:xfrm>
            <a:off x="6680033" y="3505112"/>
            <a:ext cx="57149" cy="876278"/>
          </a:xfrm>
          <a:prstGeom prst="rect">
            <a:avLst/>
          </a:prstGeom>
          <a:solidFill>
            <a:srgbClr val="D9692B"/>
          </a:solidFill>
          <a:ln w="12700">
            <a:solidFill>
              <a:srgbClr val="D9692B"/>
            </a:solidFill>
            <a:prstDash val="solid"/>
          </a:ln>
        </p:spPr>
      </p:sp>
      <p:sp>
        <p:nvSpPr>
          <p:cNvPr id="14" name="Text 10"/>
          <p:cNvSpPr txBox="1"/>
          <p:nvPr/>
        </p:nvSpPr>
        <p:spPr>
          <a:xfrm>
            <a:off x="6870528" y="3581310"/>
            <a:ext cx="4381390" cy="2031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Espesor contra el verdadero</a:t>
            </a:r>
            <a:endParaRPr lang="en-US" sz="1200" dirty="0"/>
          </a:p>
        </p:txBody>
      </p:sp>
      <p:sp>
        <p:nvSpPr>
          <p:cNvPr id="15" name="Text 11"/>
          <p:cNvSpPr txBox="1"/>
          <p:nvPr/>
        </p:nvSpPr>
        <p:spPr>
          <a:xfrm>
            <a:off x="6870528" y="3797205"/>
            <a:ext cx="4381390" cy="279393"/>
          </a:xfrm>
          <a:prstGeom prst="rect">
            <a:avLst/>
          </a:prstGeom>
          <a:noFill/>
          <a:ln/>
        </p:spPr>
        <p:txBody>
          <a:bodyPr wrap="square" lIns="0" tIns="0" rIns="0" bIns="0" rtlCol="0" anchor="t"/>
          <a:lstStyle/>
          <a:p>
            <a:pPr indent="0" marL="0">
              <a:buNone/>
            </a:pPr>
            <a:r>
              <a:rPr lang="en-US" sz="1700" b="1" dirty="0">
                <a:solidFill>
                  <a:srgbClr val="D9692B"/>
                </a:solidFill>
                <a:latin typeface="Calibri" pitchFamily="34" charset="0"/>
                <a:ea typeface="Calibri" pitchFamily="34" charset="-122"/>
                <a:cs typeface="Calibri" pitchFamily="34" charset="-120"/>
              </a:rPr>
              <a:t>−0,09</a:t>
            </a:r>
            <a:endParaRPr lang="en-US" sz="1700" dirty="0"/>
          </a:p>
        </p:txBody>
      </p:sp>
      <p:sp>
        <p:nvSpPr>
          <p:cNvPr id="16" name="Text 12"/>
          <p:cNvSpPr txBox="1"/>
          <p:nvPr/>
        </p:nvSpPr>
        <p:spPr>
          <a:xfrm>
            <a:off x="6870528" y="4114697"/>
            <a:ext cx="4381390" cy="215895"/>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Correlación (1 = perfecto). Más épocas, peor: −0,04 → −0,09</a:t>
            </a:r>
            <a:endParaRPr lang="en-US" sz="1200" dirty="0"/>
          </a:p>
        </p:txBody>
      </p:sp>
      <p:sp>
        <p:nvSpPr>
          <p:cNvPr id="17" name="Shape 13"/>
          <p:cNvSpPr/>
          <p:nvPr/>
        </p:nvSpPr>
        <p:spPr>
          <a:xfrm>
            <a:off x="6680033" y="4521087"/>
            <a:ext cx="4698883" cy="952476"/>
          </a:xfrm>
          <a:prstGeom prst="roundRect">
            <a:avLst>
              <a:gd name="adj" fmla="val 11520"/>
            </a:avLst>
          </a:prstGeom>
          <a:solidFill>
            <a:srgbClr val="FFFFFF"/>
          </a:solidFill>
          <a:ln w="9525">
            <a:solidFill>
              <a:srgbClr val="DDDBD2"/>
            </a:solidFill>
            <a:prstDash val="solid"/>
          </a:ln>
        </p:spPr>
      </p:sp>
      <p:sp>
        <p:nvSpPr>
          <p:cNvPr id="18" name="Shape 14"/>
          <p:cNvSpPr/>
          <p:nvPr/>
        </p:nvSpPr>
        <p:spPr>
          <a:xfrm>
            <a:off x="6680033" y="4559186"/>
            <a:ext cx="57149" cy="876278"/>
          </a:xfrm>
          <a:prstGeom prst="rect">
            <a:avLst/>
          </a:prstGeom>
          <a:solidFill>
            <a:srgbClr val="2F6FB0"/>
          </a:solidFill>
          <a:ln w="12700">
            <a:solidFill>
              <a:srgbClr val="2F6FB0"/>
            </a:solidFill>
            <a:prstDash val="solid"/>
          </a:ln>
        </p:spPr>
      </p:sp>
      <p:sp>
        <p:nvSpPr>
          <p:cNvPr id="19" name="Text 15"/>
          <p:cNvSpPr txBox="1"/>
          <p:nvPr/>
        </p:nvSpPr>
        <p:spPr>
          <a:xfrm>
            <a:off x="6870528" y="4635384"/>
            <a:ext cx="4381390" cy="2031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La cadena simple</a:t>
            </a:r>
            <a:endParaRPr lang="en-US" sz="1200" dirty="0"/>
          </a:p>
        </p:txBody>
      </p:sp>
      <p:sp>
        <p:nvSpPr>
          <p:cNvPr id="20" name="Text 16"/>
          <p:cNvSpPr txBox="1"/>
          <p:nvPr/>
        </p:nvSpPr>
        <p:spPr>
          <a:xfrm>
            <a:off x="6870528" y="4851279"/>
            <a:ext cx="4381390" cy="279393"/>
          </a:xfrm>
          <a:prstGeom prst="rect">
            <a:avLst/>
          </a:prstGeom>
          <a:noFill/>
          <a:ln/>
        </p:spPr>
        <p:txBody>
          <a:bodyPr wrap="square" lIns="0" tIns="0" rIns="0" bIns="0" rtlCol="0" anchor="t"/>
          <a:lstStyle/>
          <a:p>
            <a:pPr indent="0" marL="0">
              <a:buNone/>
            </a:pPr>
            <a:r>
              <a:rPr lang="en-US" sz="1700" b="1" dirty="0">
                <a:solidFill>
                  <a:srgbClr val="2F6FB0"/>
                </a:solidFill>
                <a:latin typeface="Calibri" pitchFamily="34" charset="0"/>
                <a:ea typeface="Calibri" pitchFamily="34" charset="-122"/>
                <a:cs typeface="Calibri" pitchFamily="34" charset="-120"/>
              </a:rPr>
              <a:t>0,945</a:t>
            </a:r>
            <a:endParaRPr lang="en-US" sz="1700" dirty="0"/>
          </a:p>
        </p:txBody>
      </p:sp>
      <p:sp>
        <p:nvSpPr>
          <p:cNvPr id="21" name="Text 17"/>
          <p:cNvSpPr txBox="1"/>
          <p:nvPr/>
        </p:nvSpPr>
        <p:spPr>
          <a:xfrm>
            <a:off x="6870528" y="5168771"/>
            <a:ext cx="4381390" cy="215895"/>
          </a:xfrm>
          <a:prstGeom prst="rect">
            <a:avLst/>
          </a:prstGeom>
          <a:noFill/>
          <a:ln/>
        </p:spPr>
        <p:txBody>
          <a:bodyPr wrap="square" lIns="0" tIns="0" rIns="0" bIns="0" rtlCol="0" anchor="t"/>
          <a:lstStyle/>
          <a:p>
            <a:pPr indent="0" marL="0">
              <a:buNone/>
            </a:pPr>
            <a:r>
              <a:rPr lang="en-US" sz="1200" dirty="0">
                <a:solidFill>
                  <a:srgbClr val="3D4A5C"/>
                </a:solidFill>
                <a:latin typeface="Calibri" pitchFamily="34" charset="0"/>
                <a:ea typeface="Calibri" pitchFamily="34" charset="-122"/>
                <a:cs typeface="Calibri" pitchFamily="34" charset="-120"/>
              </a:rPr>
              <a:t>Verde + azul por separado, con la dispersión conocida</a:t>
            </a:r>
            <a:endParaRPr lang="en-US" sz="1200" dirty="0"/>
          </a:p>
        </p:txBody>
      </p:sp>
      <p:sp>
        <p:nvSpPr>
          <p:cNvPr id="22" name="Text 18"/>
          <p:cNvSpPr txBox="1"/>
          <p:nvPr/>
        </p:nvSpPr>
        <p:spPr>
          <a:xfrm>
            <a:off x="812780" y="5714857"/>
            <a:ext cx="10566136" cy="253994"/>
          </a:xfrm>
          <a:prstGeom prst="rect">
            <a:avLst/>
          </a:prstGeom>
          <a:noFill/>
          <a:ln/>
        </p:spPr>
        <p:txBody>
          <a:bodyPr wrap="square" lIns="0" tIns="0" rIns="0" bIns="0" rtlCol="0" anchor="t"/>
          <a:lstStyle/>
          <a:p>
            <a:pPr indent="0" marL="0">
              <a:buNone/>
            </a:pPr>
            <a:r>
              <a:rPr lang="en-US" sz="1250" dirty="0">
                <a:solidFill>
                  <a:srgbClr val="6A7382"/>
                </a:solidFill>
                <a:latin typeface="Calibri" pitchFamily="34" charset="0"/>
                <a:ea typeface="Calibri" pitchFamily="34" charset="-122"/>
                <a:cs typeface="Calibri" pitchFamily="34" charset="-120"/>
              </a:rPr>
              <a:t>En simulación; no se pasó a datos reales. La prueba de aceptación pasó: solo exigía los entregables.</a:t>
            </a:r>
            <a:endParaRPr lang="en-US" sz="1250" dirty="0"/>
          </a:p>
        </p:txBody>
      </p:sp>
      <p:sp>
        <p:nvSpPr>
          <p:cNvPr id="23" name="Text 19"/>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A3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3" name="Shape 0"/>
          <p:cNvSpPr/>
          <p:nvPr/>
        </p:nvSpPr>
        <p:spPr>
          <a:xfrm>
            <a:off x="812780" y="711182"/>
            <a:ext cx="1498563" cy="330192"/>
          </a:xfrm>
          <a:prstGeom prst="roundRect">
            <a:avLst>
              <a:gd name="adj" fmla="val 55386"/>
            </a:avLst>
          </a:prstGeom>
          <a:solidFill>
            <a:srgbClr val="FBFBF8"/>
          </a:solidFill>
          <a:ln w="19050">
            <a:solidFill>
              <a:srgbClr val="6A7382"/>
            </a:solidFill>
            <a:prstDash val="solid"/>
          </a:ln>
        </p:spPr>
      </p:sp>
      <p:sp>
        <p:nvSpPr>
          <p:cNvPr id="4" name="Text 1"/>
          <p:cNvSpPr txBox="1"/>
          <p:nvPr/>
        </p:nvSpPr>
        <p:spPr>
          <a:xfrm>
            <a:off x="812780" y="711182"/>
            <a:ext cx="1498563" cy="330192"/>
          </a:xfrm>
          <a:prstGeom prst="rect">
            <a:avLst/>
          </a:prstGeom>
          <a:noFill/>
          <a:ln/>
        </p:spPr>
        <p:txBody>
          <a:bodyPr wrap="square" lIns="0" tIns="0" rIns="0" bIns="0" rtlCol="0" anchor="ctr"/>
          <a:lstStyle/>
          <a:p>
            <a:pPr algn="ctr" indent="0" marL="0">
              <a:buNone/>
            </a:pPr>
            <a:r>
              <a:rPr lang="en-US" sz="1300" b="1" spc="200" kern="0" dirty="0">
                <a:solidFill>
                  <a:srgbClr val="6A7382"/>
                </a:solidFill>
                <a:latin typeface="Calibri" pitchFamily="34" charset="0"/>
                <a:ea typeface="Calibri" pitchFamily="34" charset="-122"/>
                <a:cs typeface="Calibri" pitchFamily="34" charset="-120"/>
              </a:rPr>
              <a:t>APÉNDICE</a:t>
            </a:r>
            <a:endParaRPr lang="en-US" sz="1300" dirty="0"/>
          </a:p>
        </p:txBody>
      </p:sp>
      <p:sp>
        <p:nvSpPr>
          <p:cNvPr id="5" name="Text 2"/>
          <p:cNvSpPr txBox="1"/>
          <p:nvPr/>
        </p:nvSpPr>
        <p:spPr>
          <a:xfrm>
            <a:off x="812780" y="1142971"/>
            <a:ext cx="10566136" cy="571486"/>
          </a:xfrm>
          <a:prstGeom prst="rect">
            <a:avLst/>
          </a:prstGeom>
          <a:noFill/>
          <a:ln/>
        </p:spPr>
        <p:txBody>
          <a:bodyPr wrap="square" lIns="0" tIns="0" rIns="0" bIns="0" rtlCol="0" anchor="t"/>
          <a:lstStyle/>
          <a:p>
            <a:pPr indent="0" marL="0">
              <a:buNone/>
            </a:pPr>
            <a:r>
              <a:rPr lang="en-US" sz="3300" b="1" dirty="0">
                <a:solidFill>
                  <a:srgbClr val="14213D"/>
                </a:solidFill>
                <a:latin typeface="Cambria" pitchFamily="34" charset="0"/>
                <a:ea typeface="Cambria" pitchFamily="34" charset="-122"/>
                <a:cs typeface="Cambria" pitchFamily="34" charset="-120"/>
              </a:rPr>
              <a:t>¿Qué limita más: el foco o el solapamiento?</a:t>
            </a:r>
            <a:endParaRPr lang="en-US" sz="3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780" y="1841454"/>
          <a:ext cx="10566136" cy="914400"/>
        </p:xfrm>
        <a:graphic>
          <a:graphicData uri="http://schemas.openxmlformats.org/drawingml/2006/table">
            <a:tbl>
              <a:tblPr/>
              <a:tblGrid>
                <a:gridCol w="4825879"/>
                <a:gridCol w="3301917"/>
                <a:gridCol w="2438339"/>
              </a:tblGrid>
              <a:tr h="507987">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Rojo, matriz a 98 mm</a:t>
                      </a:r>
                      <a:endParaRPr lang="en-US" sz="13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BFBF8"/>
                    </a:solidFill>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Error en fotos no usadas (sin reconstruir ~0,98)</a:t>
                      </a:r>
                      <a:endParaRPr lang="en-US" sz="13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BFBF8"/>
                    </a:solidFill>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Mitades (detalle fino)</a:t>
                      </a:r>
                      <a:endParaRPr lang="en-US" sz="13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BFBF8"/>
                    </a:solidFill>
                  </a:tcPr>
                </a:tc>
              </a:tr>
              <a:tr h="393690">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En su propio foco</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b="1" dirty="0">
                          <a:solidFill>
                            <a:srgbClr val="2F6FB0"/>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b="1" dirty="0">
                          <a:solidFill>
                            <a:srgbClr val="2F6FB0"/>
                          </a:solidFill>
                          <a:latin typeface="Calibri" pitchFamily="34" charset="0"/>
                          <a:ea typeface="Calibri" pitchFamily="34" charset="-122"/>
                          <a:cs typeface="Calibri" pitchFamily="34" charset="-120"/>
                        </a:rPr>
                        <a:t>0,083</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r>
              <a:tr h="39369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 el foco del verde</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0,81</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0,021</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r>
              <a:tr h="393690">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 el foco del azul</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0,86</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0,024</a:t>
                      </a:r>
                      <a:endParaRPr lang="en-US" sz="1500" dirty="0">
                        <a:latin typeface="Calibri" charset="0"/>
                        <a:ea typeface="Calibri" charset="0"/>
                        <a:cs typeface="Calibri" charset="0"/>
                      </a:endParaRPr>
                    </a:p>
                  </a:txBody>
                  <a:tcPr marL="73152" marR="73152" marT="73152" marB="73152">
                    <a:lnL w="9525" cap="flat" cmpd="sng" algn="ctr">
                      <a:solidFill>
                        <a:srgbClr val="DDDBD2"/>
                      </a:solidFill>
                      <a:prstDash val="solid"/>
                      <a:round/>
                      <a:headEnd type="none" w="med" len="med"/>
                      <a:tailEnd type="none" w="med" len="med"/>
                    </a:lnL>
                    <a:lnR w="9525" cap="flat" cmpd="sng" algn="ctr">
                      <a:solidFill>
                        <a:srgbClr val="DDDBD2"/>
                      </a:solidFill>
                      <a:prstDash val="solid"/>
                      <a:round/>
                      <a:headEnd type="none" w="med" len="med"/>
                      <a:tailEnd type="none" w="med" len="med"/>
                    </a:lnR>
                    <a:lnT w="9525" cap="flat" cmpd="sng" algn="ctr">
                      <a:solidFill>
                        <a:srgbClr val="DDDBD2"/>
                      </a:solidFill>
                      <a:prstDash val="solid"/>
                      <a:round/>
                      <a:headEnd type="none" w="med" len="med"/>
                      <a:tailEnd type="none" w="med" len="med"/>
                    </a:lnT>
                    <a:lnB w="9525" cap="flat" cmpd="sng" algn="ctr">
                      <a:solidFill>
                        <a:srgbClr val="DDDBD2"/>
                      </a:solidFill>
                      <a:prstDash val="solid"/>
                      <a:round/>
                      <a:headEnd type="none" w="med" len="med"/>
                      <a:tailEnd type="none" w="med" len="med"/>
                    </a:lnB>
                    <a:solidFill>
                      <a:srgbClr val="FFFFFF"/>
                    </a:solidFill>
                  </a:tcPr>
                </a:tc>
              </a:tr>
            </a:tbl>
          </a:graphicData>
        </a:graphic>
      </p:graphicFrame>
      <p:sp>
        <p:nvSpPr>
          <p:cNvPr id="7" name="Shape 3"/>
          <p:cNvSpPr/>
          <p:nvPr/>
        </p:nvSpPr>
        <p:spPr>
          <a:xfrm>
            <a:off x="812780" y="3936902"/>
            <a:ext cx="3420448" cy="1460463"/>
          </a:xfrm>
          <a:prstGeom prst="roundRect">
            <a:avLst>
              <a:gd name="adj" fmla="val 7513"/>
            </a:avLst>
          </a:prstGeom>
          <a:solidFill>
            <a:srgbClr val="FFFFFF"/>
          </a:solidFill>
          <a:ln w="9525">
            <a:solidFill>
              <a:srgbClr val="DDDBD2"/>
            </a:solidFill>
            <a:prstDash val="solid"/>
          </a:ln>
        </p:spPr>
      </p:sp>
      <p:sp>
        <p:nvSpPr>
          <p:cNvPr id="8" name="Text 4"/>
          <p:cNvSpPr txBox="1"/>
          <p:nvPr/>
        </p:nvSpPr>
        <p:spPr>
          <a:xfrm>
            <a:off x="1015975" y="4101997"/>
            <a:ext cx="3014058" cy="279393"/>
          </a:xfrm>
          <a:prstGeom prst="rect">
            <a:avLst/>
          </a:prstGeom>
          <a:noFill/>
          <a:ln/>
        </p:spPr>
        <p:txBody>
          <a:bodyPr wrap="square" lIns="0" tIns="0" rIns="0" bIns="0" rtlCol="0" anchor="t"/>
          <a:lstStyle/>
          <a:p>
            <a:pPr indent="0" marL="0">
              <a:buNone/>
            </a:pPr>
            <a:r>
              <a:rPr lang="en-US" sz="1500" b="1" dirty="0">
                <a:solidFill>
                  <a:srgbClr val="2F6FB0"/>
                </a:solidFill>
                <a:latin typeface="Calibri" pitchFamily="34" charset="0"/>
                <a:ea typeface="Calibri" pitchFamily="34" charset="-122"/>
                <a:cs typeface="Calibri" pitchFamily="34" charset="-120"/>
              </a:rPr>
              <a:t>Solo el foco</a:t>
            </a:r>
            <a:endParaRPr lang="en-US" sz="1500" dirty="0"/>
          </a:p>
        </p:txBody>
      </p:sp>
      <p:sp>
        <p:nvSpPr>
          <p:cNvPr id="9" name="Text 5"/>
          <p:cNvSpPr txBox="1"/>
          <p:nvPr/>
        </p:nvSpPr>
        <p:spPr>
          <a:xfrm>
            <a:off x="1015975" y="4444889"/>
            <a:ext cx="3014058" cy="825479"/>
          </a:xfrm>
          <a:prstGeom prst="rect">
            <a:avLst/>
          </a:prstGeom>
          <a:noFill/>
          <a:ln/>
        </p:spPr>
        <p:txBody>
          <a:bodyPr wrap="square" lIns="0" tIns="0" rIns="0" bIns="0" rtlCol="0" anchor="t"/>
          <a:lstStyle/>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Mitades ×3,5 a ×4 al enfocar cada color</a:t>
            </a:r>
            <a:endParaRPr lang="en-US" sz="1400" dirty="0"/>
          </a:p>
        </p:txBody>
      </p:sp>
      <p:sp>
        <p:nvSpPr>
          <p:cNvPr id="10" name="Shape 6"/>
          <p:cNvSpPr/>
          <p:nvPr/>
        </p:nvSpPr>
        <p:spPr>
          <a:xfrm>
            <a:off x="4385624" y="3936902"/>
            <a:ext cx="3420448" cy="1460463"/>
          </a:xfrm>
          <a:prstGeom prst="roundRect">
            <a:avLst>
              <a:gd name="adj" fmla="val 7513"/>
            </a:avLst>
          </a:prstGeom>
          <a:solidFill>
            <a:srgbClr val="FFFFFF"/>
          </a:solidFill>
          <a:ln w="9525">
            <a:solidFill>
              <a:srgbClr val="DDDBD2"/>
            </a:solidFill>
            <a:prstDash val="solid"/>
          </a:ln>
        </p:spPr>
      </p:sp>
      <p:sp>
        <p:nvSpPr>
          <p:cNvPr id="11" name="Text 7"/>
          <p:cNvSpPr txBox="1"/>
          <p:nvPr/>
        </p:nvSpPr>
        <p:spPr>
          <a:xfrm>
            <a:off x="4588819" y="4101997"/>
            <a:ext cx="3014058" cy="279393"/>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Solo la geometría</a:t>
            </a:r>
            <a:endParaRPr lang="en-US" sz="1500" dirty="0"/>
          </a:p>
        </p:txBody>
      </p:sp>
      <p:sp>
        <p:nvSpPr>
          <p:cNvPr id="12" name="Text 8"/>
          <p:cNvSpPr txBox="1"/>
          <p:nvPr/>
        </p:nvSpPr>
        <p:spPr>
          <a:xfrm>
            <a:off x="4588819" y="4444889"/>
            <a:ext cx="3014058" cy="825479"/>
          </a:xfrm>
          <a:prstGeom prst="rect">
            <a:avLst/>
          </a:prstGeom>
          <a:noFill/>
          <a:ln/>
        </p:spPr>
        <p:txBody>
          <a:bodyPr wrap="square" lIns="0" tIns="0" rIns="0" bIns="0" rtlCol="0" anchor="t"/>
          <a:lstStyle/>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Verde en foco, de 74 a 98 mm: mitades 0,024 → 0,043 (×1,8)</a:t>
            </a:r>
            <a:endParaRPr lang="en-US" sz="1400" dirty="0"/>
          </a:p>
        </p:txBody>
      </p:sp>
      <p:sp>
        <p:nvSpPr>
          <p:cNvPr id="13" name="Shape 9"/>
          <p:cNvSpPr/>
          <p:nvPr/>
        </p:nvSpPr>
        <p:spPr>
          <a:xfrm>
            <a:off x="7958468" y="3936902"/>
            <a:ext cx="3420448" cy="1460463"/>
          </a:xfrm>
          <a:prstGeom prst="roundRect">
            <a:avLst>
              <a:gd name="adj" fmla="val 7513"/>
            </a:avLst>
          </a:prstGeom>
          <a:solidFill>
            <a:srgbClr val="FFFFFF"/>
          </a:solidFill>
          <a:ln w="9525">
            <a:solidFill>
              <a:srgbClr val="DDDBD2"/>
            </a:solidFill>
            <a:prstDash val="solid"/>
          </a:ln>
        </p:spPr>
      </p:sp>
      <p:sp>
        <p:nvSpPr>
          <p:cNvPr id="14" name="Text 10"/>
          <p:cNvSpPr txBox="1"/>
          <p:nvPr/>
        </p:nvSpPr>
        <p:spPr>
          <a:xfrm>
            <a:off x="8161663" y="4101997"/>
            <a:ext cx="3014058" cy="279393"/>
          </a:xfrm>
          <a:prstGeom prst="rect">
            <a:avLst/>
          </a:prstGeom>
          <a:noFill/>
          <a:ln/>
        </p:spPr>
        <p:txBody>
          <a:bodyPr wrap="square" lIns="0" tIns="0" rIns="0" bIns="0" rtlCol="0" anchor="t"/>
          <a:lstStyle/>
          <a:p>
            <a:pPr indent="0" marL="0">
              <a:buNone/>
            </a:pPr>
            <a:r>
              <a:rPr lang="en-US" sz="1500" b="1" dirty="0">
                <a:solidFill>
                  <a:srgbClr val="6A7382"/>
                </a:solidFill>
                <a:latin typeface="Calibri" pitchFamily="34" charset="0"/>
                <a:ea typeface="Calibri" pitchFamily="34" charset="-122"/>
                <a:cs typeface="Calibri" pitchFamily="34" charset="-120"/>
              </a:rPr>
              <a:t>Provisional</a:t>
            </a:r>
            <a:endParaRPr lang="en-US" sz="1500" dirty="0"/>
          </a:p>
        </p:txBody>
      </p:sp>
      <p:sp>
        <p:nvSpPr>
          <p:cNvPr id="15" name="Text 11"/>
          <p:cNvSpPr txBox="1"/>
          <p:nvPr/>
        </p:nvSpPr>
        <p:spPr>
          <a:xfrm>
            <a:off x="8161663" y="4444889"/>
            <a:ext cx="3014058" cy="825479"/>
          </a:xfrm>
          <a:prstGeom prst="rect">
            <a:avLst/>
          </a:prstGeom>
          <a:noFill/>
          <a:ln/>
        </p:spPr>
        <p:txBody>
          <a:bodyPr wrap="square" lIns="0" tIns="0" rIns="0" bIns="0" rtlCol="0" anchor="t"/>
          <a:lstStyle/>
          <a:p>
            <a:pPr indent="0" marL="0">
              <a:spcAft>
                <a:spcPts val="600"/>
              </a:spcAft>
              <a:buNone/>
            </a:pPr>
            <a:r>
              <a:rPr lang="en-US" sz="1400" dirty="0">
                <a:solidFill>
                  <a:srgbClr val="3D4A5C"/>
                </a:solidFill>
                <a:latin typeface="Calibri" pitchFamily="34" charset="0"/>
                <a:ea typeface="Calibri" pitchFamily="34" charset="-122"/>
                <a:cs typeface="Calibri" pitchFamily="34" charset="-120"/>
              </a:rPr>
              <a:t>El modelo no incluye el desenfoque: uno que lo incluya podría recuperar parte</a:t>
            </a:r>
            <a:endParaRPr lang="en-US" sz="1400" dirty="0"/>
          </a:p>
        </p:txBody>
      </p:sp>
      <p:sp>
        <p:nvSpPr>
          <p:cNvPr id="16" name="Text 12"/>
          <p:cNvSpPr txBox="1"/>
          <p:nvPr/>
        </p:nvSpPr>
        <p:spPr>
          <a:xfrm>
            <a:off x="812780" y="6286343"/>
            <a:ext cx="2539937" cy="215895"/>
          </a:xfrm>
          <a:prstGeom prst="rect">
            <a:avLst/>
          </a:prstGeom>
          <a:noFill/>
          <a:ln/>
        </p:spPr>
        <p:txBody>
          <a:bodyPr wrap="square" lIns="0" tIns="0" rIns="0" bIns="0" rtlCol="0" anchor="t"/>
          <a:lstStyle/>
          <a:p>
            <a:pPr indent="0" marL="0">
              <a:buNone/>
            </a:pPr>
            <a:r>
              <a:rPr lang="en-US" sz="1200" dirty="0">
                <a:solidFill>
                  <a:srgbClr val="6A7382"/>
                </a:solidFill>
                <a:latin typeface="Calibri" pitchFamily="34" charset="0"/>
                <a:ea typeface="Calibri" pitchFamily="34" charset="-122"/>
                <a:cs typeface="Calibri" pitchFamily="34" charset="-120"/>
              </a:rPr>
              <a:t>A4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Agentes de IA en microscopía (5 min)</dc:title>
  <dc:subject>PptxGenJS Presentation</dc:subject>
  <dc:creator>Lucas Costilla</dc:creator>
  <cp:lastModifiedBy>Lucas Costilla</cp:lastModifiedBy>
  <cp:revision>1</cp:revision>
  <dcterms:created xsi:type="dcterms:W3CDTF">2026-09-30T20:48:48Z</dcterms:created>
  <dcterms:modified xsi:type="dcterms:W3CDTF">2026-09-30T20:48:48Z</dcterms:modified>
</cp:coreProperties>
</file>