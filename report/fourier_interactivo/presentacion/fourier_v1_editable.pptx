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3"/>
  <c:chart>
    <c:title>
      <c:tx>
        <c:rich>
          <a:bodyPr/>
          <a:lstStyle/>
          <a:p>
            <a:pPr>
              <a:defRPr sz="1600">
                <a:solidFill>
                  <a:srgbClr val="A0B3C9"/>
                </a:solidFill>
              </a:defRPr>
            </a:pPr>
            <a:r>
              <a:t>Pérdida relativa</a:t>
            </a:r>
          </a:p>
        </c:rich>
      </c:tx>
      <c:layout/>
      <c:overlay val="0"/>
    </c:title>
    <c:autoTitleDeleted val="0"/>
    <c:plotArea>
      <c:lineChart>
        <c:grouping val="standard"/>
        <c:varyColors val="0"/>
        <c:ser>
          <c:idx val="0"/>
          <c:order val="0"/>
          <c:tx>
            <c:strRef>
              <c:f>Sheet1!$B$1</c:f>
              <c:strCache>
                <c:ptCount val="1"/>
                <c:pt idx="0">
                  <c:v>Pérdida relativa</c:v>
                </c:pt>
              </c:strCache>
            </c:strRef>
          </c:tx>
          <c:spPr>
            <a:ln w="31750">
              <a:solidFill>
                <a:srgbClr val="73E5B3"/>
              </a:solidFill>
            </a:ln>
          </c:spPr>
          <c:marker>
            <c:symbol val="none"/>
          </c:marker>
          <c:cat>
            <c:numRef>
              <c:f>Sheet1!$A$2:$A$32</c:f>
              <c:numCache>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Cache>
            </c:numRef>
          </c:cat>
          <c:val>
            <c:numRef>
              <c:f>Sheet1!$B$2:$B$32</c:f>
              <c:numCache>
                <c:formatCode>General</c:formatCode>
                <c:ptCount val="31"/>
                <c:pt idx="0">
                  <c:v>0.007805300237891789</c:v>
                </c:pt>
                <c:pt idx="1">
                  <c:v>0.0029899190809944956</c:v>
                </c:pt>
                <c:pt idx="2">
                  <c:v>0.0013908907233051342</c:v>
                </c:pt>
                <c:pt idx="3">
                  <c:v>0.0010525966332265103</c:v>
                </c:pt>
                <c:pt idx="4">
                  <c:v>0.0008793689335500332</c:v>
                </c:pt>
                <c:pt idx="5">
                  <c:v>0.0007093270680593719</c:v>
                </c:pt>
                <c:pt idx="6">
                  <c:v>0.0005413450672376496</c:v>
                </c:pt>
                <c:pt idx="7">
                  <c:v>0.0004165963908989562</c:v>
                </c:pt>
                <c:pt idx="8">
                  <c:v>0.0003294075514946831</c:v>
                </c:pt>
                <c:pt idx="9">
                  <c:v>0.000251440456952087</c:v>
                </c:pt>
                <c:pt idx="10">
                  <c:v>0.0002316317015415442</c:v>
                </c:pt>
                <c:pt idx="11">
                  <c:v>0.00021907571295462112</c:v>
                </c:pt>
                <c:pt idx="12">
                  <c:v>0.00020952387906713485</c:v>
                </c:pt>
                <c:pt idx="13">
                  <c:v>0.00020139517892800527</c:v>
                </c:pt>
                <c:pt idx="14">
                  <c:v>0.00019427048417287724</c:v>
                </c:pt>
                <c:pt idx="15">
                  <c:v>0.00018785474719157648</c:v>
                </c:pt>
                <c:pt idx="16">
                  <c:v>0.0001821642548615693</c:v>
                </c:pt>
                <c:pt idx="17">
                  <c:v>0.00017721288931760098</c:v>
                </c:pt>
                <c:pt idx="18">
                  <c:v>0.00017295434543713095</c:v>
                </c:pt>
                <c:pt idx="19">
                  <c:v>0.00016947395215614216</c:v>
                </c:pt>
                <c:pt idx="20">
                  <c:v>0.0001667275182935763</c:v>
                </c:pt>
                <c:pt idx="21">
                  <c:v>0.00016458670609784693</c:v>
                </c:pt>
                <c:pt idx="22">
                  <c:v>0.00016286901128345266</c:v>
                </c:pt>
                <c:pt idx="23">
                  <c:v>0.00016147574966997238</c:v>
                </c:pt>
                <c:pt idx="24">
                  <c:v>0.00016032975816510133</c:v>
                </c:pt>
                <c:pt idx="25">
                  <c:v>0.00015935162495888907</c:v>
                </c:pt>
                <c:pt idx="26">
                  <c:v>0.00015851606001840812</c:v>
                </c:pt>
                <c:pt idx="27">
                  <c:v>0.00015779246150411254</c:v>
                </c:pt>
                <c:pt idx="28">
                  <c:v>0.00015714902655582772</c:v>
                </c:pt>
                <c:pt idx="29">
                  <c:v>0.00015656951508559206</c:v>
                </c:pt>
                <c:pt idx="30">
                  <c:v>0.00015602715733180694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36566B"/>
            </a:solidFill>
          </a:ln>
        </c:spPr>
        <c:txPr>
          <a:bodyPr/>
          <a:lstStyle/>
          <a:p>
            <a:pPr>
              <a:defRPr sz="1300">
                <a:solidFill>
                  <a:srgbClr val="A0B3C9"/>
                </a:solidFill>
              </a:defRPr>
            </a:pPr>
          </a:p>
        </c:txPr>
        <c:crossAx val="2140495176"/>
        <c:crosses val="autoZero"/>
        <c:auto val="1"/>
        <c:lblAlgn val="ctr"/>
        <c:lblOffset val="100"/>
        <c:noMultiLvlLbl val="0"/>
      </c:catAx>
      <c:valAx>
        <c:axId val="2140495176"/>
        <c:scaling>
          <c:min val="0.0"/>
        </c:scaling>
        <c:delete val="0"/>
        <c:axPos val="l"/>
        <c:majorGridlines/>
        <c:majorTickMark val="out"/>
        <c:minorTickMark val="none"/>
        <c:tickLblPos val="nextTo"/>
        <c:spPr>
          <a:ln>
            <a:solidFill>
              <a:srgbClr val="36566B"/>
            </a:solidFill>
          </a:ln>
        </c:spPr>
        <c:txPr>
          <a:bodyPr/>
          <a:lstStyle/>
          <a:p>
            <a:pPr>
              <a:defRPr sz="1300">
                <a:solidFill>
                  <a:srgbClr val="A0B3C9"/>
                </a:solidFill>
              </a:defRPr>
            </a:pPr>
          </a:p>
        </c:txPr>
        <c:crossAx val="2118791784"/>
        <c:crosses val="autoZero"/>
      </c:valAx>
      <c:spPr>
        <a:solidFill>
          <a:srgbClr val="131F30"/>
        </a:solidFill>
        <a:ln>
          <a:noFill/>
        </a:ln>
      </c:spPr>
    </c:plotArea>
    <c:plotVisOnly val="1"/>
    <c:dispBlanksAs val="gap"/>
    <c:showDLblsOverMax val="0"/>
  </c:chart>
  <c:txPr>
    <a:bodyPr/>
    <a:lstStyle/>
    <a:p>
      <a:pPr>
        <a:defRPr sz="1800"/>
      </a:pPr>
      <a:endParaRPr lang="en-US"/>
    </a:p>
  </c:txPr>
  <c:spPr>
    <a:solidFill>
      <a:srgbClr val="131F30"/>
    </a:solidFill>
    <a:ln>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Presentación derivada de report/fourier_interactivo/index.html. Textos, flechas, esquemas y gráfico son editables; las imágenes son PNG del HTML. El HTML sigue siendo el complemento interactivo.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Modelo escalar de muestra delgada, iluminación monocromática por un LED a la vez y pupila circular ideal. El esquema es una proyección x–z; la coordenada y también puede inclinar la iluminación fuera del plano. No está a escala.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Ambas imágenes corresponden a la misma captura. La imagen derecha está realzada con su máximo individual: sus brillos no son comparables con los de otros LEDs. El realce solo modifica la visualización.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Fondo: log(1+|O|) de la muestra conocida, no una medición de la cámara. Ventanas en coordenadas del objeto: centro −q, radio 18 bins. Frecuencia de iluminación: pasos de 10 bins. Iq = |F⁻¹{P(f) O(f−q)}|². Los círculos de la derecha muestran todas las posiciones, sin simular una intensidad acumulada.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máscaras tienen radio 18 bins y centros separados 10 bins para LEDs vecinos. El solapamiento aporta restricciones compartidas; no garantiza por sí solo una reconstrucción única o exacta.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raíz de la captura central aproxima el módulo del campo filtrado; no es la amplitud verdadera de alta resolución. La fase cero es una hipótesis inicial. o₀ = √Icentral exp(i·0).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muestra la primera actualización aislada con el LED oblicuo de campo claro. La estimación se propaga con zⱼ=AⱼS; la foto predicha es |zⱼ|². No se utiliza la muestra verdadera para calcular la predicción.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seis imágenes conservan la misma escala global de la V1. El campo oscuro puede verse tenue. Las imágenes de una columna pertenecen al mismo LED.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rⱼ = |zⱼ| − √Iⱼ. Lⱼ = Σ rⱼ². El residual usa escala fija ±0,25 con saturación. Naranja: exceso; azul: déficit; oscuro: acuerdo. Las otras dos imágenes muestran intensidades.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gⱼ = Aⱼ†[(|zⱼ|−√Iⱼ) zⱼ/max(|zⱼ|,10⁻¹²)]. ΔS=−μgⱼ. El adjunto transporta al espectro el residual multiplicado por la fase estimada del campo. La imagen derecha muestra solo el módulo del cambio, realzado individualmente; su fase también participa.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S⁺=S−μgⱼ. Se muestran log(1+|S|) antes y después con la misma escala. Es una suma compleja, no una suma de los brillos de estas figuras. No se dibujan puntos esquemáticos sobre los datos.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o⁺=F⁻¹{S⁺}. Los estados antes y después usan la misma referencia de fase global. V1 representa fase de 0 a 1 rad, con saturación fuera del intervalo; cambios negativos pueden quedar ocultos en esta escala. La amplitud va de 0 a 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iteración procesa 49 LEDs, en orden del centro hacia afuera. La corrida completa vuelve a partir de la inicialización: no continúa literalmente el paso aislado anterior. μₜ=0,8(1−exp(−0,3t)), t=1…30, con FFT unitaria.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Pérdida relativa de amplitud: Σⱼ |||AⱼS|−√Iⱼ||² / Σⱼ Iⱼ. Se evalúa después de cada iteración completa. Su raíz es el residual relativo de amplitud, no el error del objeto. La fase global se alinea con la referencia solo para visualizar.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fase global de cada estado se alinea con la muestra conocida para visualizar. La referencia no interviene en el gradiente. Misma escala de amplitud y de fase en todas las imágenes.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referencia conocida se usa para esta comparación educativa y para alinear la fase global, nunca en el gradiente. V1 usa escala de fase de 0 a 1 rad; la saturación limita lo visible. No confundir un buen ajuste de datos con exactitud del objeto.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Detalles del cálculo: FFT unitaria, grilla 128×128, radio de pupila 18 bins, pasos de iluminación de 10 bins, 49 capturas, 30 iteraciones. Pérdida de amplitud con descenso incremental de Wirtinger. No reproduce la pérdida de intensidad ni la relajación de ruido del WFP original. Los pasos no se trasladan directamente al solver con FFT no unitaria. HTML fuente: report/fourier_interactivo/index.html; modelo y escalas: README.md de esa carpeta.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3.png"/><Relationship Id="rId6" Type="http://schemas.openxmlformats.org/officeDocument/2006/relationships/image" Target="../media/image10.png"/><Relationship Id="rId7" Type="http://schemas.openxmlformats.org/officeDocument/2006/relationships/image" Target="../media/image5.png"/><Relationship Id="rId8"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7.png"/><Relationship Id="rId6"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1.png"/><Relationship Id="rId6"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hyperlink" Target="https://www.nature.com/articles/nphoton.2013.187" TargetMode="External"/><Relationship Id="rId4" Type="http://schemas.openxmlformats.org/officeDocument/2006/relationships/hyperlink" Target="https://doi.org/10.1364/OE.23.004856"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92608"/>
            <a:ext cx="10058400" cy="256032"/>
          </a:xfrm>
          <a:prstGeom prst="rect">
            <a:avLst/>
          </a:prstGeom>
          <a:noFill/>
        </p:spPr>
        <p:txBody>
          <a:bodyPr wrap="square" lIns="0" rIns="0" tIns="0" bIns="0">
            <a:spAutoFit/>
          </a:bodyPr>
          <a:lstStyle/>
          <a:p>
            <a:pPr>
              <a:spcAft>
                <a:spcPts val="700"/>
              </a:spcAft>
              <a:defRPr sz="1200" b="1">
                <a:solidFill>
                  <a:srgbClr val="73E5B3"/>
                </a:solidFill>
                <a:latin typeface="Liberation Sans"/>
              </a:defRPr>
            </a:pPr>
            <a:r>
              <a:t>LABORATORIO VISUAL</a:t>
            </a:r>
          </a:p>
        </p:txBody>
      </p:sp>
      <p:sp>
        <p:nvSpPr>
          <p:cNvPr id="3" name="TextBox 2"/>
          <p:cNvSpPr txBox="1"/>
          <p:nvPr/>
        </p:nvSpPr>
        <p:spPr>
          <a:xfrm>
            <a:off x="548640" y="749808"/>
            <a:ext cx="11064240" cy="621792"/>
          </a:xfrm>
          <a:prstGeom prst="rect">
            <a:avLst/>
          </a:prstGeom>
          <a:noFill/>
        </p:spPr>
        <p:txBody>
          <a:bodyPr wrap="square" lIns="0" rIns="0" tIns="0" bIns="0">
            <a:spAutoFit/>
          </a:bodyPr>
          <a:lstStyle/>
          <a:p>
            <a:pPr>
              <a:spcAft>
                <a:spcPts val="700"/>
              </a:spcAft>
              <a:defRPr sz="3000" b="1">
                <a:solidFill>
                  <a:srgbClr val="E8EEF6"/>
                </a:solidFill>
                <a:latin typeface="Liberation Sans"/>
              </a:defRPr>
            </a:pPr>
            <a:r>
              <a:t>Una imagen. Muchos ángulos.</a:t>
            </a:r>
          </a:p>
        </p:txBody>
      </p:sp>
      <p:sp>
        <p:nvSpPr>
          <p:cNvPr id="4" name="TextBox 3"/>
          <p:cNvSpPr txBox="1"/>
          <p:nvPr/>
        </p:nvSpPr>
        <p:spPr>
          <a:xfrm>
            <a:off x="548640" y="1389888"/>
            <a:ext cx="11064240" cy="502920"/>
          </a:xfrm>
          <a:prstGeom prst="rect">
            <a:avLst/>
          </a:prstGeom>
          <a:noFill/>
        </p:spPr>
        <p:txBody>
          <a:bodyPr wrap="square" lIns="0" rIns="0" tIns="0" bIns="0">
            <a:spAutoFit/>
          </a:bodyPr>
          <a:lstStyle/>
          <a:p>
            <a:pPr>
              <a:spcAft>
                <a:spcPts val="700"/>
              </a:spcAft>
              <a:defRPr sz="1900" b="0">
                <a:solidFill>
                  <a:srgbClr val="A0B3C9"/>
                </a:solidFill>
                <a:latin typeface="Liberation Sans"/>
              </a:defRPr>
            </a:pPr>
            <a:r>
              <a:t>Cómo la pticografía de Fourier recupera detalle y estima la fase.</a:t>
            </a:r>
          </a:p>
        </p:txBody>
      </p:sp>
      <p:cxnSp>
        <p:nvCxnSpPr>
          <p:cNvPr id="5" name="Connector 4"/>
          <p:cNvCxnSpPr/>
          <p:nvPr/>
        </p:nvCxnSpPr>
        <p:spPr>
          <a:xfrm>
            <a:off x="548640" y="6355080"/>
            <a:ext cx="11082528" cy="0"/>
          </a:xfrm>
          <a:prstGeom prst="line">
            <a:avLst/>
          </a:prstGeom>
          <a:ln w="8890">
            <a:solidFill>
              <a:srgbClr val="36566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9144000" cy="201168"/>
          </a:xfrm>
          <a:prstGeom prst="rect">
            <a:avLst/>
          </a:prstGeom>
          <a:noFill/>
        </p:spPr>
        <p:txBody>
          <a:bodyPr wrap="square" lIns="0" rIns="0" tIns="0" bIns="0">
            <a:spAutoFit/>
          </a:bodyPr>
          <a:lstStyle/>
          <a:p>
            <a:pPr>
              <a:spcAft>
                <a:spcPts val="700"/>
              </a:spcAft>
              <a:defRPr sz="1000" b="0">
                <a:solidFill>
                  <a:srgbClr val="A0B3C9"/>
                </a:solidFill>
                <a:latin typeface="Liberation Sans"/>
              </a:defRPr>
            </a:pPr>
            <a:r>
              <a:t>Pticografía de Fourier · simulación didáctica · V1</a:t>
            </a:r>
          </a:p>
        </p:txBody>
      </p:sp>
      <p:sp>
        <p:nvSpPr>
          <p:cNvPr id="7" name="TextBox 6"/>
          <p:cNvSpPr txBox="1"/>
          <p:nvPr/>
        </p:nvSpPr>
        <p:spPr>
          <a:xfrm>
            <a:off x="10698480" y="6455664"/>
            <a:ext cx="914400" cy="228600"/>
          </a:xfrm>
          <a:prstGeom prst="rect">
            <a:avLst/>
          </a:prstGeom>
          <a:noFill/>
        </p:spPr>
        <p:txBody>
          <a:bodyPr wrap="square" lIns="0" rIns="0" tIns="0" bIns="0">
            <a:spAutoFit/>
          </a:bodyPr>
          <a:lstStyle/>
          <a:p>
            <a:pPr algn="r">
              <a:spcAft>
                <a:spcPts val="700"/>
              </a:spcAft>
              <a:defRPr sz="1100" b="0">
                <a:solidFill>
                  <a:srgbClr val="A0B3C9"/>
                </a:solidFill>
                <a:latin typeface="Liberation Sans"/>
              </a:defRPr>
            </a:pPr>
            <a:r>
              <a:t>01 / 18</a:t>
            </a:r>
          </a:p>
        </p:txBody>
      </p:sp>
      <p:sp>
        <p:nvSpPr>
          <p:cNvPr id="8" name="TextBox 7"/>
          <p:cNvSpPr txBox="1"/>
          <p:nvPr/>
        </p:nvSpPr>
        <p:spPr>
          <a:xfrm>
            <a:off x="822960" y="2423160"/>
            <a:ext cx="4572000" cy="2011680"/>
          </a:xfrm>
          <a:prstGeom prst="rect">
            <a:avLst/>
          </a:prstGeom>
          <a:noFill/>
        </p:spPr>
        <p:txBody>
          <a:bodyPr wrap="square" lIns="0" rIns="0" tIns="0" bIns="0">
            <a:spAutoFit/>
          </a:bodyPr>
          <a:lstStyle/>
          <a:p>
            <a:pPr>
              <a:spcAft>
                <a:spcPts val="700"/>
              </a:spcAft>
              <a:defRPr sz="2900" b="1">
                <a:solidFill>
                  <a:srgbClr val="73E5B3"/>
                </a:solidFill>
                <a:latin typeface="Liberation Sans"/>
              </a:defRPr>
            </a:pPr>
            <a:r>
              <a:t>Capturar</a:t>
            </a:r>
          </a:p>
          <a:p>
            <a:pPr>
              <a:spcAft>
                <a:spcPts val="700"/>
              </a:spcAft>
              <a:defRPr sz="2900" b="1">
                <a:solidFill>
                  <a:srgbClr val="73E5B3"/>
                </a:solidFill>
                <a:latin typeface="Liberation Sans"/>
              </a:defRPr>
            </a:pPr>
            <a:r>
              <a:t>Explorar Fourier</a:t>
            </a:r>
          </a:p>
          <a:p>
            <a:pPr>
              <a:spcAft>
                <a:spcPts val="700"/>
              </a:spcAft>
              <a:defRPr sz="2900" b="1">
                <a:solidFill>
                  <a:srgbClr val="73E5B3"/>
                </a:solidFill>
                <a:latin typeface="Liberation Sans"/>
              </a:defRPr>
            </a:pPr>
            <a:r>
              <a:t>Reconstruir</a:t>
            </a:r>
          </a:p>
        </p:txBody>
      </p:sp>
      <p:pic>
        <p:nvPicPr>
          <p:cNvPr id="9" name="Picture 8" descr="image.png"/>
          <p:cNvPicPr>
            <a:picLocks noChangeAspect="1"/>
          </p:cNvPicPr>
          <p:nvPr/>
        </p:nvPicPr>
        <p:blipFill>
          <a:blip r:embed="rId3"/>
          <a:stretch>
            <a:fillRect/>
          </a:stretch>
        </p:blipFill>
        <p:spPr>
          <a:xfrm>
            <a:off x="5943600" y="2240280"/>
            <a:ext cx="2286000" cy="2286000"/>
          </a:xfrm>
          <a:prstGeom prst="rect">
            <a:avLst/>
          </a:prstGeom>
        </p:spPr>
      </p:pic>
      <p:sp>
        <p:nvSpPr>
          <p:cNvPr id="10" name="TextBox 9"/>
          <p:cNvSpPr txBox="1"/>
          <p:nvPr/>
        </p:nvSpPr>
        <p:spPr>
          <a:xfrm>
            <a:off x="5870448" y="4636008"/>
            <a:ext cx="243230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Amplitud de la muestra</a:t>
            </a:r>
          </a:p>
        </p:txBody>
      </p:sp>
      <p:pic>
        <p:nvPicPr>
          <p:cNvPr id="11" name="Picture 10" descr="image.png"/>
          <p:cNvPicPr>
            <a:picLocks noChangeAspect="1"/>
          </p:cNvPicPr>
          <p:nvPr/>
        </p:nvPicPr>
        <p:blipFill>
          <a:blip r:embed="rId4"/>
          <a:stretch>
            <a:fillRect/>
          </a:stretch>
        </p:blipFill>
        <p:spPr>
          <a:xfrm>
            <a:off x="8595360" y="2240280"/>
            <a:ext cx="2286000" cy="2286000"/>
          </a:xfrm>
          <a:prstGeom prst="rect">
            <a:avLst/>
          </a:prstGeom>
        </p:spPr>
      </p:pic>
      <p:sp>
        <p:nvSpPr>
          <p:cNvPr id="12" name="TextBox 11"/>
          <p:cNvSpPr txBox="1"/>
          <p:nvPr/>
        </p:nvSpPr>
        <p:spPr>
          <a:xfrm>
            <a:off x="8522208" y="4636008"/>
            <a:ext cx="243230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Fase de la muestra</a:t>
            </a:r>
          </a:p>
        </p:txBody>
      </p:sp>
      <p:sp>
        <p:nvSpPr>
          <p:cNvPr id="13" name="TextBox 12"/>
          <p:cNvSpPr txBox="1"/>
          <p:nvPr/>
        </p:nvSpPr>
        <p:spPr>
          <a:xfrm>
            <a:off x="640080" y="5824728"/>
            <a:ext cx="10881360" cy="411480"/>
          </a:xfrm>
          <a:prstGeom prst="rect">
            <a:avLst/>
          </a:prstGeom>
          <a:noFill/>
        </p:spPr>
        <p:txBody>
          <a:bodyPr wrap="square" lIns="0" rIns="0" tIns="0" bIns="0">
            <a:spAutoFit/>
          </a:bodyPr>
          <a:lstStyle/>
          <a:p>
            <a:pPr>
              <a:spcAft>
                <a:spcPts val="700"/>
              </a:spcAft>
              <a:defRPr sz="2000" b="1">
                <a:solidFill>
                  <a:srgbClr val="73E5B3"/>
                </a:solidFill>
                <a:latin typeface="Liberation Sans"/>
              </a:defRPr>
            </a:pPr>
            <a:r>
              <a:t>Una única muestra · 49 iluminaciones · una estimación compartida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92608"/>
            <a:ext cx="10058400" cy="256032"/>
          </a:xfrm>
          <a:prstGeom prst="rect">
            <a:avLst/>
          </a:prstGeom>
          <a:noFill/>
        </p:spPr>
        <p:txBody>
          <a:bodyPr wrap="square" lIns="0" rIns="0" tIns="0" bIns="0">
            <a:spAutoFit/>
          </a:bodyPr>
          <a:lstStyle/>
          <a:p>
            <a:pPr>
              <a:spcAft>
                <a:spcPts val="700"/>
              </a:spcAft>
              <a:defRPr sz="1200" b="1">
                <a:solidFill>
                  <a:srgbClr val="73E5B3"/>
                </a:solidFill>
                <a:latin typeface="Liberation Sans"/>
              </a:defRPr>
            </a:pPr>
            <a:r>
              <a:t>01 · CAPTURAR</a:t>
            </a:r>
          </a:p>
        </p:txBody>
      </p:sp>
      <p:sp>
        <p:nvSpPr>
          <p:cNvPr id="3" name="TextBox 2"/>
          <p:cNvSpPr txBox="1"/>
          <p:nvPr/>
        </p:nvSpPr>
        <p:spPr>
          <a:xfrm>
            <a:off x="548640" y="749808"/>
            <a:ext cx="11064240" cy="621792"/>
          </a:xfrm>
          <a:prstGeom prst="rect">
            <a:avLst/>
          </a:prstGeom>
          <a:noFill/>
        </p:spPr>
        <p:txBody>
          <a:bodyPr wrap="square" lIns="0" rIns="0" tIns="0" bIns="0">
            <a:spAutoFit/>
          </a:bodyPr>
          <a:lstStyle/>
          <a:p>
            <a:pPr>
              <a:spcAft>
                <a:spcPts val="700"/>
              </a:spcAft>
              <a:defRPr sz="3000" b="1">
                <a:solidFill>
                  <a:srgbClr val="E8EEF6"/>
                </a:solidFill>
                <a:latin typeface="Liberation Sans"/>
              </a:defRPr>
            </a:pPr>
            <a:r>
              <a:t>Cambia la iluminación, no la muestra</a:t>
            </a:r>
          </a:p>
        </p:txBody>
      </p:sp>
      <p:sp>
        <p:nvSpPr>
          <p:cNvPr id="4" name="TextBox 3"/>
          <p:cNvSpPr txBox="1"/>
          <p:nvPr/>
        </p:nvSpPr>
        <p:spPr>
          <a:xfrm>
            <a:off x="548640" y="1389888"/>
            <a:ext cx="11064240" cy="502920"/>
          </a:xfrm>
          <a:prstGeom prst="rect">
            <a:avLst/>
          </a:prstGeom>
          <a:noFill/>
        </p:spPr>
        <p:txBody>
          <a:bodyPr wrap="square" lIns="0" rIns="0" tIns="0" bIns="0">
            <a:spAutoFit/>
          </a:bodyPr>
          <a:lstStyle/>
          <a:p>
            <a:pPr>
              <a:spcAft>
                <a:spcPts val="700"/>
              </a:spcAft>
              <a:defRPr sz="1900" b="0">
                <a:solidFill>
                  <a:srgbClr val="A0B3C9"/>
                </a:solidFill>
                <a:latin typeface="Liberation Sans"/>
              </a:defRPr>
            </a:pPr>
            <a:r>
              <a:t>Cada LED ilumina la misma región desde otro ángulo.</a:t>
            </a:r>
          </a:p>
        </p:txBody>
      </p:sp>
      <p:cxnSp>
        <p:nvCxnSpPr>
          <p:cNvPr id="5" name="Connector 4"/>
          <p:cNvCxnSpPr/>
          <p:nvPr/>
        </p:nvCxnSpPr>
        <p:spPr>
          <a:xfrm>
            <a:off x="548640" y="6355080"/>
            <a:ext cx="11082528" cy="0"/>
          </a:xfrm>
          <a:prstGeom prst="line">
            <a:avLst/>
          </a:prstGeom>
          <a:ln w="8890">
            <a:solidFill>
              <a:srgbClr val="36566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9144000" cy="201168"/>
          </a:xfrm>
          <a:prstGeom prst="rect">
            <a:avLst/>
          </a:prstGeom>
          <a:noFill/>
        </p:spPr>
        <p:txBody>
          <a:bodyPr wrap="square" lIns="0" rIns="0" tIns="0" bIns="0">
            <a:spAutoFit/>
          </a:bodyPr>
          <a:lstStyle/>
          <a:p>
            <a:pPr>
              <a:spcAft>
                <a:spcPts val="700"/>
              </a:spcAft>
              <a:defRPr sz="1000" b="0">
                <a:solidFill>
                  <a:srgbClr val="A0B3C9"/>
                </a:solidFill>
                <a:latin typeface="Liberation Sans"/>
              </a:defRPr>
            </a:pPr>
            <a:r>
              <a:t>Pticografía de Fourier · simulación didáctica · V1</a:t>
            </a:r>
          </a:p>
        </p:txBody>
      </p:sp>
      <p:sp>
        <p:nvSpPr>
          <p:cNvPr id="7" name="TextBox 6"/>
          <p:cNvSpPr txBox="1"/>
          <p:nvPr/>
        </p:nvSpPr>
        <p:spPr>
          <a:xfrm>
            <a:off x="10698480" y="6455664"/>
            <a:ext cx="914400" cy="228600"/>
          </a:xfrm>
          <a:prstGeom prst="rect">
            <a:avLst/>
          </a:prstGeom>
          <a:noFill/>
        </p:spPr>
        <p:txBody>
          <a:bodyPr wrap="square" lIns="0" rIns="0" tIns="0" bIns="0">
            <a:spAutoFit/>
          </a:bodyPr>
          <a:lstStyle/>
          <a:p>
            <a:pPr algn="r">
              <a:spcAft>
                <a:spcPts val="700"/>
              </a:spcAft>
              <a:defRPr sz="1100" b="0">
                <a:solidFill>
                  <a:srgbClr val="A0B3C9"/>
                </a:solidFill>
                <a:latin typeface="Liberation Sans"/>
              </a:defRPr>
            </a:pPr>
            <a:r>
              <a:t>02 / 18</a:t>
            </a:r>
          </a:p>
        </p:txBody>
      </p:sp>
      <p:cxnSp>
        <p:nvCxnSpPr>
          <p:cNvPr id="8" name="Connector 7"/>
          <p:cNvCxnSpPr/>
          <p:nvPr/>
        </p:nvCxnSpPr>
        <p:spPr>
          <a:xfrm>
            <a:off x="2657246" y="2176272"/>
            <a:ext cx="0" cy="2926080"/>
          </a:xfrm>
          <a:prstGeom prst="line">
            <a:avLst/>
          </a:prstGeom>
          <a:ln w="12700">
            <a:solidFill>
              <a:srgbClr val="36566B"/>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245766" y="2176272"/>
            <a:ext cx="822960" cy="228600"/>
          </a:xfrm>
          <a:prstGeom prst="rect">
            <a:avLst/>
          </a:prstGeom>
          <a:solidFill>
            <a:srgbClr val="131F30"/>
          </a:solidFill>
          <a:ln w="12700">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154326" y="2999232"/>
            <a:ext cx="1005840" cy="182880"/>
          </a:xfrm>
          <a:prstGeom prst="ellipse">
            <a:avLst/>
          </a:prstGeom>
          <a:solidFill>
            <a:srgbClr val="131F30"/>
          </a:solidFill>
          <a:ln w="12700">
            <a:solidFill>
              <a:srgbClr val="73E5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2017166" y="3913631"/>
            <a:ext cx="1280160" cy="0"/>
          </a:xfrm>
          <a:prstGeom prst="line">
            <a:avLst/>
          </a:prstGeom>
          <a:ln w="63500">
            <a:solidFill>
              <a:srgbClr val="FFCC7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866290" y="5102352"/>
            <a:ext cx="100584" cy="100584"/>
          </a:xfrm>
          <a:prstGeom prst="ellipse">
            <a:avLst/>
          </a:prstGeom>
          <a:solidFill>
            <a:srgbClr val="365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113178" y="5102352"/>
            <a:ext cx="100584" cy="100584"/>
          </a:xfrm>
          <a:prstGeom prst="ellipse">
            <a:avLst/>
          </a:prstGeom>
          <a:solidFill>
            <a:srgbClr val="365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360066" y="5102352"/>
            <a:ext cx="100584" cy="100584"/>
          </a:xfrm>
          <a:prstGeom prst="ellipse">
            <a:avLst/>
          </a:prstGeom>
          <a:solidFill>
            <a:srgbClr val="365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606954" y="5102352"/>
            <a:ext cx="100584" cy="100584"/>
          </a:xfrm>
          <a:prstGeom prst="ellipse">
            <a:avLst/>
          </a:prstGeom>
          <a:solidFill>
            <a:srgbClr val="365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853842" y="5102352"/>
            <a:ext cx="100584" cy="100584"/>
          </a:xfrm>
          <a:prstGeom prst="ellipse">
            <a:avLst/>
          </a:prstGeom>
          <a:solidFill>
            <a:srgbClr val="73E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100730" y="5102352"/>
            <a:ext cx="100584" cy="100584"/>
          </a:xfrm>
          <a:prstGeom prst="ellipse">
            <a:avLst/>
          </a:prstGeom>
          <a:solidFill>
            <a:srgbClr val="365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347618" y="5102352"/>
            <a:ext cx="100584" cy="100584"/>
          </a:xfrm>
          <a:prstGeom prst="ellipse">
            <a:avLst/>
          </a:prstGeom>
          <a:solidFill>
            <a:srgbClr val="365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flipH="1" flipV="1">
            <a:off x="2565806" y="3913631"/>
            <a:ext cx="246888" cy="1188721"/>
          </a:xfrm>
          <a:prstGeom prst="line">
            <a:avLst/>
          </a:prstGeom>
          <a:ln w="12700">
            <a:solidFill>
              <a:srgbClr val="73E5B3"/>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2273198" y="3090672"/>
            <a:ext cx="384048" cy="822959"/>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273198" y="2404872"/>
            <a:ext cx="246888" cy="685800"/>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2657246" y="3913631"/>
            <a:ext cx="246888" cy="1188721"/>
          </a:xfrm>
          <a:prstGeom prst="line">
            <a:avLst/>
          </a:prstGeom>
          <a:ln w="12700">
            <a:solidFill>
              <a:srgbClr val="73E5B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657246" y="3090672"/>
            <a:ext cx="0" cy="822959"/>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657246" y="2404872"/>
            <a:ext cx="0" cy="685800"/>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748686" y="3913631"/>
            <a:ext cx="246888" cy="1188721"/>
          </a:xfrm>
          <a:prstGeom prst="line">
            <a:avLst/>
          </a:prstGeom>
          <a:ln w="12700">
            <a:solidFill>
              <a:srgbClr val="73E5B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657246" y="3090672"/>
            <a:ext cx="384048" cy="822959"/>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794406" y="2404872"/>
            <a:ext cx="246888" cy="685800"/>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416198" y="2148840"/>
            <a:ext cx="1828800" cy="365760"/>
          </a:xfrm>
          <a:prstGeom prst="rect">
            <a:avLst/>
          </a:prstGeom>
          <a:noFill/>
        </p:spPr>
        <p:txBody>
          <a:bodyPr wrap="square" lIns="0" rIns="0" tIns="0" bIns="0">
            <a:spAutoFit/>
          </a:bodyPr>
          <a:lstStyle/>
          <a:p>
            <a:pPr>
              <a:spcAft>
                <a:spcPts val="700"/>
              </a:spcAft>
              <a:defRPr sz="1600" b="0">
                <a:solidFill>
                  <a:srgbClr val="A0B3C9"/>
                </a:solidFill>
                <a:latin typeface="Liberation Sans"/>
              </a:defRPr>
            </a:pPr>
            <a:r>
              <a:t>Cámara</a:t>
            </a:r>
          </a:p>
        </p:txBody>
      </p:sp>
      <p:sp>
        <p:nvSpPr>
          <p:cNvPr id="29" name="TextBox 28"/>
          <p:cNvSpPr txBox="1"/>
          <p:nvPr/>
        </p:nvSpPr>
        <p:spPr>
          <a:xfrm>
            <a:off x="3416198" y="2971800"/>
            <a:ext cx="1828800" cy="365760"/>
          </a:xfrm>
          <a:prstGeom prst="rect">
            <a:avLst/>
          </a:prstGeom>
          <a:noFill/>
        </p:spPr>
        <p:txBody>
          <a:bodyPr wrap="square" lIns="0" rIns="0" tIns="0" bIns="0">
            <a:spAutoFit/>
          </a:bodyPr>
          <a:lstStyle/>
          <a:p>
            <a:pPr>
              <a:spcAft>
                <a:spcPts val="700"/>
              </a:spcAft>
              <a:defRPr sz="1600" b="0">
                <a:solidFill>
                  <a:srgbClr val="A0B3C9"/>
                </a:solidFill>
                <a:latin typeface="Liberation Sans"/>
              </a:defRPr>
            </a:pPr>
            <a:r>
              <a:t>Objetivo</a:t>
            </a:r>
          </a:p>
        </p:txBody>
      </p:sp>
      <p:sp>
        <p:nvSpPr>
          <p:cNvPr id="30" name="TextBox 29"/>
          <p:cNvSpPr txBox="1"/>
          <p:nvPr/>
        </p:nvSpPr>
        <p:spPr>
          <a:xfrm>
            <a:off x="3416198" y="3886199"/>
            <a:ext cx="1828800" cy="365760"/>
          </a:xfrm>
          <a:prstGeom prst="rect">
            <a:avLst/>
          </a:prstGeom>
          <a:noFill/>
        </p:spPr>
        <p:txBody>
          <a:bodyPr wrap="square" lIns="0" rIns="0" tIns="0" bIns="0">
            <a:spAutoFit/>
          </a:bodyPr>
          <a:lstStyle/>
          <a:p>
            <a:pPr>
              <a:spcAft>
                <a:spcPts val="700"/>
              </a:spcAft>
              <a:defRPr sz="1600" b="0">
                <a:solidFill>
                  <a:srgbClr val="A0B3C9"/>
                </a:solidFill>
                <a:latin typeface="Liberation Sans"/>
              </a:defRPr>
            </a:pPr>
            <a:r>
              <a:t>Muestra</a:t>
            </a:r>
          </a:p>
        </p:txBody>
      </p:sp>
      <p:sp>
        <p:nvSpPr>
          <p:cNvPr id="31" name="TextBox 30"/>
          <p:cNvSpPr txBox="1"/>
          <p:nvPr/>
        </p:nvSpPr>
        <p:spPr>
          <a:xfrm>
            <a:off x="731520" y="5431536"/>
            <a:ext cx="4937760" cy="365760"/>
          </a:xfrm>
          <a:prstGeom prst="rect">
            <a:avLst/>
          </a:prstGeom>
          <a:noFill/>
        </p:spPr>
        <p:txBody>
          <a:bodyPr wrap="square" lIns="0" rIns="0" tIns="0" bIns="0">
            <a:spAutoFit/>
          </a:bodyPr>
          <a:lstStyle/>
          <a:p>
            <a:pPr>
              <a:spcAft>
                <a:spcPts val="700"/>
              </a:spcAft>
              <a:defRPr sz="1400" b="0">
                <a:solidFill>
                  <a:srgbClr val="A0B3C9"/>
                </a:solidFill>
                <a:latin typeface="Liberation Sans"/>
              </a:defRPr>
            </a:pPr>
            <a:r>
              <a:t>LED (1, 0) · proyección x–z</a:t>
            </a:r>
          </a:p>
        </p:txBody>
      </p:sp>
      <p:pic>
        <p:nvPicPr>
          <p:cNvPr id="32" name="Picture 31" descr="image.png"/>
          <p:cNvPicPr>
            <a:picLocks noChangeAspect="1"/>
          </p:cNvPicPr>
          <p:nvPr/>
        </p:nvPicPr>
        <p:blipFill>
          <a:blip r:embed="rId3"/>
          <a:stretch>
            <a:fillRect/>
          </a:stretch>
        </p:blipFill>
        <p:spPr>
          <a:xfrm>
            <a:off x="7406640" y="2148840"/>
            <a:ext cx="2834640" cy="2834640"/>
          </a:xfrm>
          <a:prstGeom prst="rect">
            <a:avLst/>
          </a:prstGeom>
        </p:spPr>
      </p:pic>
      <p:sp>
        <p:nvSpPr>
          <p:cNvPr id="33" name="TextBox 32"/>
          <p:cNvSpPr txBox="1"/>
          <p:nvPr/>
        </p:nvSpPr>
        <p:spPr>
          <a:xfrm>
            <a:off x="7333488" y="5093208"/>
            <a:ext cx="298094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Intensidad en la cámara</a:t>
            </a:r>
          </a:p>
        </p:txBody>
      </p:sp>
      <p:sp>
        <p:nvSpPr>
          <p:cNvPr id="34" name="TextBox 33"/>
          <p:cNvSpPr txBox="1"/>
          <p:nvPr/>
        </p:nvSpPr>
        <p:spPr>
          <a:xfrm>
            <a:off x="640080" y="5824728"/>
            <a:ext cx="10881360" cy="411480"/>
          </a:xfrm>
          <a:prstGeom prst="rect">
            <a:avLst/>
          </a:prstGeom>
          <a:noFill/>
        </p:spPr>
        <p:txBody>
          <a:bodyPr wrap="square" lIns="0" rIns="0" tIns="0" bIns="0">
            <a:spAutoFit/>
          </a:bodyPr>
          <a:lstStyle/>
          <a:p>
            <a:pPr>
              <a:spcAft>
                <a:spcPts val="700"/>
              </a:spcAft>
              <a:defRPr sz="2000" b="1">
                <a:solidFill>
                  <a:srgbClr val="73E5B3"/>
                </a:solidFill>
                <a:latin typeface="Liberation Sans"/>
              </a:defRPr>
            </a:pPr>
            <a:r>
              <a:t>La cámara mide intensidad; la fase no se registra directamente.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92608"/>
            <a:ext cx="10058400" cy="256032"/>
          </a:xfrm>
          <a:prstGeom prst="rect">
            <a:avLst/>
          </a:prstGeom>
          <a:noFill/>
        </p:spPr>
        <p:txBody>
          <a:bodyPr wrap="square" lIns="0" rIns="0" tIns="0" bIns="0">
            <a:spAutoFit/>
          </a:bodyPr>
          <a:lstStyle/>
          <a:p>
            <a:pPr>
              <a:spcAft>
                <a:spcPts val="700"/>
              </a:spcAft>
              <a:defRPr sz="1200" b="1">
                <a:solidFill>
                  <a:srgbClr val="73E5B3"/>
                </a:solidFill>
                <a:latin typeface="Liberation Sans"/>
              </a:defRPr>
            </a:pPr>
            <a:r>
              <a:t>01 · CAPTURAR</a:t>
            </a:r>
          </a:p>
        </p:txBody>
      </p:sp>
      <p:sp>
        <p:nvSpPr>
          <p:cNvPr id="3" name="TextBox 2"/>
          <p:cNvSpPr txBox="1"/>
          <p:nvPr/>
        </p:nvSpPr>
        <p:spPr>
          <a:xfrm>
            <a:off x="548640" y="749808"/>
            <a:ext cx="11064240" cy="621792"/>
          </a:xfrm>
          <a:prstGeom prst="rect">
            <a:avLst/>
          </a:prstGeom>
          <a:noFill/>
        </p:spPr>
        <p:txBody>
          <a:bodyPr wrap="square" lIns="0" rIns="0" tIns="0" bIns="0">
            <a:spAutoFit/>
          </a:bodyPr>
          <a:lstStyle/>
          <a:p>
            <a:pPr>
              <a:spcAft>
                <a:spcPts val="700"/>
              </a:spcAft>
              <a:defRPr sz="3000" b="1">
                <a:solidFill>
                  <a:srgbClr val="E8EEF6"/>
                </a:solidFill>
                <a:latin typeface="Liberation Sans"/>
              </a:defRPr>
            </a:pPr>
            <a:r>
              <a:t>Cada LED produce una foto distinta</a:t>
            </a:r>
          </a:p>
        </p:txBody>
      </p:sp>
      <p:sp>
        <p:nvSpPr>
          <p:cNvPr id="4" name="TextBox 3"/>
          <p:cNvSpPr txBox="1"/>
          <p:nvPr/>
        </p:nvSpPr>
        <p:spPr>
          <a:xfrm>
            <a:off x="548640" y="1389888"/>
            <a:ext cx="11064240" cy="502920"/>
          </a:xfrm>
          <a:prstGeom prst="rect">
            <a:avLst/>
          </a:prstGeom>
          <a:noFill/>
        </p:spPr>
        <p:txBody>
          <a:bodyPr wrap="square" lIns="0" rIns="0" tIns="0" bIns="0">
            <a:spAutoFit/>
          </a:bodyPr>
          <a:lstStyle/>
          <a:p>
            <a:pPr>
              <a:spcAft>
                <a:spcPts val="700"/>
              </a:spcAft>
              <a:defRPr sz="1900" b="0">
                <a:solidFill>
                  <a:srgbClr val="A0B3C9"/>
                </a:solidFill>
                <a:latin typeface="Liberation Sans"/>
              </a:defRPr>
            </a:pPr>
            <a:r>
              <a:t>Las tres capturas usan la misma escala de intensidad.</a:t>
            </a:r>
          </a:p>
        </p:txBody>
      </p:sp>
      <p:cxnSp>
        <p:nvCxnSpPr>
          <p:cNvPr id="5" name="Connector 4"/>
          <p:cNvCxnSpPr/>
          <p:nvPr/>
        </p:nvCxnSpPr>
        <p:spPr>
          <a:xfrm>
            <a:off x="548640" y="6355080"/>
            <a:ext cx="11082528" cy="0"/>
          </a:xfrm>
          <a:prstGeom prst="line">
            <a:avLst/>
          </a:prstGeom>
          <a:ln w="8890">
            <a:solidFill>
              <a:srgbClr val="36566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9144000" cy="201168"/>
          </a:xfrm>
          <a:prstGeom prst="rect">
            <a:avLst/>
          </a:prstGeom>
          <a:noFill/>
        </p:spPr>
        <p:txBody>
          <a:bodyPr wrap="square" lIns="0" rIns="0" tIns="0" bIns="0">
            <a:spAutoFit/>
          </a:bodyPr>
          <a:lstStyle/>
          <a:p>
            <a:pPr>
              <a:spcAft>
                <a:spcPts val="700"/>
              </a:spcAft>
              <a:defRPr sz="1000" b="0">
                <a:solidFill>
                  <a:srgbClr val="A0B3C9"/>
                </a:solidFill>
                <a:latin typeface="Liberation Sans"/>
              </a:defRPr>
            </a:pPr>
            <a:r>
              <a:t>Pticografía de Fourier · simulación didáctica · V1</a:t>
            </a:r>
          </a:p>
        </p:txBody>
      </p:sp>
      <p:sp>
        <p:nvSpPr>
          <p:cNvPr id="7" name="TextBox 6"/>
          <p:cNvSpPr txBox="1"/>
          <p:nvPr/>
        </p:nvSpPr>
        <p:spPr>
          <a:xfrm>
            <a:off x="10698480" y="6455664"/>
            <a:ext cx="914400" cy="228600"/>
          </a:xfrm>
          <a:prstGeom prst="rect">
            <a:avLst/>
          </a:prstGeom>
          <a:noFill/>
        </p:spPr>
        <p:txBody>
          <a:bodyPr wrap="square" lIns="0" rIns="0" tIns="0" bIns="0">
            <a:spAutoFit/>
          </a:bodyPr>
          <a:lstStyle/>
          <a:p>
            <a:pPr algn="r">
              <a:spcAft>
                <a:spcPts val="700"/>
              </a:spcAft>
              <a:defRPr sz="1100" b="0">
                <a:solidFill>
                  <a:srgbClr val="A0B3C9"/>
                </a:solidFill>
                <a:latin typeface="Liberation Sans"/>
              </a:defRPr>
            </a:pPr>
            <a:r>
              <a:t>03 / 18</a:t>
            </a:r>
          </a:p>
        </p:txBody>
      </p:sp>
      <p:pic>
        <p:nvPicPr>
          <p:cNvPr id="8" name="Picture 7" descr="image.png"/>
          <p:cNvPicPr>
            <a:picLocks noChangeAspect="1"/>
          </p:cNvPicPr>
          <p:nvPr/>
        </p:nvPicPr>
        <p:blipFill>
          <a:blip r:embed="rId3"/>
          <a:stretch>
            <a:fillRect/>
          </a:stretch>
        </p:blipFill>
        <p:spPr>
          <a:xfrm>
            <a:off x="960120" y="2212848"/>
            <a:ext cx="2834640" cy="2834640"/>
          </a:xfrm>
          <a:prstGeom prst="rect">
            <a:avLst/>
          </a:prstGeom>
        </p:spPr>
      </p:pic>
      <p:sp>
        <p:nvSpPr>
          <p:cNvPr id="9" name="TextBox 8"/>
          <p:cNvSpPr txBox="1"/>
          <p:nvPr/>
        </p:nvSpPr>
        <p:spPr>
          <a:xfrm>
            <a:off x="886968" y="5157216"/>
            <a:ext cx="298094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Central</a:t>
            </a:r>
          </a:p>
        </p:txBody>
      </p:sp>
      <p:pic>
        <p:nvPicPr>
          <p:cNvPr id="10" name="Picture 9" descr="image.png"/>
          <p:cNvPicPr>
            <a:picLocks noChangeAspect="1"/>
          </p:cNvPicPr>
          <p:nvPr/>
        </p:nvPicPr>
        <p:blipFill>
          <a:blip r:embed="rId4"/>
          <a:stretch>
            <a:fillRect/>
          </a:stretch>
        </p:blipFill>
        <p:spPr>
          <a:xfrm>
            <a:off x="4663440" y="2212848"/>
            <a:ext cx="2834640" cy="2834640"/>
          </a:xfrm>
          <a:prstGeom prst="rect">
            <a:avLst/>
          </a:prstGeom>
        </p:spPr>
      </p:pic>
      <p:sp>
        <p:nvSpPr>
          <p:cNvPr id="11" name="TextBox 10"/>
          <p:cNvSpPr txBox="1"/>
          <p:nvPr/>
        </p:nvSpPr>
        <p:spPr>
          <a:xfrm>
            <a:off x="4590288" y="5157216"/>
            <a:ext cx="298094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Oblicuo · campo claro</a:t>
            </a:r>
          </a:p>
        </p:txBody>
      </p:sp>
      <p:pic>
        <p:nvPicPr>
          <p:cNvPr id="12" name="Picture 11" descr="image.png"/>
          <p:cNvPicPr>
            <a:picLocks noChangeAspect="1"/>
          </p:cNvPicPr>
          <p:nvPr/>
        </p:nvPicPr>
        <p:blipFill>
          <a:blip r:embed="rId5"/>
          <a:stretch>
            <a:fillRect/>
          </a:stretch>
        </p:blipFill>
        <p:spPr>
          <a:xfrm>
            <a:off x="8366760" y="2212848"/>
            <a:ext cx="2834640" cy="2834640"/>
          </a:xfrm>
          <a:prstGeom prst="rect">
            <a:avLst/>
          </a:prstGeom>
        </p:spPr>
      </p:pic>
      <p:sp>
        <p:nvSpPr>
          <p:cNvPr id="13" name="TextBox 12"/>
          <p:cNvSpPr txBox="1"/>
          <p:nvPr/>
        </p:nvSpPr>
        <p:spPr>
          <a:xfrm>
            <a:off x="8293608" y="5157216"/>
            <a:ext cx="298094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Oblicuo · campo oscuro</a:t>
            </a:r>
          </a:p>
        </p:txBody>
      </p:sp>
      <p:sp>
        <p:nvSpPr>
          <p:cNvPr id="14" name="TextBox 13"/>
          <p:cNvSpPr txBox="1"/>
          <p:nvPr/>
        </p:nvSpPr>
        <p:spPr>
          <a:xfrm>
            <a:off x="640080" y="5824728"/>
            <a:ext cx="10881360" cy="411480"/>
          </a:xfrm>
          <a:prstGeom prst="rect">
            <a:avLst/>
          </a:prstGeom>
          <a:noFill/>
        </p:spPr>
        <p:txBody>
          <a:bodyPr wrap="square" lIns="0" rIns="0" tIns="0" bIns="0">
            <a:spAutoFit/>
          </a:bodyPr>
          <a:lstStyle/>
          <a:p>
            <a:pPr>
              <a:spcAft>
                <a:spcPts val="700"/>
              </a:spcAft>
              <a:defRPr sz="2000" b="1">
                <a:solidFill>
                  <a:srgbClr val="73E5B3"/>
                </a:solidFill>
                <a:latin typeface="Liberation Sans"/>
              </a:defRPr>
            </a:pPr>
            <a:r>
              <a:t>Una foto oscura puede contener información de la muestra.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92608"/>
            <a:ext cx="10058400" cy="256032"/>
          </a:xfrm>
          <a:prstGeom prst="rect">
            <a:avLst/>
          </a:prstGeom>
          <a:noFill/>
        </p:spPr>
        <p:txBody>
          <a:bodyPr wrap="square" lIns="0" rIns="0" tIns="0" bIns="0">
            <a:spAutoFit/>
          </a:bodyPr>
          <a:lstStyle/>
          <a:p>
            <a:pPr>
              <a:spcAft>
                <a:spcPts val="700"/>
              </a:spcAft>
              <a:defRPr sz="1200" b="1">
                <a:solidFill>
                  <a:srgbClr val="73E5B3"/>
                </a:solidFill>
                <a:latin typeface="Liberation Sans"/>
              </a:defRPr>
            </a:pPr>
            <a:r>
              <a:t>01 · CAPTURAR</a:t>
            </a:r>
          </a:p>
        </p:txBody>
      </p:sp>
      <p:sp>
        <p:nvSpPr>
          <p:cNvPr id="3" name="TextBox 2"/>
          <p:cNvSpPr txBox="1"/>
          <p:nvPr/>
        </p:nvSpPr>
        <p:spPr>
          <a:xfrm>
            <a:off x="548640" y="749808"/>
            <a:ext cx="11064240" cy="621792"/>
          </a:xfrm>
          <a:prstGeom prst="rect">
            <a:avLst/>
          </a:prstGeom>
          <a:noFill/>
        </p:spPr>
        <p:txBody>
          <a:bodyPr wrap="square" lIns="0" rIns="0" tIns="0" bIns="0">
            <a:spAutoFit/>
          </a:bodyPr>
          <a:lstStyle/>
          <a:p>
            <a:pPr>
              <a:spcAft>
                <a:spcPts val="700"/>
              </a:spcAft>
              <a:defRPr sz="3000" b="1">
                <a:solidFill>
                  <a:srgbClr val="E8EEF6"/>
                </a:solidFill>
                <a:latin typeface="Liberation Sans"/>
              </a:defRPr>
            </a:pPr>
            <a:r>
              <a:t>Campo oscuro: poca luz, información útil</a:t>
            </a:r>
          </a:p>
        </p:txBody>
      </p:sp>
      <p:sp>
        <p:nvSpPr>
          <p:cNvPr id="4" name="TextBox 3"/>
          <p:cNvSpPr txBox="1"/>
          <p:nvPr/>
        </p:nvSpPr>
        <p:spPr>
          <a:xfrm>
            <a:off x="548640" y="1389888"/>
            <a:ext cx="11064240" cy="502920"/>
          </a:xfrm>
          <a:prstGeom prst="rect">
            <a:avLst/>
          </a:prstGeom>
          <a:noFill/>
        </p:spPr>
        <p:txBody>
          <a:bodyPr wrap="square" lIns="0" rIns="0" tIns="0" bIns="0">
            <a:spAutoFit/>
          </a:bodyPr>
          <a:lstStyle/>
          <a:p>
            <a:pPr>
              <a:spcAft>
                <a:spcPts val="700"/>
              </a:spcAft>
              <a:defRPr sz="1900" b="0">
                <a:solidFill>
                  <a:srgbClr val="A0B3C9"/>
                </a:solidFill>
                <a:latin typeface="Liberation Sans"/>
              </a:defRPr>
            </a:pPr>
            <a:r>
              <a:t>La luz directa queda fuera de la apertura del objetivo.</a:t>
            </a:r>
          </a:p>
        </p:txBody>
      </p:sp>
      <p:cxnSp>
        <p:nvCxnSpPr>
          <p:cNvPr id="5" name="Connector 4"/>
          <p:cNvCxnSpPr/>
          <p:nvPr/>
        </p:nvCxnSpPr>
        <p:spPr>
          <a:xfrm>
            <a:off x="548640" y="6355080"/>
            <a:ext cx="11082528" cy="0"/>
          </a:xfrm>
          <a:prstGeom prst="line">
            <a:avLst/>
          </a:prstGeom>
          <a:ln w="8890">
            <a:solidFill>
              <a:srgbClr val="36566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9144000" cy="201168"/>
          </a:xfrm>
          <a:prstGeom prst="rect">
            <a:avLst/>
          </a:prstGeom>
          <a:noFill/>
        </p:spPr>
        <p:txBody>
          <a:bodyPr wrap="square" lIns="0" rIns="0" tIns="0" bIns="0">
            <a:spAutoFit/>
          </a:bodyPr>
          <a:lstStyle/>
          <a:p>
            <a:pPr>
              <a:spcAft>
                <a:spcPts val="700"/>
              </a:spcAft>
              <a:defRPr sz="1000" b="0">
                <a:solidFill>
                  <a:srgbClr val="A0B3C9"/>
                </a:solidFill>
                <a:latin typeface="Liberation Sans"/>
              </a:defRPr>
            </a:pPr>
            <a:r>
              <a:t>Pticografía de Fourier · simulación didáctica · V1</a:t>
            </a:r>
          </a:p>
        </p:txBody>
      </p:sp>
      <p:sp>
        <p:nvSpPr>
          <p:cNvPr id="7" name="TextBox 6"/>
          <p:cNvSpPr txBox="1"/>
          <p:nvPr/>
        </p:nvSpPr>
        <p:spPr>
          <a:xfrm>
            <a:off x="10698480" y="6455664"/>
            <a:ext cx="914400" cy="228600"/>
          </a:xfrm>
          <a:prstGeom prst="rect">
            <a:avLst/>
          </a:prstGeom>
          <a:noFill/>
        </p:spPr>
        <p:txBody>
          <a:bodyPr wrap="square" lIns="0" rIns="0" tIns="0" bIns="0">
            <a:spAutoFit/>
          </a:bodyPr>
          <a:lstStyle/>
          <a:p>
            <a:pPr algn="r">
              <a:spcAft>
                <a:spcPts val="700"/>
              </a:spcAft>
              <a:defRPr sz="1100" b="0">
                <a:solidFill>
                  <a:srgbClr val="A0B3C9"/>
                </a:solidFill>
                <a:latin typeface="Liberation Sans"/>
              </a:defRPr>
            </a:pPr>
            <a:r>
              <a:t>04 / 18</a:t>
            </a:r>
          </a:p>
        </p:txBody>
      </p:sp>
      <p:pic>
        <p:nvPicPr>
          <p:cNvPr id="8" name="Picture 7" descr="image.png"/>
          <p:cNvPicPr>
            <a:picLocks noChangeAspect="1"/>
          </p:cNvPicPr>
          <p:nvPr/>
        </p:nvPicPr>
        <p:blipFill>
          <a:blip r:embed="rId3"/>
          <a:stretch>
            <a:fillRect/>
          </a:stretch>
        </p:blipFill>
        <p:spPr>
          <a:xfrm>
            <a:off x="1828800" y="2176272"/>
            <a:ext cx="2834640" cy="2834640"/>
          </a:xfrm>
          <a:prstGeom prst="rect">
            <a:avLst/>
          </a:prstGeom>
        </p:spPr>
      </p:pic>
      <p:sp>
        <p:nvSpPr>
          <p:cNvPr id="9" name="TextBox 8"/>
          <p:cNvSpPr txBox="1"/>
          <p:nvPr/>
        </p:nvSpPr>
        <p:spPr>
          <a:xfrm>
            <a:off x="1755648" y="5120640"/>
            <a:ext cx="298094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Escala común</a:t>
            </a:r>
          </a:p>
        </p:txBody>
      </p:sp>
      <p:sp>
        <p:nvSpPr>
          <p:cNvPr id="10" name="Right Arrow 9"/>
          <p:cNvSpPr/>
          <p:nvPr/>
        </p:nvSpPr>
        <p:spPr>
          <a:xfrm>
            <a:off x="5715000" y="3383280"/>
            <a:ext cx="594360" cy="256032"/>
          </a:xfrm>
          <a:prstGeom prst="rightArrow">
            <a:avLst/>
          </a:prstGeom>
          <a:solidFill>
            <a:srgbClr val="73E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4"/>
          <a:stretch>
            <a:fillRect/>
          </a:stretch>
        </p:blipFill>
        <p:spPr>
          <a:xfrm>
            <a:off x="7406640" y="2176272"/>
            <a:ext cx="2834640" cy="2834640"/>
          </a:xfrm>
          <a:prstGeom prst="rect">
            <a:avLst/>
          </a:prstGeom>
        </p:spPr>
      </p:pic>
      <p:sp>
        <p:nvSpPr>
          <p:cNvPr id="12" name="TextBox 11"/>
          <p:cNvSpPr txBox="1"/>
          <p:nvPr/>
        </p:nvSpPr>
        <p:spPr>
          <a:xfrm>
            <a:off x="7333488" y="5120640"/>
            <a:ext cx="298094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Misma captura, realzada</a:t>
            </a:r>
          </a:p>
        </p:txBody>
      </p:sp>
      <p:sp>
        <p:nvSpPr>
          <p:cNvPr id="13" name="TextBox 12"/>
          <p:cNvSpPr txBox="1"/>
          <p:nvPr/>
        </p:nvSpPr>
        <p:spPr>
          <a:xfrm>
            <a:off x="640080" y="5824728"/>
            <a:ext cx="10881360" cy="411480"/>
          </a:xfrm>
          <a:prstGeom prst="rect">
            <a:avLst/>
          </a:prstGeom>
          <a:noFill/>
        </p:spPr>
        <p:txBody>
          <a:bodyPr wrap="square" lIns="0" rIns="0" tIns="0" bIns="0">
            <a:spAutoFit/>
          </a:bodyPr>
          <a:lstStyle/>
          <a:p>
            <a:pPr>
              <a:spcAft>
                <a:spcPts val="700"/>
              </a:spcAft>
              <a:defRPr sz="2000" b="1">
                <a:solidFill>
                  <a:srgbClr val="73E5B3"/>
                </a:solidFill>
                <a:latin typeface="Liberation Sans"/>
              </a:defRPr>
            </a:pPr>
            <a:r>
              <a:t>Realzar permite ver el detalle; no agrega información medida.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92608"/>
            <a:ext cx="10058400" cy="256032"/>
          </a:xfrm>
          <a:prstGeom prst="rect">
            <a:avLst/>
          </a:prstGeom>
          <a:noFill/>
        </p:spPr>
        <p:txBody>
          <a:bodyPr wrap="square" lIns="0" rIns="0" tIns="0" bIns="0">
            <a:spAutoFit/>
          </a:bodyPr>
          <a:lstStyle/>
          <a:p>
            <a:pPr>
              <a:spcAft>
                <a:spcPts val="700"/>
              </a:spcAft>
              <a:defRPr sz="1200" b="1">
                <a:solidFill>
                  <a:srgbClr val="73E5B3"/>
                </a:solidFill>
                <a:latin typeface="Liberation Sans"/>
              </a:defRPr>
            </a:pPr>
            <a:r>
              <a:t>02 · FOURIER</a:t>
            </a:r>
          </a:p>
        </p:txBody>
      </p:sp>
      <p:sp>
        <p:nvSpPr>
          <p:cNvPr id="3" name="TextBox 2"/>
          <p:cNvSpPr txBox="1"/>
          <p:nvPr/>
        </p:nvSpPr>
        <p:spPr>
          <a:xfrm>
            <a:off x="548640" y="749808"/>
            <a:ext cx="11064240" cy="621792"/>
          </a:xfrm>
          <a:prstGeom prst="rect">
            <a:avLst/>
          </a:prstGeom>
          <a:noFill/>
        </p:spPr>
        <p:txBody>
          <a:bodyPr wrap="square" lIns="0" rIns="0" tIns="0" bIns="0">
            <a:spAutoFit/>
          </a:bodyPr>
          <a:lstStyle/>
          <a:p>
            <a:pPr>
              <a:spcAft>
                <a:spcPts val="700"/>
              </a:spcAft>
              <a:defRPr sz="3000" b="1">
                <a:solidFill>
                  <a:srgbClr val="E8EEF6"/>
                </a:solidFill>
                <a:latin typeface="Liberation Sans"/>
              </a:defRPr>
            </a:pPr>
            <a:r>
              <a:t>Cada ángulo abre una ventana en Fourier</a:t>
            </a:r>
          </a:p>
        </p:txBody>
      </p:sp>
      <p:sp>
        <p:nvSpPr>
          <p:cNvPr id="4" name="TextBox 3"/>
          <p:cNvSpPr txBox="1"/>
          <p:nvPr/>
        </p:nvSpPr>
        <p:spPr>
          <a:xfrm>
            <a:off x="548640" y="1389888"/>
            <a:ext cx="11064240" cy="502920"/>
          </a:xfrm>
          <a:prstGeom prst="rect">
            <a:avLst/>
          </a:prstGeom>
          <a:noFill/>
        </p:spPr>
        <p:txBody>
          <a:bodyPr wrap="square" lIns="0" rIns="0" tIns="0" bIns="0">
            <a:spAutoFit/>
          </a:bodyPr>
          <a:lstStyle/>
          <a:p>
            <a:pPr>
              <a:spcAft>
                <a:spcPts val="700"/>
              </a:spcAft>
              <a:defRPr sz="1900" b="0">
                <a:solidFill>
                  <a:srgbClr val="A0B3C9"/>
                </a:solidFill>
                <a:latin typeface="Liberation Sans"/>
              </a:defRPr>
            </a:pPr>
            <a:r>
              <a:t>El objetivo conserva su apertura; cambia la región accesible del objeto.</a:t>
            </a:r>
          </a:p>
        </p:txBody>
      </p:sp>
      <p:cxnSp>
        <p:nvCxnSpPr>
          <p:cNvPr id="5" name="Connector 4"/>
          <p:cNvCxnSpPr/>
          <p:nvPr/>
        </p:nvCxnSpPr>
        <p:spPr>
          <a:xfrm>
            <a:off x="548640" y="6355080"/>
            <a:ext cx="11082528" cy="0"/>
          </a:xfrm>
          <a:prstGeom prst="line">
            <a:avLst/>
          </a:prstGeom>
          <a:ln w="8890">
            <a:solidFill>
              <a:srgbClr val="36566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9144000" cy="201168"/>
          </a:xfrm>
          <a:prstGeom prst="rect">
            <a:avLst/>
          </a:prstGeom>
          <a:noFill/>
        </p:spPr>
        <p:txBody>
          <a:bodyPr wrap="square" lIns="0" rIns="0" tIns="0" bIns="0">
            <a:spAutoFit/>
          </a:bodyPr>
          <a:lstStyle/>
          <a:p>
            <a:pPr>
              <a:spcAft>
                <a:spcPts val="700"/>
              </a:spcAft>
              <a:defRPr sz="1000" b="0">
                <a:solidFill>
                  <a:srgbClr val="A0B3C9"/>
                </a:solidFill>
                <a:latin typeface="Liberation Sans"/>
              </a:defRPr>
            </a:pPr>
            <a:r>
              <a:t>Pticografía de Fourier · simulación didáctica · V1</a:t>
            </a:r>
          </a:p>
        </p:txBody>
      </p:sp>
      <p:sp>
        <p:nvSpPr>
          <p:cNvPr id="7" name="TextBox 6"/>
          <p:cNvSpPr txBox="1"/>
          <p:nvPr/>
        </p:nvSpPr>
        <p:spPr>
          <a:xfrm>
            <a:off x="10698480" y="6455664"/>
            <a:ext cx="914400" cy="228600"/>
          </a:xfrm>
          <a:prstGeom prst="rect">
            <a:avLst/>
          </a:prstGeom>
          <a:noFill/>
        </p:spPr>
        <p:txBody>
          <a:bodyPr wrap="square" lIns="0" rIns="0" tIns="0" bIns="0">
            <a:spAutoFit/>
          </a:bodyPr>
          <a:lstStyle/>
          <a:p>
            <a:pPr algn="r">
              <a:spcAft>
                <a:spcPts val="700"/>
              </a:spcAft>
              <a:defRPr sz="1100" b="0">
                <a:solidFill>
                  <a:srgbClr val="A0B3C9"/>
                </a:solidFill>
                <a:latin typeface="Liberation Sans"/>
              </a:defRPr>
            </a:pPr>
            <a:r>
              <a:t>05 / 18</a:t>
            </a:r>
          </a:p>
        </p:txBody>
      </p:sp>
      <p:pic>
        <p:nvPicPr>
          <p:cNvPr id="8" name="Picture 7" descr="image.png"/>
          <p:cNvPicPr>
            <a:picLocks noChangeAspect="1"/>
          </p:cNvPicPr>
          <p:nvPr/>
        </p:nvPicPr>
        <p:blipFill>
          <a:blip r:embed="rId3"/>
          <a:stretch>
            <a:fillRect/>
          </a:stretch>
        </p:blipFill>
        <p:spPr>
          <a:xfrm>
            <a:off x="960120" y="2194560"/>
            <a:ext cx="2834640" cy="2834640"/>
          </a:xfrm>
          <a:prstGeom prst="rect">
            <a:avLst/>
          </a:prstGeom>
        </p:spPr>
      </p:pic>
      <p:sp>
        <p:nvSpPr>
          <p:cNvPr id="9" name="Oval 8"/>
          <p:cNvSpPr/>
          <p:nvPr/>
        </p:nvSpPr>
        <p:spPr>
          <a:xfrm>
            <a:off x="1978818" y="3213258"/>
            <a:ext cx="797242" cy="797242"/>
          </a:xfrm>
          <a:prstGeom prst="ellipse">
            <a:avLst/>
          </a:prstGeom>
          <a:noFill/>
          <a:ln w="25400">
            <a:solidFill>
              <a:srgbClr val="73E5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2292400" y="3611880"/>
            <a:ext cx="170079" cy="0"/>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377440" y="3526840"/>
            <a:ext cx="0" cy="170079"/>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60" y="5184648"/>
            <a:ext cx="3108960" cy="502920"/>
          </a:xfrm>
          <a:prstGeom prst="rect">
            <a:avLst/>
          </a:prstGeom>
          <a:noFill/>
        </p:spPr>
        <p:txBody>
          <a:bodyPr wrap="square" lIns="0" rIns="0" tIns="0" bIns="0">
            <a:spAutoFit/>
          </a:bodyPr>
          <a:lstStyle/>
          <a:p>
            <a:pPr algn="ctr">
              <a:spcAft>
                <a:spcPts val="700"/>
              </a:spcAft>
              <a:defRPr sz="1700" b="0">
                <a:solidFill>
                  <a:srgbClr val="A0B3C9"/>
                </a:solidFill>
                <a:latin typeface="Liberation Sans"/>
              </a:defRPr>
            </a:pPr>
            <a:r>
              <a:t>LED central</a:t>
            </a:r>
          </a:p>
        </p:txBody>
      </p:sp>
      <p:pic>
        <p:nvPicPr>
          <p:cNvPr id="13" name="Picture 12" descr="image.png"/>
          <p:cNvPicPr>
            <a:picLocks noChangeAspect="1"/>
          </p:cNvPicPr>
          <p:nvPr/>
        </p:nvPicPr>
        <p:blipFill>
          <a:blip r:embed="rId3"/>
          <a:stretch>
            <a:fillRect/>
          </a:stretch>
        </p:blipFill>
        <p:spPr>
          <a:xfrm>
            <a:off x="4663440" y="2194560"/>
            <a:ext cx="2834640" cy="2834640"/>
          </a:xfrm>
          <a:prstGeom prst="rect">
            <a:avLst/>
          </a:prstGeom>
        </p:spPr>
      </p:pic>
      <p:sp>
        <p:nvSpPr>
          <p:cNvPr id="14" name="Oval 13"/>
          <p:cNvSpPr/>
          <p:nvPr/>
        </p:nvSpPr>
        <p:spPr>
          <a:xfrm>
            <a:off x="5239226" y="2991802"/>
            <a:ext cx="797242" cy="797242"/>
          </a:xfrm>
          <a:prstGeom prst="ellipse">
            <a:avLst/>
          </a:prstGeom>
          <a:noFill/>
          <a:ln w="25400">
            <a:solidFill>
              <a:srgbClr val="73E5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5995720" y="3611880"/>
            <a:ext cx="170079" cy="0"/>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80759" y="3526840"/>
            <a:ext cx="0" cy="170079"/>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26279" y="5184648"/>
            <a:ext cx="3108960" cy="502920"/>
          </a:xfrm>
          <a:prstGeom prst="rect">
            <a:avLst/>
          </a:prstGeom>
          <a:noFill/>
        </p:spPr>
        <p:txBody>
          <a:bodyPr wrap="square" lIns="0" rIns="0" tIns="0" bIns="0">
            <a:spAutoFit/>
          </a:bodyPr>
          <a:lstStyle/>
          <a:p>
            <a:pPr algn="ctr">
              <a:spcAft>
                <a:spcPts val="700"/>
              </a:spcAft>
              <a:defRPr sz="1700" b="0">
                <a:solidFill>
                  <a:srgbClr val="A0B3C9"/>
                </a:solidFill>
                <a:latin typeface="Liberation Sans"/>
              </a:defRPr>
            </a:pPr>
            <a:r>
              <a:t>LED oblicuo</a:t>
            </a:r>
          </a:p>
        </p:txBody>
      </p:sp>
      <p:pic>
        <p:nvPicPr>
          <p:cNvPr id="18" name="Picture 17" descr="image.png"/>
          <p:cNvPicPr>
            <a:picLocks noChangeAspect="1"/>
          </p:cNvPicPr>
          <p:nvPr/>
        </p:nvPicPr>
        <p:blipFill>
          <a:blip r:embed="rId3"/>
          <a:stretch>
            <a:fillRect/>
          </a:stretch>
        </p:blipFill>
        <p:spPr>
          <a:xfrm>
            <a:off x="8366760" y="2194560"/>
            <a:ext cx="2834640" cy="2834640"/>
          </a:xfrm>
          <a:prstGeom prst="rect">
            <a:avLst/>
          </a:prstGeom>
        </p:spPr>
      </p:pic>
      <p:sp>
        <p:nvSpPr>
          <p:cNvPr id="19" name="Oval 18"/>
          <p:cNvSpPr/>
          <p:nvPr/>
        </p:nvSpPr>
        <p:spPr>
          <a:xfrm>
            <a:off x="9385458" y="3213258"/>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385458" y="3434714"/>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64002" y="3213258"/>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385458" y="2991802"/>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06915" y="3213258"/>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06915" y="3434714"/>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64002" y="3434714"/>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64002" y="2991802"/>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606915" y="2991802"/>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385458" y="3656171"/>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42546" y="3213258"/>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385458" y="2770346"/>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828371" y="3213258"/>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828371" y="3434714"/>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06915" y="3656171"/>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64002" y="3656171"/>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942546" y="3434714"/>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942546" y="2991802"/>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164002" y="2770346"/>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606915" y="2770346"/>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828371" y="2991802"/>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828371" y="3656171"/>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942546" y="3656171"/>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942546" y="2770346"/>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828371" y="2770346"/>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385458" y="3877627"/>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721090" y="3213258"/>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9385458" y="2548890"/>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049827" y="3213258"/>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049827" y="3434714"/>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606915" y="3877627"/>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164002" y="3877627"/>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8721090" y="3434714"/>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721090" y="2991802"/>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9164002" y="2548890"/>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9606915" y="2548890"/>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0049827" y="2991802"/>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0049827" y="3656171"/>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828371" y="3877627"/>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942546" y="3877627"/>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721090" y="3656171"/>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721090" y="2770346"/>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8942546" y="2548890"/>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9828371" y="2548890"/>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0049827" y="2770346"/>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0049827" y="3877627"/>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8721090" y="3877627"/>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8721090" y="2548890"/>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049827" y="2548890"/>
            <a:ext cx="797242" cy="797242"/>
          </a:xfrm>
          <a:prstGeom prst="ellipse">
            <a:avLst/>
          </a:prstGeom>
          <a:noFill/>
          <a:ln w="5715">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0049827" y="2548890"/>
            <a:ext cx="797242" cy="797242"/>
          </a:xfrm>
          <a:prstGeom prst="ellipse">
            <a:avLst/>
          </a:prstGeom>
          <a:noFill/>
          <a:ln w="25400">
            <a:solidFill>
              <a:srgbClr val="73E5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a:off x="9699040" y="3611880"/>
            <a:ext cx="170079" cy="0"/>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784080" y="3526840"/>
            <a:ext cx="0" cy="170079"/>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8229600" y="5184648"/>
            <a:ext cx="3108960" cy="502920"/>
          </a:xfrm>
          <a:prstGeom prst="rect">
            <a:avLst/>
          </a:prstGeom>
          <a:noFill/>
        </p:spPr>
        <p:txBody>
          <a:bodyPr wrap="square" lIns="0" rIns="0" tIns="0" bIns="0">
            <a:spAutoFit/>
          </a:bodyPr>
          <a:lstStyle/>
          <a:p>
            <a:pPr algn="ctr">
              <a:spcAft>
                <a:spcPts val="700"/>
              </a:spcAft>
              <a:defRPr sz="1700" b="0">
                <a:solidFill>
                  <a:srgbClr val="A0B3C9"/>
                </a:solidFill>
                <a:latin typeface="Liberation Sans"/>
              </a:defRPr>
            </a:pPr>
            <a:r>
              <a:t>Cobertura de los 49 LEDs</a:t>
            </a:r>
          </a:p>
        </p:txBody>
      </p:sp>
      <p:sp>
        <p:nvSpPr>
          <p:cNvPr id="72" name="TextBox 71"/>
          <p:cNvSpPr txBox="1"/>
          <p:nvPr/>
        </p:nvSpPr>
        <p:spPr>
          <a:xfrm>
            <a:off x="640080" y="5824728"/>
            <a:ext cx="10881360" cy="411480"/>
          </a:xfrm>
          <a:prstGeom prst="rect">
            <a:avLst/>
          </a:prstGeom>
          <a:noFill/>
        </p:spPr>
        <p:txBody>
          <a:bodyPr wrap="square" lIns="0" rIns="0" tIns="0" bIns="0">
            <a:spAutoFit/>
          </a:bodyPr>
          <a:lstStyle/>
          <a:p>
            <a:pPr>
              <a:spcAft>
                <a:spcPts val="700"/>
              </a:spcAft>
              <a:defRPr sz="2000" b="1">
                <a:solidFill>
                  <a:srgbClr val="73E5B3"/>
                </a:solidFill>
                <a:latin typeface="Liberation Sans"/>
              </a:defRPr>
            </a:pPr>
            <a:r>
              <a:t>Más ángulos permiten acceder a frecuencias que un solo LED no transmite.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92608"/>
            <a:ext cx="10058400" cy="256032"/>
          </a:xfrm>
          <a:prstGeom prst="rect">
            <a:avLst/>
          </a:prstGeom>
          <a:noFill/>
        </p:spPr>
        <p:txBody>
          <a:bodyPr wrap="square" lIns="0" rIns="0" tIns="0" bIns="0">
            <a:spAutoFit/>
          </a:bodyPr>
          <a:lstStyle/>
          <a:p>
            <a:pPr>
              <a:spcAft>
                <a:spcPts val="700"/>
              </a:spcAft>
              <a:defRPr sz="1200" b="1">
                <a:solidFill>
                  <a:srgbClr val="73E5B3"/>
                </a:solidFill>
                <a:latin typeface="Liberation Sans"/>
              </a:defRPr>
            </a:pPr>
            <a:r>
              <a:t>02 · FOURIER</a:t>
            </a:r>
          </a:p>
        </p:txBody>
      </p:sp>
      <p:sp>
        <p:nvSpPr>
          <p:cNvPr id="3" name="TextBox 2"/>
          <p:cNvSpPr txBox="1"/>
          <p:nvPr/>
        </p:nvSpPr>
        <p:spPr>
          <a:xfrm>
            <a:off x="548640" y="749808"/>
            <a:ext cx="11064240" cy="621792"/>
          </a:xfrm>
          <a:prstGeom prst="rect">
            <a:avLst/>
          </a:prstGeom>
          <a:noFill/>
        </p:spPr>
        <p:txBody>
          <a:bodyPr wrap="square" lIns="0" rIns="0" tIns="0" bIns="0">
            <a:spAutoFit/>
          </a:bodyPr>
          <a:lstStyle/>
          <a:p>
            <a:pPr>
              <a:spcAft>
                <a:spcPts val="700"/>
              </a:spcAft>
              <a:defRPr sz="3000" b="1">
                <a:solidFill>
                  <a:srgbClr val="E8EEF6"/>
                </a:solidFill>
                <a:latin typeface="Liberation Sans"/>
              </a:defRPr>
            </a:pPr>
            <a:r>
              <a:t>Las ventanas se solapan</a:t>
            </a:r>
          </a:p>
        </p:txBody>
      </p:sp>
      <p:sp>
        <p:nvSpPr>
          <p:cNvPr id="4" name="TextBox 3"/>
          <p:cNvSpPr txBox="1"/>
          <p:nvPr/>
        </p:nvSpPr>
        <p:spPr>
          <a:xfrm>
            <a:off x="548640" y="1389888"/>
            <a:ext cx="11064240" cy="502920"/>
          </a:xfrm>
          <a:prstGeom prst="rect">
            <a:avLst/>
          </a:prstGeom>
          <a:noFill/>
        </p:spPr>
        <p:txBody>
          <a:bodyPr wrap="square" lIns="0" rIns="0" tIns="0" bIns="0">
            <a:spAutoFit/>
          </a:bodyPr>
          <a:lstStyle/>
          <a:p>
            <a:pPr>
              <a:spcAft>
                <a:spcPts val="700"/>
              </a:spcAft>
              <a:defRPr sz="1900" b="0">
                <a:solidFill>
                  <a:srgbClr val="A0B3C9"/>
                </a:solidFill>
                <a:latin typeface="Liberation Sans"/>
              </a:defRPr>
            </a:pPr>
            <a:r>
              <a:t>Dos mediciones dependen de una región compartida del espectro.</a:t>
            </a:r>
          </a:p>
        </p:txBody>
      </p:sp>
      <p:cxnSp>
        <p:nvCxnSpPr>
          <p:cNvPr id="5" name="Connector 4"/>
          <p:cNvCxnSpPr/>
          <p:nvPr/>
        </p:nvCxnSpPr>
        <p:spPr>
          <a:xfrm>
            <a:off x="548640" y="6355080"/>
            <a:ext cx="11082528" cy="0"/>
          </a:xfrm>
          <a:prstGeom prst="line">
            <a:avLst/>
          </a:prstGeom>
          <a:ln w="8890">
            <a:solidFill>
              <a:srgbClr val="36566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9144000" cy="201168"/>
          </a:xfrm>
          <a:prstGeom prst="rect">
            <a:avLst/>
          </a:prstGeom>
          <a:noFill/>
        </p:spPr>
        <p:txBody>
          <a:bodyPr wrap="square" lIns="0" rIns="0" tIns="0" bIns="0">
            <a:spAutoFit/>
          </a:bodyPr>
          <a:lstStyle/>
          <a:p>
            <a:pPr>
              <a:spcAft>
                <a:spcPts val="700"/>
              </a:spcAft>
              <a:defRPr sz="1000" b="0">
                <a:solidFill>
                  <a:srgbClr val="A0B3C9"/>
                </a:solidFill>
                <a:latin typeface="Liberation Sans"/>
              </a:defRPr>
            </a:pPr>
            <a:r>
              <a:t>Pticografía de Fourier · simulación didáctica · V1</a:t>
            </a:r>
          </a:p>
        </p:txBody>
      </p:sp>
      <p:sp>
        <p:nvSpPr>
          <p:cNvPr id="7" name="TextBox 6"/>
          <p:cNvSpPr txBox="1"/>
          <p:nvPr/>
        </p:nvSpPr>
        <p:spPr>
          <a:xfrm>
            <a:off x="10698480" y="6455664"/>
            <a:ext cx="914400" cy="228600"/>
          </a:xfrm>
          <a:prstGeom prst="rect">
            <a:avLst/>
          </a:prstGeom>
          <a:noFill/>
        </p:spPr>
        <p:txBody>
          <a:bodyPr wrap="square" lIns="0" rIns="0" tIns="0" bIns="0">
            <a:spAutoFit/>
          </a:bodyPr>
          <a:lstStyle/>
          <a:p>
            <a:pPr algn="r">
              <a:spcAft>
                <a:spcPts val="700"/>
              </a:spcAft>
              <a:defRPr sz="1100" b="0">
                <a:solidFill>
                  <a:srgbClr val="A0B3C9"/>
                </a:solidFill>
                <a:latin typeface="Liberation Sans"/>
              </a:defRPr>
            </a:pPr>
            <a:r>
              <a:t>06 / 18</a:t>
            </a:r>
          </a:p>
        </p:txBody>
      </p:sp>
      <p:pic>
        <p:nvPicPr>
          <p:cNvPr id="8" name="Picture 7" descr="image.png"/>
          <p:cNvPicPr>
            <a:picLocks noChangeAspect="1"/>
          </p:cNvPicPr>
          <p:nvPr/>
        </p:nvPicPr>
        <p:blipFill>
          <a:blip r:embed="rId3"/>
          <a:stretch>
            <a:fillRect/>
          </a:stretch>
        </p:blipFill>
        <p:spPr>
          <a:xfrm>
            <a:off x="960120" y="2103120"/>
            <a:ext cx="3337560" cy="3337560"/>
          </a:xfrm>
          <a:prstGeom prst="rect">
            <a:avLst/>
          </a:prstGeom>
        </p:spPr>
      </p:pic>
      <p:sp>
        <p:nvSpPr>
          <p:cNvPr id="9" name="Oval 8"/>
          <p:cNvSpPr/>
          <p:nvPr/>
        </p:nvSpPr>
        <p:spPr>
          <a:xfrm>
            <a:off x="2159555" y="3302555"/>
            <a:ext cx="938688" cy="938688"/>
          </a:xfrm>
          <a:prstGeom prst="ellipse">
            <a:avLst/>
          </a:prstGeom>
          <a:noFill/>
          <a:ln w="38100">
            <a:solidFill>
              <a:srgbClr val="73E5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898808" y="3302555"/>
            <a:ext cx="938688" cy="938688"/>
          </a:xfrm>
          <a:prstGeom prst="ellipse">
            <a:avLst/>
          </a:prstGeom>
          <a:noFill/>
          <a:ln w="38100">
            <a:solidFill>
              <a:srgbClr val="40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2423160"/>
            <a:ext cx="4572000" cy="457200"/>
          </a:xfrm>
          <a:prstGeom prst="rect">
            <a:avLst/>
          </a:prstGeom>
          <a:noFill/>
        </p:spPr>
        <p:txBody>
          <a:bodyPr wrap="square" lIns="0" rIns="0" tIns="0" bIns="0">
            <a:spAutoFit/>
          </a:bodyPr>
          <a:lstStyle/>
          <a:p>
            <a:pPr>
              <a:spcAft>
                <a:spcPts val="700"/>
              </a:spcAft>
              <a:defRPr sz="2400" b="1">
                <a:solidFill>
                  <a:srgbClr val="73E5B3"/>
                </a:solidFill>
                <a:latin typeface="Liberation Sans"/>
              </a:defRPr>
            </a:pPr>
            <a:r>
              <a:t>Ventana A</a:t>
            </a:r>
          </a:p>
        </p:txBody>
      </p:sp>
      <p:sp>
        <p:nvSpPr>
          <p:cNvPr id="12" name="TextBox 11"/>
          <p:cNvSpPr txBox="1"/>
          <p:nvPr/>
        </p:nvSpPr>
        <p:spPr>
          <a:xfrm>
            <a:off x="4937760" y="2999232"/>
            <a:ext cx="4572000" cy="457200"/>
          </a:xfrm>
          <a:prstGeom prst="rect">
            <a:avLst/>
          </a:prstGeom>
          <a:noFill/>
        </p:spPr>
        <p:txBody>
          <a:bodyPr wrap="square" lIns="0" rIns="0" tIns="0" bIns="0">
            <a:spAutoFit/>
          </a:bodyPr>
          <a:lstStyle/>
          <a:p>
            <a:pPr>
              <a:spcAft>
                <a:spcPts val="700"/>
              </a:spcAft>
              <a:defRPr sz="2400" b="1">
                <a:solidFill>
                  <a:srgbClr val="40A6FF"/>
                </a:solidFill>
                <a:latin typeface="Liberation Sans"/>
              </a:defRPr>
            </a:pPr>
            <a:r>
              <a:t>Ventana B</a:t>
            </a:r>
          </a:p>
        </p:txBody>
      </p:sp>
      <p:sp>
        <p:nvSpPr>
          <p:cNvPr id="13" name="TextBox 12"/>
          <p:cNvSpPr txBox="1"/>
          <p:nvPr/>
        </p:nvSpPr>
        <p:spPr>
          <a:xfrm>
            <a:off x="4937760" y="3794760"/>
            <a:ext cx="6035040" cy="1188720"/>
          </a:xfrm>
          <a:prstGeom prst="rect">
            <a:avLst/>
          </a:prstGeom>
          <a:noFill/>
        </p:spPr>
        <p:txBody>
          <a:bodyPr wrap="square" lIns="0" rIns="0" tIns="0" bIns="0">
            <a:spAutoFit/>
          </a:bodyPr>
          <a:lstStyle/>
          <a:p>
            <a:pPr>
              <a:spcAft>
                <a:spcPts val="700"/>
              </a:spcAft>
              <a:defRPr sz="2500" b="0">
                <a:solidFill>
                  <a:srgbClr val="E8EEF6"/>
                </a:solidFill>
                <a:latin typeface="Liberation Sans"/>
              </a:defRPr>
            </a:pPr>
            <a:r>
              <a:t>La misma estimación debe ser</a:t>
            </a:r>
          </a:p>
          <a:p>
            <a:pPr>
              <a:spcAft>
                <a:spcPts val="700"/>
              </a:spcAft>
              <a:defRPr sz="2500" b="0">
                <a:solidFill>
                  <a:srgbClr val="E8EEF6"/>
                </a:solidFill>
                <a:latin typeface="Liberation Sans"/>
              </a:defRPr>
            </a:pPr>
            <a:r>
              <a:t>compatible con ambas capturas.</a:t>
            </a:r>
          </a:p>
        </p:txBody>
      </p:sp>
      <p:sp>
        <p:nvSpPr>
          <p:cNvPr id="14" name="TextBox 13"/>
          <p:cNvSpPr txBox="1"/>
          <p:nvPr/>
        </p:nvSpPr>
        <p:spPr>
          <a:xfrm>
            <a:off x="640080" y="5824728"/>
            <a:ext cx="10881360" cy="411480"/>
          </a:xfrm>
          <a:prstGeom prst="rect">
            <a:avLst/>
          </a:prstGeom>
          <a:noFill/>
        </p:spPr>
        <p:txBody>
          <a:bodyPr wrap="square" lIns="0" rIns="0" tIns="0" bIns="0">
            <a:spAutoFit/>
          </a:bodyPr>
          <a:lstStyle/>
          <a:p>
            <a:pPr>
              <a:spcAft>
                <a:spcPts val="700"/>
              </a:spcAft>
              <a:defRPr sz="2000" b="1">
                <a:solidFill>
                  <a:srgbClr val="73E5B3"/>
                </a:solidFill>
                <a:latin typeface="Liberation Sans"/>
              </a:defRPr>
            </a:pPr>
            <a:r>
              <a:t>Reconstruir exige hacer compatibles las mediciones entre sí.</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92608"/>
            <a:ext cx="10058400" cy="256032"/>
          </a:xfrm>
          <a:prstGeom prst="rect">
            <a:avLst/>
          </a:prstGeom>
          <a:noFill/>
        </p:spPr>
        <p:txBody>
          <a:bodyPr wrap="square" lIns="0" rIns="0" tIns="0" bIns="0">
            <a:spAutoFit/>
          </a:bodyPr>
          <a:lstStyle/>
          <a:p>
            <a:pPr>
              <a:spcAft>
                <a:spcPts val="700"/>
              </a:spcAft>
              <a:defRPr sz="1200" b="1">
                <a:solidFill>
                  <a:srgbClr val="73E5B3"/>
                </a:solidFill>
                <a:latin typeface="Liberation Sans"/>
              </a:defRPr>
            </a:pPr>
            <a:r>
              <a:t>03 · RECONSTRUIR / 1</a:t>
            </a:r>
          </a:p>
        </p:txBody>
      </p:sp>
      <p:sp>
        <p:nvSpPr>
          <p:cNvPr id="3" name="TextBox 2"/>
          <p:cNvSpPr txBox="1"/>
          <p:nvPr/>
        </p:nvSpPr>
        <p:spPr>
          <a:xfrm>
            <a:off x="548640" y="749808"/>
            <a:ext cx="11064240" cy="621792"/>
          </a:xfrm>
          <a:prstGeom prst="rect">
            <a:avLst/>
          </a:prstGeom>
          <a:noFill/>
        </p:spPr>
        <p:txBody>
          <a:bodyPr wrap="square" lIns="0" rIns="0" tIns="0" bIns="0">
            <a:spAutoFit/>
          </a:bodyPr>
          <a:lstStyle/>
          <a:p>
            <a:pPr>
              <a:spcAft>
                <a:spcPts val="700"/>
              </a:spcAft>
              <a:defRPr sz="3000" b="1">
                <a:solidFill>
                  <a:srgbClr val="E8EEF6"/>
                </a:solidFill>
                <a:latin typeface="Liberation Sans"/>
              </a:defRPr>
            </a:pPr>
            <a:r>
              <a:t>Empezamos con una aproximación</a:t>
            </a:r>
          </a:p>
        </p:txBody>
      </p:sp>
      <p:sp>
        <p:nvSpPr>
          <p:cNvPr id="4" name="TextBox 3"/>
          <p:cNvSpPr txBox="1"/>
          <p:nvPr/>
        </p:nvSpPr>
        <p:spPr>
          <a:xfrm>
            <a:off x="548640" y="1389888"/>
            <a:ext cx="11064240" cy="502920"/>
          </a:xfrm>
          <a:prstGeom prst="rect">
            <a:avLst/>
          </a:prstGeom>
          <a:noFill/>
        </p:spPr>
        <p:txBody>
          <a:bodyPr wrap="square" lIns="0" rIns="0" tIns="0" bIns="0">
            <a:spAutoFit/>
          </a:bodyPr>
          <a:lstStyle/>
          <a:p>
            <a:pPr>
              <a:spcAft>
                <a:spcPts val="700"/>
              </a:spcAft>
              <a:defRPr sz="1900" b="0">
                <a:solidFill>
                  <a:srgbClr val="A0B3C9"/>
                </a:solidFill>
                <a:latin typeface="Liberation Sans"/>
              </a:defRPr>
            </a:pPr>
            <a:r>
              <a:t>Amplitud inicial = raíz de la intensidad de la captura central.</a:t>
            </a:r>
          </a:p>
        </p:txBody>
      </p:sp>
      <p:cxnSp>
        <p:nvCxnSpPr>
          <p:cNvPr id="5" name="Connector 4"/>
          <p:cNvCxnSpPr/>
          <p:nvPr/>
        </p:nvCxnSpPr>
        <p:spPr>
          <a:xfrm>
            <a:off x="548640" y="6355080"/>
            <a:ext cx="11082528" cy="0"/>
          </a:xfrm>
          <a:prstGeom prst="line">
            <a:avLst/>
          </a:prstGeom>
          <a:ln w="8890">
            <a:solidFill>
              <a:srgbClr val="36566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9144000" cy="201168"/>
          </a:xfrm>
          <a:prstGeom prst="rect">
            <a:avLst/>
          </a:prstGeom>
          <a:noFill/>
        </p:spPr>
        <p:txBody>
          <a:bodyPr wrap="square" lIns="0" rIns="0" tIns="0" bIns="0">
            <a:spAutoFit/>
          </a:bodyPr>
          <a:lstStyle/>
          <a:p>
            <a:pPr>
              <a:spcAft>
                <a:spcPts val="700"/>
              </a:spcAft>
              <a:defRPr sz="1000" b="0">
                <a:solidFill>
                  <a:srgbClr val="A0B3C9"/>
                </a:solidFill>
                <a:latin typeface="Liberation Sans"/>
              </a:defRPr>
            </a:pPr>
            <a:r>
              <a:t>Pticografía de Fourier · simulación didáctica · V1</a:t>
            </a:r>
          </a:p>
        </p:txBody>
      </p:sp>
      <p:sp>
        <p:nvSpPr>
          <p:cNvPr id="7" name="TextBox 6"/>
          <p:cNvSpPr txBox="1"/>
          <p:nvPr/>
        </p:nvSpPr>
        <p:spPr>
          <a:xfrm>
            <a:off x="10698480" y="6455664"/>
            <a:ext cx="914400" cy="228600"/>
          </a:xfrm>
          <a:prstGeom prst="rect">
            <a:avLst/>
          </a:prstGeom>
          <a:noFill/>
        </p:spPr>
        <p:txBody>
          <a:bodyPr wrap="square" lIns="0" rIns="0" tIns="0" bIns="0">
            <a:spAutoFit/>
          </a:bodyPr>
          <a:lstStyle/>
          <a:p>
            <a:pPr algn="r">
              <a:spcAft>
                <a:spcPts val="700"/>
              </a:spcAft>
              <a:defRPr sz="1100" b="0">
                <a:solidFill>
                  <a:srgbClr val="A0B3C9"/>
                </a:solidFill>
                <a:latin typeface="Liberation Sans"/>
              </a:defRPr>
            </a:pPr>
            <a:r>
              <a:t>07 / 18</a:t>
            </a:r>
          </a:p>
        </p:txBody>
      </p:sp>
      <p:pic>
        <p:nvPicPr>
          <p:cNvPr id="8" name="Picture 7" descr="image.png"/>
          <p:cNvPicPr>
            <a:picLocks noChangeAspect="1"/>
          </p:cNvPicPr>
          <p:nvPr/>
        </p:nvPicPr>
        <p:blipFill>
          <a:blip r:embed="rId3"/>
          <a:stretch>
            <a:fillRect/>
          </a:stretch>
        </p:blipFill>
        <p:spPr>
          <a:xfrm>
            <a:off x="822960" y="2286000"/>
            <a:ext cx="2560320" cy="2560320"/>
          </a:xfrm>
          <a:prstGeom prst="rect">
            <a:avLst/>
          </a:prstGeom>
        </p:spPr>
      </p:pic>
      <p:sp>
        <p:nvSpPr>
          <p:cNvPr id="9" name="TextBox 8"/>
          <p:cNvSpPr txBox="1"/>
          <p:nvPr/>
        </p:nvSpPr>
        <p:spPr>
          <a:xfrm>
            <a:off x="749808" y="4956048"/>
            <a:ext cx="270662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Captura central · intensidad</a:t>
            </a:r>
          </a:p>
        </p:txBody>
      </p:sp>
      <p:sp>
        <p:nvSpPr>
          <p:cNvPr id="10" name="Right Arrow 9"/>
          <p:cNvSpPr/>
          <p:nvPr/>
        </p:nvSpPr>
        <p:spPr>
          <a:xfrm>
            <a:off x="3675887" y="3383280"/>
            <a:ext cx="594360" cy="256032"/>
          </a:xfrm>
          <a:prstGeom prst="rightArrow">
            <a:avLst/>
          </a:prstGeom>
          <a:solidFill>
            <a:srgbClr val="73E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67328" y="2807208"/>
            <a:ext cx="640080" cy="365760"/>
          </a:xfrm>
          <a:prstGeom prst="rect">
            <a:avLst/>
          </a:prstGeom>
          <a:noFill/>
        </p:spPr>
        <p:txBody>
          <a:bodyPr wrap="square" lIns="0" rIns="0" tIns="0" bIns="0">
            <a:spAutoFit/>
          </a:bodyPr>
          <a:lstStyle/>
          <a:p>
            <a:pPr>
              <a:spcAft>
                <a:spcPts val="700"/>
              </a:spcAft>
              <a:defRPr sz="2400" b="0">
                <a:solidFill>
                  <a:srgbClr val="FFCC75"/>
                </a:solidFill>
                <a:latin typeface="Liberation Sans"/>
              </a:defRPr>
            </a:pPr>
            <a:r>
              <a:t>√I</a:t>
            </a:r>
          </a:p>
        </p:txBody>
      </p:sp>
      <p:pic>
        <p:nvPicPr>
          <p:cNvPr id="12" name="Picture 11" descr="image.png"/>
          <p:cNvPicPr>
            <a:picLocks noChangeAspect="1"/>
          </p:cNvPicPr>
          <p:nvPr/>
        </p:nvPicPr>
        <p:blipFill>
          <a:blip r:embed="rId4"/>
          <a:stretch>
            <a:fillRect/>
          </a:stretch>
        </p:blipFill>
        <p:spPr>
          <a:xfrm>
            <a:off x="4572000" y="2286000"/>
            <a:ext cx="2560320" cy="2560320"/>
          </a:xfrm>
          <a:prstGeom prst="rect">
            <a:avLst/>
          </a:prstGeom>
        </p:spPr>
      </p:pic>
      <p:sp>
        <p:nvSpPr>
          <p:cNvPr id="13" name="TextBox 12"/>
          <p:cNvSpPr txBox="1"/>
          <p:nvPr/>
        </p:nvSpPr>
        <p:spPr>
          <a:xfrm>
            <a:off x="4498848" y="4956048"/>
            <a:ext cx="270662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Amplitud inicial</a:t>
            </a:r>
          </a:p>
        </p:txBody>
      </p:sp>
      <p:pic>
        <p:nvPicPr>
          <p:cNvPr id="14" name="Picture 13" descr="image.png"/>
          <p:cNvPicPr>
            <a:picLocks noChangeAspect="1"/>
          </p:cNvPicPr>
          <p:nvPr/>
        </p:nvPicPr>
        <p:blipFill>
          <a:blip r:embed="rId5"/>
          <a:stretch>
            <a:fillRect/>
          </a:stretch>
        </p:blipFill>
        <p:spPr>
          <a:xfrm>
            <a:off x="8503920" y="2286000"/>
            <a:ext cx="2560320" cy="2560320"/>
          </a:xfrm>
          <a:prstGeom prst="rect">
            <a:avLst/>
          </a:prstGeom>
        </p:spPr>
      </p:pic>
      <p:sp>
        <p:nvSpPr>
          <p:cNvPr id="15" name="TextBox 14"/>
          <p:cNvSpPr txBox="1"/>
          <p:nvPr/>
        </p:nvSpPr>
        <p:spPr>
          <a:xfrm>
            <a:off x="8430768" y="4956048"/>
            <a:ext cx="270662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Fase inicial = 0</a:t>
            </a:r>
          </a:p>
        </p:txBody>
      </p:sp>
      <p:sp>
        <p:nvSpPr>
          <p:cNvPr id="16" name="TextBox 15"/>
          <p:cNvSpPr txBox="1"/>
          <p:nvPr/>
        </p:nvSpPr>
        <p:spPr>
          <a:xfrm>
            <a:off x="640080" y="5824728"/>
            <a:ext cx="10881360" cy="411480"/>
          </a:xfrm>
          <a:prstGeom prst="rect">
            <a:avLst/>
          </a:prstGeom>
          <a:noFill/>
        </p:spPr>
        <p:txBody>
          <a:bodyPr wrap="square" lIns="0" rIns="0" tIns="0" bIns="0">
            <a:spAutoFit/>
          </a:bodyPr>
          <a:lstStyle/>
          <a:p>
            <a:pPr>
              <a:spcAft>
                <a:spcPts val="700"/>
              </a:spcAft>
              <a:defRPr sz="2000" b="1">
                <a:solidFill>
                  <a:srgbClr val="73E5B3"/>
                </a:solidFill>
                <a:latin typeface="Liberation Sans"/>
              </a:defRPr>
            </a:pPr>
            <a:r>
              <a:t>La fase inicial es una suposición, no una medición.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92608"/>
            <a:ext cx="10058400" cy="256032"/>
          </a:xfrm>
          <a:prstGeom prst="rect">
            <a:avLst/>
          </a:prstGeom>
          <a:noFill/>
        </p:spPr>
        <p:txBody>
          <a:bodyPr wrap="square" lIns="0" rIns="0" tIns="0" bIns="0">
            <a:spAutoFit/>
          </a:bodyPr>
          <a:lstStyle/>
          <a:p>
            <a:pPr>
              <a:spcAft>
                <a:spcPts val="700"/>
              </a:spcAft>
              <a:defRPr sz="1200" b="1">
                <a:solidFill>
                  <a:srgbClr val="73E5B3"/>
                </a:solidFill>
                <a:latin typeface="Liberation Sans"/>
              </a:defRPr>
            </a:pPr>
            <a:r>
              <a:t>03 · RECONSTRUIR / 2</a:t>
            </a:r>
          </a:p>
        </p:txBody>
      </p:sp>
      <p:sp>
        <p:nvSpPr>
          <p:cNvPr id="3" name="TextBox 2"/>
          <p:cNvSpPr txBox="1"/>
          <p:nvPr/>
        </p:nvSpPr>
        <p:spPr>
          <a:xfrm>
            <a:off x="548640" y="749808"/>
            <a:ext cx="11064240" cy="621792"/>
          </a:xfrm>
          <a:prstGeom prst="rect">
            <a:avLst/>
          </a:prstGeom>
          <a:noFill/>
        </p:spPr>
        <p:txBody>
          <a:bodyPr wrap="square" lIns="0" rIns="0" tIns="0" bIns="0">
            <a:spAutoFit/>
          </a:bodyPr>
          <a:lstStyle/>
          <a:p>
            <a:pPr>
              <a:spcAft>
                <a:spcPts val="700"/>
              </a:spcAft>
              <a:defRPr sz="3000" b="1">
                <a:solidFill>
                  <a:srgbClr val="E8EEF6"/>
                </a:solidFill>
                <a:latin typeface="Liberation Sans"/>
              </a:defRPr>
            </a:pPr>
            <a:r>
              <a:t>¿Qué foto produciría nuestra estimación?</a:t>
            </a:r>
          </a:p>
        </p:txBody>
      </p:sp>
      <p:sp>
        <p:nvSpPr>
          <p:cNvPr id="4" name="TextBox 3"/>
          <p:cNvSpPr txBox="1"/>
          <p:nvPr/>
        </p:nvSpPr>
        <p:spPr>
          <a:xfrm>
            <a:off x="548640" y="1389888"/>
            <a:ext cx="11064240" cy="502920"/>
          </a:xfrm>
          <a:prstGeom prst="rect">
            <a:avLst/>
          </a:prstGeom>
          <a:noFill/>
        </p:spPr>
        <p:txBody>
          <a:bodyPr wrap="square" lIns="0" rIns="0" tIns="0" bIns="0">
            <a:spAutoFit/>
          </a:bodyPr>
          <a:lstStyle/>
          <a:p>
            <a:pPr>
              <a:spcAft>
                <a:spcPts val="700"/>
              </a:spcAft>
              <a:defRPr sz="1900" b="0">
                <a:solidFill>
                  <a:srgbClr val="A0B3C9"/>
                </a:solidFill>
                <a:latin typeface="Liberation Sans"/>
              </a:defRPr>
            </a:pPr>
            <a:r>
              <a:t>Aplicamos el modelo del microscopio con un LED elegido.</a:t>
            </a:r>
          </a:p>
        </p:txBody>
      </p:sp>
      <p:cxnSp>
        <p:nvCxnSpPr>
          <p:cNvPr id="5" name="Connector 4"/>
          <p:cNvCxnSpPr/>
          <p:nvPr/>
        </p:nvCxnSpPr>
        <p:spPr>
          <a:xfrm>
            <a:off x="548640" y="6355080"/>
            <a:ext cx="11082528" cy="0"/>
          </a:xfrm>
          <a:prstGeom prst="line">
            <a:avLst/>
          </a:prstGeom>
          <a:ln w="8890">
            <a:solidFill>
              <a:srgbClr val="36566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9144000" cy="201168"/>
          </a:xfrm>
          <a:prstGeom prst="rect">
            <a:avLst/>
          </a:prstGeom>
          <a:noFill/>
        </p:spPr>
        <p:txBody>
          <a:bodyPr wrap="square" lIns="0" rIns="0" tIns="0" bIns="0">
            <a:spAutoFit/>
          </a:bodyPr>
          <a:lstStyle/>
          <a:p>
            <a:pPr>
              <a:spcAft>
                <a:spcPts val="700"/>
              </a:spcAft>
              <a:defRPr sz="1000" b="0">
                <a:solidFill>
                  <a:srgbClr val="A0B3C9"/>
                </a:solidFill>
                <a:latin typeface="Liberation Sans"/>
              </a:defRPr>
            </a:pPr>
            <a:r>
              <a:t>Pticografía de Fourier · simulación didáctica · V1</a:t>
            </a:r>
          </a:p>
        </p:txBody>
      </p:sp>
      <p:sp>
        <p:nvSpPr>
          <p:cNvPr id="7" name="TextBox 6"/>
          <p:cNvSpPr txBox="1"/>
          <p:nvPr/>
        </p:nvSpPr>
        <p:spPr>
          <a:xfrm>
            <a:off x="10698480" y="6455664"/>
            <a:ext cx="914400" cy="228600"/>
          </a:xfrm>
          <a:prstGeom prst="rect">
            <a:avLst/>
          </a:prstGeom>
          <a:noFill/>
        </p:spPr>
        <p:txBody>
          <a:bodyPr wrap="square" lIns="0" rIns="0" tIns="0" bIns="0">
            <a:spAutoFit/>
          </a:bodyPr>
          <a:lstStyle/>
          <a:p>
            <a:pPr algn="r">
              <a:spcAft>
                <a:spcPts val="700"/>
              </a:spcAft>
              <a:defRPr sz="1100" b="0">
                <a:solidFill>
                  <a:srgbClr val="A0B3C9"/>
                </a:solidFill>
                <a:latin typeface="Liberation Sans"/>
              </a:defRPr>
            </a:pPr>
            <a:r>
              <a:t>08 / 18</a:t>
            </a:r>
          </a:p>
        </p:txBody>
      </p:sp>
      <p:cxnSp>
        <p:nvCxnSpPr>
          <p:cNvPr id="8" name="Connector 7"/>
          <p:cNvCxnSpPr/>
          <p:nvPr/>
        </p:nvCxnSpPr>
        <p:spPr>
          <a:xfrm>
            <a:off x="2657246" y="2176272"/>
            <a:ext cx="0" cy="2926080"/>
          </a:xfrm>
          <a:prstGeom prst="line">
            <a:avLst/>
          </a:prstGeom>
          <a:ln w="12700">
            <a:solidFill>
              <a:srgbClr val="36566B"/>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245766" y="2176272"/>
            <a:ext cx="822960" cy="228600"/>
          </a:xfrm>
          <a:prstGeom prst="rect">
            <a:avLst/>
          </a:prstGeom>
          <a:solidFill>
            <a:srgbClr val="131F30"/>
          </a:solidFill>
          <a:ln w="12700">
            <a:solidFill>
              <a:srgbClr val="36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154326" y="2999232"/>
            <a:ext cx="1005840" cy="182880"/>
          </a:xfrm>
          <a:prstGeom prst="ellipse">
            <a:avLst/>
          </a:prstGeom>
          <a:solidFill>
            <a:srgbClr val="131F30"/>
          </a:solidFill>
          <a:ln w="12700">
            <a:solidFill>
              <a:srgbClr val="73E5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2017166" y="3913631"/>
            <a:ext cx="1280160" cy="0"/>
          </a:xfrm>
          <a:prstGeom prst="line">
            <a:avLst/>
          </a:prstGeom>
          <a:ln w="63500">
            <a:solidFill>
              <a:srgbClr val="FFCC7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866290" y="5102352"/>
            <a:ext cx="100584" cy="100584"/>
          </a:xfrm>
          <a:prstGeom prst="ellipse">
            <a:avLst/>
          </a:prstGeom>
          <a:solidFill>
            <a:srgbClr val="365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113178" y="5102352"/>
            <a:ext cx="100584" cy="100584"/>
          </a:xfrm>
          <a:prstGeom prst="ellipse">
            <a:avLst/>
          </a:prstGeom>
          <a:solidFill>
            <a:srgbClr val="365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360066" y="5102352"/>
            <a:ext cx="100584" cy="100584"/>
          </a:xfrm>
          <a:prstGeom prst="ellipse">
            <a:avLst/>
          </a:prstGeom>
          <a:solidFill>
            <a:srgbClr val="365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606954" y="5102352"/>
            <a:ext cx="100584" cy="100584"/>
          </a:xfrm>
          <a:prstGeom prst="ellipse">
            <a:avLst/>
          </a:prstGeom>
          <a:solidFill>
            <a:srgbClr val="365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853842" y="5102352"/>
            <a:ext cx="100584" cy="100584"/>
          </a:xfrm>
          <a:prstGeom prst="ellipse">
            <a:avLst/>
          </a:prstGeom>
          <a:solidFill>
            <a:srgbClr val="73E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100730" y="5102352"/>
            <a:ext cx="100584" cy="100584"/>
          </a:xfrm>
          <a:prstGeom prst="ellipse">
            <a:avLst/>
          </a:prstGeom>
          <a:solidFill>
            <a:srgbClr val="365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347618" y="5102352"/>
            <a:ext cx="100584" cy="100584"/>
          </a:xfrm>
          <a:prstGeom prst="ellipse">
            <a:avLst/>
          </a:prstGeom>
          <a:solidFill>
            <a:srgbClr val="365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flipH="1" flipV="1">
            <a:off x="2565806" y="3913631"/>
            <a:ext cx="246888" cy="1188721"/>
          </a:xfrm>
          <a:prstGeom prst="line">
            <a:avLst/>
          </a:prstGeom>
          <a:ln w="12700">
            <a:solidFill>
              <a:srgbClr val="73E5B3"/>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2273198" y="3090672"/>
            <a:ext cx="384048" cy="822959"/>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273198" y="2404872"/>
            <a:ext cx="246888" cy="685800"/>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2657246" y="3913631"/>
            <a:ext cx="246888" cy="1188721"/>
          </a:xfrm>
          <a:prstGeom prst="line">
            <a:avLst/>
          </a:prstGeom>
          <a:ln w="12700">
            <a:solidFill>
              <a:srgbClr val="73E5B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657246" y="3090672"/>
            <a:ext cx="0" cy="822959"/>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657246" y="2404872"/>
            <a:ext cx="0" cy="685800"/>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748686" y="3913631"/>
            <a:ext cx="246888" cy="1188721"/>
          </a:xfrm>
          <a:prstGeom prst="line">
            <a:avLst/>
          </a:prstGeom>
          <a:ln w="12700">
            <a:solidFill>
              <a:srgbClr val="73E5B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657246" y="3090672"/>
            <a:ext cx="384048" cy="822959"/>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794406" y="2404872"/>
            <a:ext cx="246888" cy="685800"/>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416198" y="2148840"/>
            <a:ext cx="1828800" cy="365760"/>
          </a:xfrm>
          <a:prstGeom prst="rect">
            <a:avLst/>
          </a:prstGeom>
          <a:noFill/>
        </p:spPr>
        <p:txBody>
          <a:bodyPr wrap="square" lIns="0" rIns="0" tIns="0" bIns="0">
            <a:spAutoFit/>
          </a:bodyPr>
          <a:lstStyle/>
          <a:p>
            <a:pPr>
              <a:spcAft>
                <a:spcPts val="700"/>
              </a:spcAft>
              <a:defRPr sz="1600" b="0">
                <a:solidFill>
                  <a:srgbClr val="A0B3C9"/>
                </a:solidFill>
                <a:latin typeface="Liberation Sans"/>
              </a:defRPr>
            </a:pPr>
            <a:r>
              <a:t>Cámara</a:t>
            </a:r>
          </a:p>
        </p:txBody>
      </p:sp>
      <p:sp>
        <p:nvSpPr>
          <p:cNvPr id="29" name="TextBox 28"/>
          <p:cNvSpPr txBox="1"/>
          <p:nvPr/>
        </p:nvSpPr>
        <p:spPr>
          <a:xfrm>
            <a:off x="3416198" y="2971800"/>
            <a:ext cx="1828800" cy="365760"/>
          </a:xfrm>
          <a:prstGeom prst="rect">
            <a:avLst/>
          </a:prstGeom>
          <a:noFill/>
        </p:spPr>
        <p:txBody>
          <a:bodyPr wrap="square" lIns="0" rIns="0" tIns="0" bIns="0">
            <a:spAutoFit/>
          </a:bodyPr>
          <a:lstStyle/>
          <a:p>
            <a:pPr>
              <a:spcAft>
                <a:spcPts val="700"/>
              </a:spcAft>
              <a:defRPr sz="1600" b="0">
                <a:solidFill>
                  <a:srgbClr val="A0B3C9"/>
                </a:solidFill>
                <a:latin typeface="Liberation Sans"/>
              </a:defRPr>
            </a:pPr>
            <a:r>
              <a:t>Objetivo</a:t>
            </a:r>
          </a:p>
        </p:txBody>
      </p:sp>
      <p:sp>
        <p:nvSpPr>
          <p:cNvPr id="30" name="TextBox 29"/>
          <p:cNvSpPr txBox="1"/>
          <p:nvPr/>
        </p:nvSpPr>
        <p:spPr>
          <a:xfrm>
            <a:off x="3416198" y="3886199"/>
            <a:ext cx="1828800" cy="365760"/>
          </a:xfrm>
          <a:prstGeom prst="rect">
            <a:avLst/>
          </a:prstGeom>
          <a:noFill/>
        </p:spPr>
        <p:txBody>
          <a:bodyPr wrap="square" lIns="0" rIns="0" tIns="0" bIns="0">
            <a:spAutoFit/>
          </a:bodyPr>
          <a:lstStyle/>
          <a:p>
            <a:pPr>
              <a:spcAft>
                <a:spcPts val="700"/>
              </a:spcAft>
              <a:defRPr sz="1600" b="0">
                <a:solidFill>
                  <a:srgbClr val="A0B3C9"/>
                </a:solidFill>
                <a:latin typeface="Liberation Sans"/>
              </a:defRPr>
            </a:pPr>
            <a:r>
              <a:t>Muestra estimada</a:t>
            </a:r>
          </a:p>
        </p:txBody>
      </p:sp>
      <p:sp>
        <p:nvSpPr>
          <p:cNvPr id="31" name="TextBox 30"/>
          <p:cNvSpPr txBox="1"/>
          <p:nvPr/>
        </p:nvSpPr>
        <p:spPr>
          <a:xfrm>
            <a:off x="731520" y="5431536"/>
            <a:ext cx="4937760" cy="365760"/>
          </a:xfrm>
          <a:prstGeom prst="rect">
            <a:avLst/>
          </a:prstGeom>
          <a:noFill/>
        </p:spPr>
        <p:txBody>
          <a:bodyPr wrap="square" lIns="0" rIns="0" tIns="0" bIns="0">
            <a:spAutoFit/>
          </a:bodyPr>
          <a:lstStyle/>
          <a:p>
            <a:pPr>
              <a:spcAft>
                <a:spcPts val="700"/>
              </a:spcAft>
              <a:defRPr sz="1400" b="0">
                <a:solidFill>
                  <a:srgbClr val="A0B3C9"/>
                </a:solidFill>
                <a:latin typeface="Liberation Sans"/>
              </a:defRPr>
            </a:pPr>
            <a:r>
              <a:t>LED (1, 0) · proyección x–z</a:t>
            </a:r>
          </a:p>
        </p:txBody>
      </p:sp>
      <p:sp>
        <p:nvSpPr>
          <p:cNvPr id="32" name="Right Arrow 31"/>
          <p:cNvSpPr/>
          <p:nvPr/>
        </p:nvSpPr>
        <p:spPr>
          <a:xfrm>
            <a:off x="5760720" y="3474720"/>
            <a:ext cx="594360" cy="256032"/>
          </a:xfrm>
          <a:prstGeom prst="rightArrow">
            <a:avLst/>
          </a:prstGeom>
          <a:solidFill>
            <a:srgbClr val="73E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png"/>
          <p:cNvPicPr>
            <a:picLocks noChangeAspect="1"/>
          </p:cNvPicPr>
          <p:nvPr/>
        </p:nvPicPr>
        <p:blipFill>
          <a:blip r:embed="rId3"/>
          <a:stretch>
            <a:fillRect/>
          </a:stretch>
        </p:blipFill>
        <p:spPr>
          <a:xfrm>
            <a:off x="7406640" y="2194560"/>
            <a:ext cx="2834640" cy="2834640"/>
          </a:xfrm>
          <a:prstGeom prst="rect">
            <a:avLst/>
          </a:prstGeom>
        </p:spPr>
      </p:pic>
      <p:sp>
        <p:nvSpPr>
          <p:cNvPr id="34" name="TextBox 33"/>
          <p:cNvSpPr txBox="1"/>
          <p:nvPr/>
        </p:nvSpPr>
        <p:spPr>
          <a:xfrm>
            <a:off x="7333488" y="5138928"/>
            <a:ext cx="298094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Foto predicha · campo claro</a:t>
            </a:r>
          </a:p>
        </p:txBody>
      </p:sp>
      <p:sp>
        <p:nvSpPr>
          <p:cNvPr id="35" name="TextBox 34"/>
          <p:cNvSpPr txBox="1"/>
          <p:nvPr/>
        </p:nvSpPr>
        <p:spPr>
          <a:xfrm>
            <a:off x="640080" y="5824728"/>
            <a:ext cx="10881360" cy="411480"/>
          </a:xfrm>
          <a:prstGeom prst="rect">
            <a:avLst/>
          </a:prstGeom>
          <a:noFill/>
        </p:spPr>
        <p:txBody>
          <a:bodyPr wrap="square" lIns="0" rIns="0" tIns="0" bIns="0">
            <a:spAutoFit/>
          </a:bodyPr>
          <a:lstStyle/>
          <a:p>
            <a:pPr>
              <a:spcAft>
                <a:spcPts val="700"/>
              </a:spcAft>
              <a:defRPr sz="2000" b="1">
                <a:solidFill>
                  <a:srgbClr val="73E5B3"/>
                </a:solidFill>
                <a:latin typeface="Liberation Sans"/>
              </a:defRPr>
            </a:pPr>
            <a:r>
              <a:t>Esta foto la calcula el modelo a partir del objeto estimado.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92608"/>
            <a:ext cx="10058400" cy="256032"/>
          </a:xfrm>
          <a:prstGeom prst="rect">
            <a:avLst/>
          </a:prstGeom>
          <a:noFill/>
        </p:spPr>
        <p:txBody>
          <a:bodyPr wrap="square" lIns="0" rIns="0" tIns="0" bIns="0">
            <a:spAutoFit/>
          </a:bodyPr>
          <a:lstStyle/>
          <a:p>
            <a:pPr>
              <a:spcAft>
                <a:spcPts val="700"/>
              </a:spcAft>
              <a:defRPr sz="1200" b="1">
                <a:solidFill>
                  <a:srgbClr val="73E5B3"/>
                </a:solidFill>
                <a:latin typeface="Liberation Sans"/>
              </a:defRPr>
            </a:pPr>
            <a:r>
              <a:t>03 · RECONSTRUIR / 3</a:t>
            </a:r>
          </a:p>
        </p:txBody>
      </p:sp>
      <p:sp>
        <p:nvSpPr>
          <p:cNvPr id="3" name="TextBox 2"/>
          <p:cNvSpPr txBox="1"/>
          <p:nvPr/>
        </p:nvSpPr>
        <p:spPr>
          <a:xfrm>
            <a:off x="548640" y="749808"/>
            <a:ext cx="11064240" cy="621792"/>
          </a:xfrm>
          <a:prstGeom prst="rect">
            <a:avLst/>
          </a:prstGeom>
          <a:noFill/>
        </p:spPr>
        <p:txBody>
          <a:bodyPr wrap="square" lIns="0" rIns="0" tIns="0" bIns="0">
            <a:spAutoFit/>
          </a:bodyPr>
          <a:lstStyle/>
          <a:p>
            <a:pPr>
              <a:spcAft>
                <a:spcPts val="700"/>
              </a:spcAft>
              <a:defRPr sz="3000" b="1">
                <a:solidFill>
                  <a:srgbClr val="E8EEF6"/>
                </a:solidFill>
                <a:latin typeface="Liberation Sans"/>
              </a:defRPr>
            </a:pPr>
            <a:r>
              <a:t>Medición y predicción: el mismo LED</a:t>
            </a:r>
          </a:p>
        </p:txBody>
      </p:sp>
      <p:sp>
        <p:nvSpPr>
          <p:cNvPr id="4" name="TextBox 3"/>
          <p:cNvSpPr txBox="1"/>
          <p:nvPr/>
        </p:nvSpPr>
        <p:spPr>
          <a:xfrm>
            <a:off x="548640" y="1389888"/>
            <a:ext cx="11064240" cy="502920"/>
          </a:xfrm>
          <a:prstGeom prst="rect">
            <a:avLst/>
          </a:prstGeom>
          <a:noFill/>
        </p:spPr>
        <p:txBody>
          <a:bodyPr wrap="square" lIns="0" rIns="0" tIns="0" bIns="0">
            <a:spAutoFit/>
          </a:bodyPr>
          <a:lstStyle/>
          <a:p>
            <a:pPr>
              <a:spcAft>
                <a:spcPts val="700"/>
              </a:spcAft>
              <a:defRPr sz="1900" b="0">
                <a:solidFill>
                  <a:srgbClr val="A0B3C9"/>
                </a:solidFill>
                <a:latin typeface="Liberation Sans"/>
              </a:defRPr>
            </a:pPr>
            <a:r>
              <a:t>La medición queda fija; la predicción depende de nuestra estimación.</a:t>
            </a:r>
          </a:p>
        </p:txBody>
      </p:sp>
      <p:cxnSp>
        <p:nvCxnSpPr>
          <p:cNvPr id="5" name="Connector 4"/>
          <p:cNvCxnSpPr/>
          <p:nvPr/>
        </p:nvCxnSpPr>
        <p:spPr>
          <a:xfrm>
            <a:off x="548640" y="6355080"/>
            <a:ext cx="11082528" cy="0"/>
          </a:xfrm>
          <a:prstGeom prst="line">
            <a:avLst/>
          </a:prstGeom>
          <a:ln w="8890">
            <a:solidFill>
              <a:srgbClr val="36566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9144000" cy="201168"/>
          </a:xfrm>
          <a:prstGeom prst="rect">
            <a:avLst/>
          </a:prstGeom>
          <a:noFill/>
        </p:spPr>
        <p:txBody>
          <a:bodyPr wrap="square" lIns="0" rIns="0" tIns="0" bIns="0">
            <a:spAutoFit/>
          </a:bodyPr>
          <a:lstStyle/>
          <a:p>
            <a:pPr>
              <a:spcAft>
                <a:spcPts val="700"/>
              </a:spcAft>
              <a:defRPr sz="1000" b="0">
                <a:solidFill>
                  <a:srgbClr val="A0B3C9"/>
                </a:solidFill>
                <a:latin typeface="Liberation Sans"/>
              </a:defRPr>
            </a:pPr>
            <a:r>
              <a:t>Pticografía de Fourier · simulación didáctica · V1</a:t>
            </a:r>
          </a:p>
        </p:txBody>
      </p:sp>
      <p:sp>
        <p:nvSpPr>
          <p:cNvPr id="7" name="TextBox 6"/>
          <p:cNvSpPr txBox="1"/>
          <p:nvPr/>
        </p:nvSpPr>
        <p:spPr>
          <a:xfrm>
            <a:off x="10698480" y="6455664"/>
            <a:ext cx="914400" cy="228600"/>
          </a:xfrm>
          <a:prstGeom prst="rect">
            <a:avLst/>
          </a:prstGeom>
          <a:noFill/>
        </p:spPr>
        <p:txBody>
          <a:bodyPr wrap="square" lIns="0" rIns="0" tIns="0" bIns="0">
            <a:spAutoFit/>
          </a:bodyPr>
          <a:lstStyle/>
          <a:p>
            <a:pPr algn="r">
              <a:spcAft>
                <a:spcPts val="700"/>
              </a:spcAft>
              <a:defRPr sz="1100" b="0">
                <a:solidFill>
                  <a:srgbClr val="A0B3C9"/>
                </a:solidFill>
                <a:latin typeface="Liberation Sans"/>
              </a:defRPr>
            </a:pPr>
            <a:r>
              <a:t>09 / 18</a:t>
            </a:r>
          </a:p>
        </p:txBody>
      </p:sp>
      <p:sp>
        <p:nvSpPr>
          <p:cNvPr id="8" name="TextBox 7"/>
          <p:cNvSpPr txBox="1"/>
          <p:nvPr/>
        </p:nvSpPr>
        <p:spPr>
          <a:xfrm>
            <a:off x="594360" y="2578608"/>
            <a:ext cx="1280160" cy="457200"/>
          </a:xfrm>
          <a:prstGeom prst="rect">
            <a:avLst/>
          </a:prstGeom>
          <a:noFill/>
        </p:spPr>
        <p:txBody>
          <a:bodyPr wrap="square" lIns="0" rIns="0" tIns="0" bIns="0">
            <a:spAutoFit/>
          </a:bodyPr>
          <a:lstStyle/>
          <a:p>
            <a:pPr>
              <a:spcAft>
                <a:spcPts val="700"/>
              </a:spcAft>
              <a:defRPr sz="2000" b="1">
                <a:solidFill>
                  <a:srgbClr val="73E5B3"/>
                </a:solidFill>
                <a:latin typeface="Liberation Sans"/>
              </a:defRPr>
            </a:pPr>
            <a:r>
              <a:t>Medida</a:t>
            </a:r>
          </a:p>
        </p:txBody>
      </p:sp>
      <p:sp>
        <p:nvSpPr>
          <p:cNvPr id="9" name="TextBox 8"/>
          <p:cNvSpPr txBox="1"/>
          <p:nvPr/>
        </p:nvSpPr>
        <p:spPr>
          <a:xfrm>
            <a:off x="594360" y="4526280"/>
            <a:ext cx="1280160" cy="457200"/>
          </a:xfrm>
          <a:prstGeom prst="rect">
            <a:avLst/>
          </a:prstGeom>
          <a:noFill/>
        </p:spPr>
        <p:txBody>
          <a:bodyPr wrap="square" lIns="0" rIns="0" tIns="0" bIns="0">
            <a:spAutoFit/>
          </a:bodyPr>
          <a:lstStyle/>
          <a:p>
            <a:pPr>
              <a:spcAft>
                <a:spcPts val="700"/>
              </a:spcAft>
              <a:defRPr sz="2000" b="1">
                <a:solidFill>
                  <a:srgbClr val="FFCC75"/>
                </a:solidFill>
                <a:latin typeface="Liberation Sans"/>
              </a:defRPr>
            </a:pPr>
            <a:r>
              <a:t>Predicha</a:t>
            </a:r>
          </a:p>
        </p:txBody>
      </p:sp>
      <p:sp>
        <p:nvSpPr>
          <p:cNvPr id="10" name="TextBox 9"/>
          <p:cNvSpPr txBox="1"/>
          <p:nvPr/>
        </p:nvSpPr>
        <p:spPr>
          <a:xfrm>
            <a:off x="2011679" y="1938528"/>
            <a:ext cx="2377440" cy="365760"/>
          </a:xfrm>
          <a:prstGeom prst="rect">
            <a:avLst/>
          </a:prstGeom>
          <a:noFill/>
        </p:spPr>
        <p:txBody>
          <a:bodyPr wrap="square" lIns="0" rIns="0" tIns="0" bIns="0">
            <a:spAutoFit/>
          </a:bodyPr>
          <a:lstStyle/>
          <a:p>
            <a:pPr algn="ctr">
              <a:spcAft>
                <a:spcPts val="700"/>
              </a:spcAft>
              <a:defRPr sz="1500" b="0">
                <a:solidFill>
                  <a:srgbClr val="A0B3C9"/>
                </a:solidFill>
                <a:latin typeface="Liberation Sans"/>
              </a:defRPr>
            </a:pPr>
            <a:r>
              <a:t>Central</a:t>
            </a:r>
          </a:p>
        </p:txBody>
      </p:sp>
      <p:pic>
        <p:nvPicPr>
          <p:cNvPr id="11" name="Picture 10" descr="image.png"/>
          <p:cNvPicPr>
            <a:picLocks noChangeAspect="1"/>
          </p:cNvPicPr>
          <p:nvPr/>
        </p:nvPicPr>
        <p:blipFill>
          <a:blip r:embed="rId3"/>
          <a:stretch>
            <a:fillRect/>
          </a:stretch>
        </p:blipFill>
        <p:spPr>
          <a:xfrm>
            <a:off x="2331720" y="2395728"/>
            <a:ext cx="1600200" cy="1600200"/>
          </a:xfrm>
          <a:prstGeom prst="rect">
            <a:avLst/>
          </a:prstGeom>
        </p:spPr>
      </p:pic>
      <p:pic>
        <p:nvPicPr>
          <p:cNvPr id="12" name="Picture 11" descr="image.png"/>
          <p:cNvPicPr>
            <a:picLocks noChangeAspect="1"/>
          </p:cNvPicPr>
          <p:nvPr/>
        </p:nvPicPr>
        <p:blipFill>
          <a:blip r:embed="rId4"/>
          <a:stretch>
            <a:fillRect/>
          </a:stretch>
        </p:blipFill>
        <p:spPr>
          <a:xfrm>
            <a:off x="2331720" y="4114800"/>
            <a:ext cx="1600200" cy="1600200"/>
          </a:xfrm>
          <a:prstGeom prst="rect">
            <a:avLst/>
          </a:prstGeom>
        </p:spPr>
      </p:pic>
      <p:sp>
        <p:nvSpPr>
          <p:cNvPr id="13" name="TextBox 12"/>
          <p:cNvSpPr txBox="1"/>
          <p:nvPr/>
        </p:nvSpPr>
        <p:spPr>
          <a:xfrm>
            <a:off x="5257800" y="1938528"/>
            <a:ext cx="2377440" cy="365760"/>
          </a:xfrm>
          <a:prstGeom prst="rect">
            <a:avLst/>
          </a:prstGeom>
          <a:noFill/>
        </p:spPr>
        <p:txBody>
          <a:bodyPr wrap="square" lIns="0" rIns="0" tIns="0" bIns="0">
            <a:spAutoFit/>
          </a:bodyPr>
          <a:lstStyle/>
          <a:p>
            <a:pPr algn="ctr">
              <a:spcAft>
                <a:spcPts val="700"/>
              </a:spcAft>
              <a:defRPr sz="1500" b="0">
                <a:solidFill>
                  <a:srgbClr val="A0B3C9"/>
                </a:solidFill>
                <a:latin typeface="Liberation Sans"/>
              </a:defRPr>
            </a:pPr>
            <a:r>
              <a:t>Oblicuo · campo claro</a:t>
            </a:r>
          </a:p>
        </p:txBody>
      </p:sp>
      <p:pic>
        <p:nvPicPr>
          <p:cNvPr id="14" name="Picture 13" descr="image.png"/>
          <p:cNvPicPr>
            <a:picLocks noChangeAspect="1"/>
          </p:cNvPicPr>
          <p:nvPr/>
        </p:nvPicPr>
        <p:blipFill>
          <a:blip r:embed="rId5"/>
          <a:stretch>
            <a:fillRect/>
          </a:stretch>
        </p:blipFill>
        <p:spPr>
          <a:xfrm>
            <a:off x="5577840" y="2395728"/>
            <a:ext cx="1600200" cy="1600200"/>
          </a:xfrm>
          <a:prstGeom prst="rect">
            <a:avLst/>
          </a:prstGeom>
        </p:spPr>
      </p:pic>
      <p:pic>
        <p:nvPicPr>
          <p:cNvPr id="15" name="Picture 14" descr="image.png"/>
          <p:cNvPicPr>
            <a:picLocks noChangeAspect="1"/>
          </p:cNvPicPr>
          <p:nvPr/>
        </p:nvPicPr>
        <p:blipFill>
          <a:blip r:embed="rId6"/>
          <a:stretch>
            <a:fillRect/>
          </a:stretch>
        </p:blipFill>
        <p:spPr>
          <a:xfrm>
            <a:off x="5577840" y="4114800"/>
            <a:ext cx="1600200" cy="1600200"/>
          </a:xfrm>
          <a:prstGeom prst="rect">
            <a:avLst/>
          </a:prstGeom>
        </p:spPr>
      </p:pic>
      <p:sp>
        <p:nvSpPr>
          <p:cNvPr id="16" name="TextBox 15"/>
          <p:cNvSpPr txBox="1"/>
          <p:nvPr/>
        </p:nvSpPr>
        <p:spPr>
          <a:xfrm>
            <a:off x="8503919" y="1938528"/>
            <a:ext cx="2377440" cy="365760"/>
          </a:xfrm>
          <a:prstGeom prst="rect">
            <a:avLst/>
          </a:prstGeom>
          <a:noFill/>
        </p:spPr>
        <p:txBody>
          <a:bodyPr wrap="square" lIns="0" rIns="0" tIns="0" bIns="0">
            <a:spAutoFit/>
          </a:bodyPr>
          <a:lstStyle/>
          <a:p>
            <a:pPr algn="ctr">
              <a:spcAft>
                <a:spcPts val="700"/>
              </a:spcAft>
              <a:defRPr sz="1500" b="0">
                <a:solidFill>
                  <a:srgbClr val="A0B3C9"/>
                </a:solidFill>
                <a:latin typeface="Liberation Sans"/>
              </a:defRPr>
            </a:pPr>
            <a:r>
              <a:t>Oblicuo · campo oscuro</a:t>
            </a:r>
          </a:p>
        </p:txBody>
      </p:sp>
      <p:pic>
        <p:nvPicPr>
          <p:cNvPr id="17" name="Picture 16" descr="image.png"/>
          <p:cNvPicPr>
            <a:picLocks noChangeAspect="1"/>
          </p:cNvPicPr>
          <p:nvPr/>
        </p:nvPicPr>
        <p:blipFill>
          <a:blip r:embed="rId7"/>
          <a:stretch>
            <a:fillRect/>
          </a:stretch>
        </p:blipFill>
        <p:spPr>
          <a:xfrm>
            <a:off x="8823959" y="2395728"/>
            <a:ext cx="1600200" cy="1600200"/>
          </a:xfrm>
          <a:prstGeom prst="rect">
            <a:avLst/>
          </a:prstGeom>
        </p:spPr>
      </p:pic>
      <p:pic>
        <p:nvPicPr>
          <p:cNvPr id="18" name="Picture 17" descr="image.png"/>
          <p:cNvPicPr>
            <a:picLocks noChangeAspect="1"/>
          </p:cNvPicPr>
          <p:nvPr/>
        </p:nvPicPr>
        <p:blipFill>
          <a:blip r:embed="rId8"/>
          <a:stretch>
            <a:fillRect/>
          </a:stretch>
        </p:blipFill>
        <p:spPr>
          <a:xfrm>
            <a:off x="8823959" y="4114800"/>
            <a:ext cx="1600200" cy="1600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92608"/>
            <a:ext cx="10058400" cy="256032"/>
          </a:xfrm>
          <a:prstGeom prst="rect">
            <a:avLst/>
          </a:prstGeom>
          <a:noFill/>
        </p:spPr>
        <p:txBody>
          <a:bodyPr wrap="square" lIns="0" rIns="0" tIns="0" bIns="0">
            <a:spAutoFit/>
          </a:bodyPr>
          <a:lstStyle/>
          <a:p>
            <a:pPr>
              <a:spcAft>
                <a:spcPts val="700"/>
              </a:spcAft>
              <a:defRPr sz="1200" b="1">
                <a:solidFill>
                  <a:srgbClr val="73E5B3"/>
                </a:solidFill>
                <a:latin typeface="Liberation Sans"/>
              </a:defRPr>
            </a:pPr>
            <a:r>
              <a:t>03 · RECONSTRUIR / 4</a:t>
            </a:r>
          </a:p>
        </p:txBody>
      </p:sp>
      <p:sp>
        <p:nvSpPr>
          <p:cNvPr id="3" name="TextBox 2"/>
          <p:cNvSpPr txBox="1"/>
          <p:nvPr/>
        </p:nvSpPr>
        <p:spPr>
          <a:xfrm>
            <a:off x="548640" y="749808"/>
            <a:ext cx="11064240" cy="621792"/>
          </a:xfrm>
          <a:prstGeom prst="rect">
            <a:avLst/>
          </a:prstGeom>
          <a:noFill/>
        </p:spPr>
        <p:txBody>
          <a:bodyPr wrap="square" lIns="0" rIns="0" tIns="0" bIns="0">
            <a:spAutoFit/>
          </a:bodyPr>
          <a:lstStyle/>
          <a:p>
            <a:pPr>
              <a:spcAft>
                <a:spcPts val="700"/>
              </a:spcAft>
              <a:defRPr sz="3000" b="1">
                <a:solidFill>
                  <a:srgbClr val="E8EEF6"/>
                </a:solidFill>
                <a:latin typeface="Liberation Sans"/>
              </a:defRPr>
            </a:pPr>
            <a:r>
              <a:t>La diferencia indica qué corregir</a:t>
            </a:r>
          </a:p>
        </p:txBody>
      </p:sp>
      <p:sp>
        <p:nvSpPr>
          <p:cNvPr id="4" name="TextBox 3"/>
          <p:cNvSpPr txBox="1"/>
          <p:nvPr/>
        </p:nvSpPr>
        <p:spPr>
          <a:xfrm>
            <a:off x="548640" y="1389888"/>
            <a:ext cx="11064240" cy="502920"/>
          </a:xfrm>
          <a:prstGeom prst="rect">
            <a:avLst/>
          </a:prstGeom>
          <a:noFill/>
        </p:spPr>
        <p:txBody>
          <a:bodyPr wrap="square" lIns="0" rIns="0" tIns="0" bIns="0">
            <a:spAutoFit/>
          </a:bodyPr>
          <a:lstStyle/>
          <a:p>
            <a:pPr>
              <a:spcAft>
                <a:spcPts val="700"/>
              </a:spcAft>
              <a:defRPr sz="1900" b="0">
                <a:solidFill>
                  <a:srgbClr val="A0B3C9"/>
                </a:solidFill>
                <a:latin typeface="Liberation Sans"/>
              </a:defRPr>
            </a:pPr>
            <a:r>
              <a:t>Comparamos módulos: raíz de intensidad medida y amplitud predicha.</a:t>
            </a:r>
          </a:p>
        </p:txBody>
      </p:sp>
      <p:cxnSp>
        <p:nvCxnSpPr>
          <p:cNvPr id="5" name="Connector 4"/>
          <p:cNvCxnSpPr/>
          <p:nvPr/>
        </p:nvCxnSpPr>
        <p:spPr>
          <a:xfrm>
            <a:off x="548640" y="6355080"/>
            <a:ext cx="11082528" cy="0"/>
          </a:xfrm>
          <a:prstGeom prst="line">
            <a:avLst/>
          </a:prstGeom>
          <a:ln w="8890">
            <a:solidFill>
              <a:srgbClr val="36566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9144000" cy="201168"/>
          </a:xfrm>
          <a:prstGeom prst="rect">
            <a:avLst/>
          </a:prstGeom>
          <a:noFill/>
        </p:spPr>
        <p:txBody>
          <a:bodyPr wrap="square" lIns="0" rIns="0" tIns="0" bIns="0">
            <a:spAutoFit/>
          </a:bodyPr>
          <a:lstStyle/>
          <a:p>
            <a:pPr>
              <a:spcAft>
                <a:spcPts val="700"/>
              </a:spcAft>
              <a:defRPr sz="1000" b="0">
                <a:solidFill>
                  <a:srgbClr val="A0B3C9"/>
                </a:solidFill>
                <a:latin typeface="Liberation Sans"/>
              </a:defRPr>
            </a:pPr>
            <a:r>
              <a:t>Pticografía de Fourier · simulación didáctica · V1</a:t>
            </a:r>
          </a:p>
        </p:txBody>
      </p:sp>
      <p:sp>
        <p:nvSpPr>
          <p:cNvPr id="7" name="TextBox 6"/>
          <p:cNvSpPr txBox="1"/>
          <p:nvPr/>
        </p:nvSpPr>
        <p:spPr>
          <a:xfrm>
            <a:off x="10698480" y="6455664"/>
            <a:ext cx="914400" cy="228600"/>
          </a:xfrm>
          <a:prstGeom prst="rect">
            <a:avLst/>
          </a:prstGeom>
          <a:noFill/>
        </p:spPr>
        <p:txBody>
          <a:bodyPr wrap="square" lIns="0" rIns="0" tIns="0" bIns="0">
            <a:spAutoFit/>
          </a:bodyPr>
          <a:lstStyle/>
          <a:p>
            <a:pPr algn="r">
              <a:spcAft>
                <a:spcPts val="700"/>
              </a:spcAft>
              <a:defRPr sz="1100" b="0">
                <a:solidFill>
                  <a:srgbClr val="A0B3C9"/>
                </a:solidFill>
                <a:latin typeface="Liberation Sans"/>
              </a:defRPr>
            </a:pPr>
            <a:r>
              <a:t>10 / 18</a:t>
            </a:r>
          </a:p>
        </p:txBody>
      </p:sp>
      <p:pic>
        <p:nvPicPr>
          <p:cNvPr id="8" name="Picture 7" descr="image.png"/>
          <p:cNvPicPr>
            <a:picLocks noChangeAspect="1"/>
          </p:cNvPicPr>
          <p:nvPr/>
        </p:nvPicPr>
        <p:blipFill>
          <a:blip r:embed="rId3"/>
          <a:stretch>
            <a:fillRect/>
          </a:stretch>
        </p:blipFill>
        <p:spPr>
          <a:xfrm>
            <a:off x="822960" y="2286000"/>
            <a:ext cx="2560320" cy="2560320"/>
          </a:xfrm>
          <a:prstGeom prst="rect">
            <a:avLst/>
          </a:prstGeom>
        </p:spPr>
      </p:pic>
      <p:sp>
        <p:nvSpPr>
          <p:cNvPr id="9" name="TextBox 8"/>
          <p:cNvSpPr txBox="1"/>
          <p:nvPr/>
        </p:nvSpPr>
        <p:spPr>
          <a:xfrm>
            <a:off x="749808" y="4956048"/>
            <a:ext cx="270662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Intensidad medida</a:t>
            </a:r>
          </a:p>
        </p:txBody>
      </p:sp>
      <p:pic>
        <p:nvPicPr>
          <p:cNvPr id="10" name="Picture 9" descr="image.png"/>
          <p:cNvPicPr>
            <a:picLocks noChangeAspect="1"/>
          </p:cNvPicPr>
          <p:nvPr/>
        </p:nvPicPr>
        <p:blipFill>
          <a:blip r:embed="rId4"/>
          <a:stretch>
            <a:fillRect/>
          </a:stretch>
        </p:blipFill>
        <p:spPr>
          <a:xfrm>
            <a:off x="4572000" y="2286000"/>
            <a:ext cx="2560320" cy="2560320"/>
          </a:xfrm>
          <a:prstGeom prst="rect">
            <a:avLst/>
          </a:prstGeom>
        </p:spPr>
      </p:pic>
      <p:sp>
        <p:nvSpPr>
          <p:cNvPr id="11" name="TextBox 10"/>
          <p:cNvSpPr txBox="1"/>
          <p:nvPr/>
        </p:nvSpPr>
        <p:spPr>
          <a:xfrm>
            <a:off x="4498848" y="4956048"/>
            <a:ext cx="270662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Intensidad predicha</a:t>
            </a:r>
          </a:p>
        </p:txBody>
      </p:sp>
      <p:pic>
        <p:nvPicPr>
          <p:cNvPr id="12" name="Picture 11" descr="image.png"/>
          <p:cNvPicPr>
            <a:picLocks noChangeAspect="1"/>
          </p:cNvPicPr>
          <p:nvPr/>
        </p:nvPicPr>
        <p:blipFill>
          <a:blip r:embed="rId5"/>
          <a:stretch>
            <a:fillRect/>
          </a:stretch>
        </p:blipFill>
        <p:spPr>
          <a:xfrm>
            <a:off x="8366760" y="2286000"/>
            <a:ext cx="2560320" cy="2560320"/>
          </a:xfrm>
          <a:prstGeom prst="rect">
            <a:avLst/>
          </a:prstGeom>
        </p:spPr>
      </p:pic>
      <p:sp>
        <p:nvSpPr>
          <p:cNvPr id="13" name="TextBox 12"/>
          <p:cNvSpPr txBox="1"/>
          <p:nvPr/>
        </p:nvSpPr>
        <p:spPr>
          <a:xfrm>
            <a:off x="8293608" y="4956048"/>
            <a:ext cx="270662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Residual de amplitud</a:t>
            </a:r>
          </a:p>
        </p:txBody>
      </p:sp>
      <p:sp>
        <p:nvSpPr>
          <p:cNvPr id="14" name="TextBox 13"/>
          <p:cNvSpPr txBox="1"/>
          <p:nvPr/>
        </p:nvSpPr>
        <p:spPr>
          <a:xfrm>
            <a:off x="4480560" y="5760720"/>
            <a:ext cx="2926080" cy="411480"/>
          </a:xfrm>
          <a:prstGeom prst="rect">
            <a:avLst/>
          </a:prstGeom>
          <a:noFill/>
        </p:spPr>
        <p:txBody>
          <a:bodyPr wrap="square" lIns="0" rIns="0" tIns="0" bIns="0">
            <a:spAutoFit/>
          </a:bodyPr>
          <a:lstStyle/>
          <a:p>
            <a:pPr>
              <a:spcAft>
                <a:spcPts val="700"/>
              </a:spcAft>
              <a:defRPr sz="1900" b="0">
                <a:solidFill>
                  <a:srgbClr val="FF8C52"/>
                </a:solidFill>
                <a:latin typeface="Liberation Sans"/>
              </a:defRPr>
            </a:pPr>
            <a:r>
              <a:t>Naranja: sobra</a:t>
            </a:r>
          </a:p>
        </p:txBody>
      </p:sp>
      <p:sp>
        <p:nvSpPr>
          <p:cNvPr id="15" name="TextBox 14"/>
          <p:cNvSpPr txBox="1"/>
          <p:nvPr/>
        </p:nvSpPr>
        <p:spPr>
          <a:xfrm>
            <a:off x="7680960" y="5760720"/>
            <a:ext cx="2743200" cy="411480"/>
          </a:xfrm>
          <a:prstGeom prst="rect">
            <a:avLst/>
          </a:prstGeom>
          <a:noFill/>
        </p:spPr>
        <p:txBody>
          <a:bodyPr wrap="square" lIns="0" rIns="0" tIns="0" bIns="0">
            <a:spAutoFit/>
          </a:bodyPr>
          <a:lstStyle/>
          <a:p>
            <a:pPr>
              <a:spcAft>
                <a:spcPts val="700"/>
              </a:spcAft>
              <a:defRPr sz="1900" b="0">
                <a:solidFill>
                  <a:srgbClr val="40A6FF"/>
                </a:solidFill>
                <a:latin typeface="Liberation Sans"/>
              </a:defRPr>
            </a:pPr>
            <a:r>
              <a:t>Azul: falta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92608"/>
            <a:ext cx="10058400" cy="256032"/>
          </a:xfrm>
          <a:prstGeom prst="rect">
            <a:avLst/>
          </a:prstGeom>
          <a:noFill/>
        </p:spPr>
        <p:txBody>
          <a:bodyPr wrap="square" lIns="0" rIns="0" tIns="0" bIns="0">
            <a:spAutoFit/>
          </a:bodyPr>
          <a:lstStyle/>
          <a:p>
            <a:pPr>
              <a:spcAft>
                <a:spcPts val="700"/>
              </a:spcAft>
              <a:defRPr sz="1200" b="1">
                <a:solidFill>
                  <a:srgbClr val="73E5B3"/>
                </a:solidFill>
                <a:latin typeface="Liberation Sans"/>
              </a:defRPr>
            </a:pPr>
            <a:r>
              <a:t>03 · RECONSTRUIR / 5</a:t>
            </a:r>
          </a:p>
        </p:txBody>
      </p:sp>
      <p:sp>
        <p:nvSpPr>
          <p:cNvPr id="3" name="TextBox 2"/>
          <p:cNvSpPr txBox="1"/>
          <p:nvPr/>
        </p:nvSpPr>
        <p:spPr>
          <a:xfrm>
            <a:off x="548640" y="749808"/>
            <a:ext cx="11064240" cy="621792"/>
          </a:xfrm>
          <a:prstGeom prst="rect">
            <a:avLst/>
          </a:prstGeom>
          <a:noFill/>
        </p:spPr>
        <p:txBody>
          <a:bodyPr wrap="square" lIns="0" rIns="0" tIns="0" bIns="0">
            <a:spAutoFit/>
          </a:bodyPr>
          <a:lstStyle/>
          <a:p>
            <a:pPr>
              <a:spcAft>
                <a:spcPts val="700"/>
              </a:spcAft>
              <a:defRPr sz="3000" b="1">
                <a:solidFill>
                  <a:srgbClr val="E8EEF6"/>
                </a:solidFill>
                <a:latin typeface="Liberation Sans"/>
              </a:defRPr>
            </a:pPr>
            <a:r>
              <a:t>Llevamos la corrección a Fourier</a:t>
            </a:r>
          </a:p>
        </p:txBody>
      </p:sp>
      <p:sp>
        <p:nvSpPr>
          <p:cNvPr id="4" name="TextBox 3"/>
          <p:cNvSpPr txBox="1"/>
          <p:nvPr/>
        </p:nvSpPr>
        <p:spPr>
          <a:xfrm>
            <a:off x="548640" y="1389888"/>
            <a:ext cx="11064240" cy="502920"/>
          </a:xfrm>
          <a:prstGeom prst="rect">
            <a:avLst/>
          </a:prstGeom>
          <a:noFill/>
        </p:spPr>
        <p:txBody>
          <a:bodyPr wrap="square" lIns="0" rIns="0" tIns="0" bIns="0">
            <a:spAutoFit/>
          </a:bodyPr>
          <a:lstStyle/>
          <a:p>
            <a:pPr>
              <a:spcAft>
                <a:spcPts val="700"/>
              </a:spcAft>
              <a:defRPr sz="1900" b="0">
                <a:solidFill>
                  <a:srgbClr val="A0B3C9"/>
                </a:solidFill>
                <a:latin typeface="Liberation Sans"/>
              </a:defRPr>
            </a:pPr>
            <a:r>
              <a:t>El residual y la fase estimada determinan una corrección compleja.</a:t>
            </a:r>
          </a:p>
        </p:txBody>
      </p:sp>
      <p:cxnSp>
        <p:nvCxnSpPr>
          <p:cNvPr id="5" name="Connector 4"/>
          <p:cNvCxnSpPr/>
          <p:nvPr/>
        </p:nvCxnSpPr>
        <p:spPr>
          <a:xfrm>
            <a:off x="548640" y="6355080"/>
            <a:ext cx="11082528" cy="0"/>
          </a:xfrm>
          <a:prstGeom prst="line">
            <a:avLst/>
          </a:prstGeom>
          <a:ln w="8890">
            <a:solidFill>
              <a:srgbClr val="36566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9144000" cy="201168"/>
          </a:xfrm>
          <a:prstGeom prst="rect">
            <a:avLst/>
          </a:prstGeom>
          <a:noFill/>
        </p:spPr>
        <p:txBody>
          <a:bodyPr wrap="square" lIns="0" rIns="0" tIns="0" bIns="0">
            <a:spAutoFit/>
          </a:bodyPr>
          <a:lstStyle/>
          <a:p>
            <a:pPr>
              <a:spcAft>
                <a:spcPts val="700"/>
              </a:spcAft>
              <a:defRPr sz="1000" b="0">
                <a:solidFill>
                  <a:srgbClr val="A0B3C9"/>
                </a:solidFill>
                <a:latin typeface="Liberation Sans"/>
              </a:defRPr>
            </a:pPr>
            <a:r>
              <a:t>Pticografía de Fourier · simulación didáctica · V1</a:t>
            </a:r>
          </a:p>
        </p:txBody>
      </p:sp>
      <p:sp>
        <p:nvSpPr>
          <p:cNvPr id="7" name="TextBox 6"/>
          <p:cNvSpPr txBox="1"/>
          <p:nvPr/>
        </p:nvSpPr>
        <p:spPr>
          <a:xfrm>
            <a:off x="10698480" y="6455664"/>
            <a:ext cx="914400" cy="228600"/>
          </a:xfrm>
          <a:prstGeom prst="rect">
            <a:avLst/>
          </a:prstGeom>
          <a:noFill/>
        </p:spPr>
        <p:txBody>
          <a:bodyPr wrap="square" lIns="0" rIns="0" tIns="0" bIns="0">
            <a:spAutoFit/>
          </a:bodyPr>
          <a:lstStyle/>
          <a:p>
            <a:pPr algn="r">
              <a:spcAft>
                <a:spcPts val="700"/>
              </a:spcAft>
              <a:defRPr sz="1100" b="0">
                <a:solidFill>
                  <a:srgbClr val="A0B3C9"/>
                </a:solidFill>
                <a:latin typeface="Liberation Sans"/>
              </a:defRPr>
            </a:pPr>
            <a:r>
              <a:t>11 / 18</a:t>
            </a:r>
          </a:p>
        </p:txBody>
      </p:sp>
      <p:pic>
        <p:nvPicPr>
          <p:cNvPr id="8" name="Picture 7" descr="image.png"/>
          <p:cNvPicPr>
            <a:picLocks noChangeAspect="1"/>
          </p:cNvPicPr>
          <p:nvPr/>
        </p:nvPicPr>
        <p:blipFill>
          <a:blip r:embed="rId3"/>
          <a:stretch>
            <a:fillRect/>
          </a:stretch>
        </p:blipFill>
        <p:spPr>
          <a:xfrm>
            <a:off x="1828800" y="2194560"/>
            <a:ext cx="2834640" cy="2834640"/>
          </a:xfrm>
          <a:prstGeom prst="rect">
            <a:avLst/>
          </a:prstGeom>
        </p:spPr>
      </p:pic>
      <p:sp>
        <p:nvSpPr>
          <p:cNvPr id="9" name="TextBox 8"/>
          <p:cNvSpPr txBox="1"/>
          <p:nvPr/>
        </p:nvSpPr>
        <p:spPr>
          <a:xfrm>
            <a:off x="1755648" y="5138928"/>
            <a:ext cx="298094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Residual en la imagen</a:t>
            </a:r>
          </a:p>
        </p:txBody>
      </p:sp>
      <p:sp>
        <p:nvSpPr>
          <p:cNvPr id="10" name="Right Arrow 9"/>
          <p:cNvSpPr/>
          <p:nvPr/>
        </p:nvSpPr>
        <p:spPr>
          <a:xfrm>
            <a:off x="5669280" y="3383280"/>
            <a:ext cx="594360" cy="256032"/>
          </a:xfrm>
          <a:prstGeom prst="rightArrow">
            <a:avLst/>
          </a:prstGeom>
          <a:solidFill>
            <a:srgbClr val="73E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4"/>
          <a:stretch>
            <a:fillRect/>
          </a:stretch>
        </p:blipFill>
        <p:spPr>
          <a:xfrm>
            <a:off x="7406640" y="2194560"/>
            <a:ext cx="2834640" cy="2834640"/>
          </a:xfrm>
          <a:prstGeom prst="rect">
            <a:avLst/>
          </a:prstGeom>
        </p:spPr>
      </p:pic>
      <p:sp>
        <p:nvSpPr>
          <p:cNvPr id="12" name="TextBox 11"/>
          <p:cNvSpPr txBox="1"/>
          <p:nvPr/>
        </p:nvSpPr>
        <p:spPr>
          <a:xfrm>
            <a:off x="7333488" y="5138928"/>
            <a:ext cx="298094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Corrección en Fourier · módulo</a:t>
            </a:r>
          </a:p>
        </p:txBody>
      </p:sp>
      <p:sp>
        <p:nvSpPr>
          <p:cNvPr id="13" name="TextBox 12"/>
          <p:cNvSpPr txBox="1"/>
          <p:nvPr/>
        </p:nvSpPr>
        <p:spPr>
          <a:xfrm>
            <a:off x="640080" y="5824728"/>
            <a:ext cx="10881360" cy="411480"/>
          </a:xfrm>
          <a:prstGeom prst="rect">
            <a:avLst/>
          </a:prstGeom>
          <a:noFill/>
        </p:spPr>
        <p:txBody>
          <a:bodyPr wrap="square" lIns="0" rIns="0" tIns="0" bIns="0">
            <a:spAutoFit/>
          </a:bodyPr>
          <a:lstStyle/>
          <a:p>
            <a:pPr>
              <a:spcAft>
                <a:spcPts val="700"/>
              </a:spcAft>
              <a:defRPr sz="2000" b="1">
                <a:solidFill>
                  <a:srgbClr val="73E5B3"/>
                </a:solidFill>
                <a:latin typeface="Liberation Sans"/>
              </a:defRPr>
            </a:pPr>
            <a:r>
              <a:t>La corrección puede modificar tanto la amplitud como la fase.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92608"/>
            <a:ext cx="10058400" cy="256032"/>
          </a:xfrm>
          <a:prstGeom prst="rect">
            <a:avLst/>
          </a:prstGeom>
          <a:noFill/>
        </p:spPr>
        <p:txBody>
          <a:bodyPr wrap="square" lIns="0" rIns="0" tIns="0" bIns="0">
            <a:spAutoFit/>
          </a:bodyPr>
          <a:lstStyle/>
          <a:p>
            <a:pPr>
              <a:spcAft>
                <a:spcPts val="700"/>
              </a:spcAft>
              <a:defRPr sz="1200" b="1">
                <a:solidFill>
                  <a:srgbClr val="73E5B3"/>
                </a:solidFill>
                <a:latin typeface="Liberation Sans"/>
              </a:defRPr>
            </a:pPr>
            <a:r>
              <a:t>03 · RECONSTRUIR / 5</a:t>
            </a:r>
          </a:p>
        </p:txBody>
      </p:sp>
      <p:sp>
        <p:nvSpPr>
          <p:cNvPr id="3" name="TextBox 2"/>
          <p:cNvSpPr txBox="1"/>
          <p:nvPr/>
        </p:nvSpPr>
        <p:spPr>
          <a:xfrm>
            <a:off x="548640" y="749808"/>
            <a:ext cx="11064240" cy="621792"/>
          </a:xfrm>
          <a:prstGeom prst="rect">
            <a:avLst/>
          </a:prstGeom>
          <a:noFill/>
        </p:spPr>
        <p:txBody>
          <a:bodyPr wrap="square" lIns="0" rIns="0" tIns="0" bIns="0">
            <a:spAutoFit/>
          </a:bodyPr>
          <a:lstStyle/>
          <a:p>
            <a:pPr>
              <a:spcAft>
                <a:spcPts val="700"/>
              </a:spcAft>
              <a:defRPr sz="3000" b="1">
                <a:solidFill>
                  <a:srgbClr val="E8EEF6"/>
                </a:solidFill>
                <a:latin typeface="Liberation Sans"/>
              </a:defRPr>
            </a:pPr>
            <a:r>
              <a:t>Sumamos la corrección a la estimación</a:t>
            </a:r>
          </a:p>
        </p:txBody>
      </p:sp>
      <p:sp>
        <p:nvSpPr>
          <p:cNvPr id="4" name="TextBox 3"/>
          <p:cNvSpPr txBox="1"/>
          <p:nvPr/>
        </p:nvSpPr>
        <p:spPr>
          <a:xfrm>
            <a:off x="548640" y="1389888"/>
            <a:ext cx="11064240" cy="502920"/>
          </a:xfrm>
          <a:prstGeom prst="rect">
            <a:avLst/>
          </a:prstGeom>
          <a:noFill/>
        </p:spPr>
        <p:txBody>
          <a:bodyPr wrap="square" lIns="0" rIns="0" tIns="0" bIns="0">
            <a:spAutoFit/>
          </a:bodyPr>
          <a:lstStyle/>
          <a:p>
            <a:pPr>
              <a:spcAft>
                <a:spcPts val="700"/>
              </a:spcAft>
              <a:defRPr sz="1900" b="0">
                <a:solidFill>
                  <a:srgbClr val="A0B3C9"/>
                </a:solidFill>
                <a:latin typeface="Liberation Sans"/>
              </a:defRPr>
            </a:pPr>
            <a:r>
              <a:t>El cambio se restringe a la ventana del LED elegido.</a:t>
            </a:r>
          </a:p>
        </p:txBody>
      </p:sp>
      <p:cxnSp>
        <p:nvCxnSpPr>
          <p:cNvPr id="5" name="Connector 4"/>
          <p:cNvCxnSpPr/>
          <p:nvPr/>
        </p:nvCxnSpPr>
        <p:spPr>
          <a:xfrm>
            <a:off x="548640" y="6355080"/>
            <a:ext cx="11082528" cy="0"/>
          </a:xfrm>
          <a:prstGeom prst="line">
            <a:avLst/>
          </a:prstGeom>
          <a:ln w="8890">
            <a:solidFill>
              <a:srgbClr val="36566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9144000" cy="201168"/>
          </a:xfrm>
          <a:prstGeom prst="rect">
            <a:avLst/>
          </a:prstGeom>
          <a:noFill/>
        </p:spPr>
        <p:txBody>
          <a:bodyPr wrap="square" lIns="0" rIns="0" tIns="0" bIns="0">
            <a:spAutoFit/>
          </a:bodyPr>
          <a:lstStyle/>
          <a:p>
            <a:pPr>
              <a:spcAft>
                <a:spcPts val="700"/>
              </a:spcAft>
              <a:defRPr sz="1000" b="0">
                <a:solidFill>
                  <a:srgbClr val="A0B3C9"/>
                </a:solidFill>
                <a:latin typeface="Liberation Sans"/>
              </a:defRPr>
            </a:pPr>
            <a:r>
              <a:t>Pticografía de Fourier · simulación didáctica · V1</a:t>
            </a:r>
          </a:p>
        </p:txBody>
      </p:sp>
      <p:sp>
        <p:nvSpPr>
          <p:cNvPr id="7" name="TextBox 6"/>
          <p:cNvSpPr txBox="1"/>
          <p:nvPr/>
        </p:nvSpPr>
        <p:spPr>
          <a:xfrm>
            <a:off x="10698480" y="6455664"/>
            <a:ext cx="914400" cy="228600"/>
          </a:xfrm>
          <a:prstGeom prst="rect">
            <a:avLst/>
          </a:prstGeom>
          <a:noFill/>
        </p:spPr>
        <p:txBody>
          <a:bodyPr wrap="square" lIns="0" rIns="0" tIns="0" bIns="0">
            <a:spAutoFit/>
          </a:bodyPr>
          <a:lstStyle/>
          <a:p>
            <a:pPr algn="r">
              <a:spcAft>
                <a:spcPts val="700"/>
              </a:spcAft>
              <a:defRPr sz="1100" b="0">
                <a:solidFill>
                  <a:srgbClr val="A0B3C9"/>
                </a:solidFill>
                <a:latin typeface="Liberation Sans"/>
              </a:defRPr>
            </a:pPr>
            <a:r>
              <a:t>12 / 18</a:t>
            </a:r>
          </a:p>
        </p:txBody>
      </p:sp>
      <p:pic>
        <p:nvPicPr>
          <p:cNvPr id="8" name="Picture 7" descr="image.png"/>
          <p:cNvPicPr>
            <a:picLocks noChangeAspect="1"/>
          </p:cNvPicPr>
          <p:nvPr/>
        </p:nvPicPr>
        <p:blipFill>
          <a:blip r:embed="rId3"/>
          <a:stretch>
            <a:fillRect/>
          </a:stretch>
        </p:blipFill>
        <p:spPr>
          <a:xfrm>
            <a:off x="1828800" y="2194560"/>
            <a:ext cx="2834640" cy="2834640"/>
          </a:xfrm>
          <a:prstGeom prst="rect">
            <a:avLst/>
          </a:prstGeom>
        </p:spPr>
      </p:pic>
      <p:sp>
        <p:nvSpPr>
          <p:cNvPr id="9" name="Oval 8"/>
          <p:cNvSpPr/>
          <p:nvPr/>
        </p:nvSpPr>
        <p:spPr>
          <a:xfrm>
            <a:off x="2626042" y="3213258"/>
            <a:ext cx="797242" cy="797242"/>
          </a:xfrm>
          <a:prstGeom prst="ellipse">
            <a:avLst/>
          </a:prstGeom>
          <a:noFill/>
          <a:ln w="25400">
            <a:solidFill>
              <a:srgbClr val="73E5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3161080" y="3611880"/>
            <a:ext cx="170079" cy="0"/>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246120" y="3526840"/>
            <a:ext cx="0" cy="170079"/>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pic>
        <p:nvPicPr>
          <p:cNvPr id="12" name="Picture 11" descr="image.png"/>
          <p:cNvPicPr>
            <a:picLocks noChangeAspect="1"/>
          </p:cNvPicPr>
          <p:nvPr/>
        </p:nvPicPr>
        <p:blipFill>
          <a:blip r:embed="rId4"/>
          <a:stretch>
            <a:fillRect/>
          </a:stretch>
        </p:blipFill>
        <p:spPr>
          <a:xfrm>
            <a:off x="7406640" y="2194560"/>
            <a:ext cx="2834640" cy="2834640"/>
          </a:xfrm>
          <a:prstGeom prst="rect">
            <a:avLst/>
          </a:prstGeom>
        </p:spPr>
      </p:pic>
      <p:sp>
        <p:nvSpPr>
          <p:cNvPr id="13" name="Oval 12"/>
          <p:cNvSpPr/>
          <p:nvPr/>
        </p:nvSpPr>
        <p:spPr>
          <a:xfrm>
            <a:off x="8203882" y="3213258"/>
            <a:ext cx="797242" cy="797242"/>
          </a:xfrm>
          <a:prstGeom prst="ellipse">
            <a:avLst/>
          </a:prstGeom>
          <a:noFill/>
          <a:ln w="25400">
            <a:solidFill>
              <a:srgbClr val="73E5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8738920" y="3611880"/>
            <a:ext cx="170079" cy="0"/>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23960" y="3526840"/>
            <a:ext cx="0" cy="170079"/>
          </a:xfrm>
          <a:prstGeom prst="line">
            <a:avLst/>
          </a:prstGeom>
          <a:ln w="12700">
            <a:solidFill>
              <a:srgbClr val="FFCC75"/>
            </a:solidFill>
          </a:ln>
        </p:spPr>
        <p:style>
          <a:lnRef idx="2">
            <a:schemeClr val="accent1"/>
          </a:lnRef>
          <a:fillRef idx="0">
            <a:schemeClr val="accent1"/>
          </a:fillRef>
          <a:effectRef idx="1">
            <a:schemeClr val="accent1"/>
          </a:effectRef>
          <a:fontRef idx="minor">
            <a:schemeClr val="tx1"/>
          </a:fontRef>
        </p:style>
      </p:cxnSp>
      <p:sp>
        <p:nvSpPr>
          <p:cNvPr id="16" name="Right Arrow 15"/>
          <p:cNvSpPr/>
          <p:nvPr/>
        </p:nvSpPr>
        <p:spPr>
          <a:xfrm>
            <a:off x="5669280" y="3383280"/>
            <a:ext cx="594360" cy="256032"/>
          </a:xfrm>
          <a:prstGeom prst="rightArrow">
            <a:avLst/>
          </a:prstGeom>
          <a:solidFill>
            <a:srgbClr val="73E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28800" y="5166360"/>
            <a:ext cx="2834640" cy="365760"/>
          </a:xfrm>
          <a:prstGeom prst="rect">
            <a:avLst/>
          </a:prstGeom>
          <a:noFill/>
        </p:spPr>
        <p:txBody>
          <a:bodyPr wrap="square" lIns="0" rIns="0" tIns="0" bIns="0">
            <a:spAutoFit/>
          </a:bodyPr>
          <a:lstStyle/>
          <a:p>
            <a:pPr algn="ctr">
              <a:spcAft>
                <a:spcPts val="700"/>
              </a:spcAft>
              <a:defRPr sz="1800" b="0">
                <a:solidFill>
                  <a:srgbClr val="A0B3C9"/>
                </a:solidFill>
                <a:latin typeface="Liberation Sans"/>
              </a:defRPr>
            </a:pPr>
            <a:r>
              <a:t>Antes</a:t>
            </a:r>
          </a:p>
        </p:txBody>
      </p:sp>
      <p:sp>
        <p:nvSpPr>
          <p:cNvPr id="18" name="TextBox 17"/>
          <p:cNvSpPr txBox="1"/>
          <p:nvPr/>
        </p:nvSpPr>
        <p:spPr>
          <a:xfrm>
            <a:off x="7406640" y="5166360"/>
            <a:ext cx="2834640" cy="365760"/>
          </a:xfrm>
          <a:prstGeom prst="rect">
            <a:avLst/>
          </a:prstGeom>
          <a:noFill/>
        </p:spPr>
        <p:txBody>
          <a:bodyPr wrap="square" lIns="0" rIns="0" tIns="0" bIns="0">
            <a:spAutoFit/>
          </a:bodyPr>
          <a:lstStyle/>
          <a:p>
            <a:pPr algn="ctr">
              <a:spcAft>
                <a:spcPts val="700"/>
              </a:spcAft>
              <a:defRPr sz="1800" b="0">
                <a:solidFill>
                  <a:srgbClr val="A0B3C9"/>
                </a:solidFill>
                <a:latin typeface="Liberation Sans"/>
              </a:defRPr>
            </a:pPr>
            <a:r>
              <a:t>Después</a:t>
            </a:r>
          </a:p>
        </p:txBody>
      </p:sp>
      <p:sp>
        <p:nvSpPr>
          <p:cNvPr id="19" name="TextBox 18"/>
          <p:cNvSpPr txBox="1"/>
          <p:nvPr/>
        </p:nvSpPr>
        <p:spPr>
          <a:xfrm>
            <a:off x="640080" y="5824728"/>
            <a:ext cx="10881360" cy="411480"/>
          </a:xfrm>
          <a:prstGeom prst="rect">
            <a:avLst/>
          </a:prstGeom>
          <a:noFill/>
        </p:spPr>
        <p:txBody>
          <a:bodyPr wrap="square" lIns="0" rIns="0" tIns="0" bIns="0">
            <a:spAutoFit/>
          </a:bodyPr>
          <a:lstStyle/>
          <a:p>
            <a:pPr>
              <a:spcAft>
                <a:spcPts val="700"/>
              </a:spcAft>
              <a:defRPr sz="2000" b="1">
                <a:solidFill>
                  <a:srgbClr val="73E5B3"/>
                </a:solidFill>
                <a:latin typeface="Liberation Sans"/>
              </a:defRPr>
            </a:pPr>
            <a:r>
              <a:t>Fuera de la ventana activa, el espectro permanece igual.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92608"/>
            <a:ext cx="10058400" cy="256032"/>
          </a:xfrm>
          <a:prstGeom prst="rect">
            <a:avLst/>
          </a:prstGeom>
          <a:noFill/>
        </p:spPr>
        <p:txBody>
          <a:bodyPr wrap="square" lIns="0" rIns="0" tIns="0" bIns="0">
            <a:spAutoFit/>
          </a:bodyPr>
          <a:lstStyle/>
          <a:p>
            <a:pPr>
              <a:spcAft>
                <a:spcPts val="700"/>
              </a:spcAft>
              <a:defRPr sz="1200" b="1">
                <a:solidFill>
                  <a:srgbClr val="73E5B3"/>
                </a:solidFill>
                <a:latin typeface="Liberation Sans"/>
              </a:defRPr>
            </a:pPr>
            <a:r>
              <a:t>03 · RECONSTRUIR / 6</a:t>
            </a:r>
          </a:p>
        </p:txBody>
      </p:sp>
      <p:sp>
        <p:nvSpPr>
          <p:cNvPr id="3" name="TextBox 2"/>
          <p:cNvSpPr txBox="1"/>
          <p:nvPr/>
        </p:nvSpPr>
        <p:spPr>
          <a:xfrm>
            <a:off x="548640" y="749808"/>
            <a:ext cx="11064240" cy="621792"/>
          </a:xfrm>
          <a:prstGeom prst="rect">
            <a:avLst/>
          </a:prstGeom>
          <a:noFill/>
        </p:spPr>
        <p:txBody>
          <a:bodyPr wrap="square" lIns="0" rIns="0" tIns="0" bIns="0">
            <a:spAutoFit/>
          </a:bodyPr>
          <a:lstStyle/>
          <a:p>
            <a:pPr>
              <a:spcAft>
                <a:spcPts val="700"/>
              </a:spcAft>
              <a:defRPr sz="3000" b="1">
                <a:solidFill>
                  <a:srgbClr val="E8EEF6"/>
                </a:solidFill>
                <a:latin typeface="Liberation Sans"/>
              </a:defRPr>
            </a:pPr>
            <a:r>
              <a:t>Actualizamos amplitud y fase</a:t>
            </a:r>
          </a:p>
        </p:txBody>
      </p:sp>
      <p:sp>
        <p:nvSpPr>
          <p:cNvPr id="4" name="TextBox 3"/>
          <p:cNvSpPr txBox="1"/>
          <p:nvPr/>
        </p:nvSpPr>
        <p:spPr>
          <a:xfrm>
            <a:off x="548640" y="1389888"/>
            <a:ext cx="11064240" cy="502920"/>
          </a:xfrm>
          <a:prstGeom prst="rect">
            <a:avLst/>
          </a:prstGeom>
          <a:noFill/>
        </p:spPr>
        <p:txBody>
          <a:bodyPr wrap="square" lIns="0" rIns="0" tIns="0" bIns="0">
            <a:spAutoFit/>
          </a:bodyPr>
          <a:lstStyle/>
          <a:p>
            <a:pPr>
              <a:spcAft>
                <a:spcPts val="700"/>
              </a:spcAft>
              <a:defRPr sz="1900" b="0">
                <a:solidFill>
                  <a:srgbClr val="A0B3C9"/>
                </a:solidFill>
                <a:latin typeface="Liberation Sans"/>
              </a:defRPr>
            </a:pPr>
            <a:r>
              <a:t>Volvemos del espectro al objeto: un paso puede producir cambios pequeños.</a:t>
            </a:r>
          </a:p>
        </p:txBody>
      </p:sp>
      <p:cxnSp>
        <p:nvCxnSpPr>
          <p:cNvPr id="5" name="Connector 4"/>
          <p:cNvCxnSpPr/>
          <p:nvPr/>
        </p:nvCxnSpPr>
        <p:spPr>
          <a:xfrm>
            <a:off x="548640" y="6355080"/>
            <a:ext cx="11082528" cy="0"/>
          </a:xfrm>
          <a:prstGeom prst="line">
            <a:avLst/>
          </a:prstGeom>
          <a:ln w="8890">
            <a:solidFill>
              <a:srgbClr val="36566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9144000" cy="201168"/>
          </a:xfrm>
          <a:prstGeom prst="rect">
            <a:avLst/>
          </a:prstGeom>
          <a:noFill/>
        </p:spPr>
        <p:txBody>
          <a:bodyPr wrap="square" lIns="0" rIns="0" tIns="0" bIns="0">
            <a:spAutoFit/>
          </a:bodyPr>
          <a:lstStyle/>
          <a:p>
            <a:pPr>
              <a:spcAft>
                <a:spcPts val="700"/>
              </a:spcAft>
              <a:defRPr sz="1000" b="0">
                <a:solidFill>
                  <a:srgbClr val="A0B3C9"/>
                </a:solidFill>
                <a:latin typeface="Liberation Sans"/>
              </a:defRPr>
            </a:pPr>
            <a:r>
              <a:t>Pticografía de Fourier · simulación didáctica · V1</a:t>
            </a:r>
          </a:p>
        </p:txBody>
      </p:sp>
      <p:sp>
        <p:nvSpPr>
          <p:cNvPr id="7" name="TextBox 6"/>
          <p:cNvSpPr txBox="1"/>
          <p:nvPr/>
        </p:nvSpPr>
        <p:spPr>
          <a:xfrm>
            <a:off x="10698480" y="6455664"/>
            <a:ext cx="914400" cy="228600"/>
          </a:xfrm>
          <a:prstGeom prst="rect">
            <a:avLst/>
          </a:prstGeom>
          <a:noFill/>
        </p:spPr>
        <p:txBody>
          <a:bodyPr wrap="square" lIns="0" rIns="0" tIns="0" bIns="0">
            <a:spAutoFit/>
          </a:bodyPr>
          <a:lstStyle/>
          <a:p>
            <a:pPr algn="r">
              <a:spcAft>
                <a:spcPts val="700"/>
              </a:spcAft>
              <a:defRPr sz="1100" b="0">
                <a:solidFill>
                  <a:srgbClr val="A0B3C9"/>
                </a:solidFill>
                <a:latin typeface="Liberation Sans"/>
              </a:defRPr>
            </a:pPr>
            <a:r>
              <a:t>13 / 18</a:t>
            </a:r>
          </a:p>
        </p:txBody>
      </p:sp>
      <p:sp>
        <p:nvSpPr>
          <p:cNvPr id="8" name="TextBox 7"/>
          <p:cNvSpPr txBox="1"/>
          <p:nvPr/>
        </p:nvSpPr>
        <p:spPr>
          <a:xfrm>
            <a:off x="777240" y="1947672"/>
            <a:ext cx="4754880" cy="411480"/>
          </a:xfrm>
          <a:prstGeom prst="rect">
            <a:avLst/>
          </a:prstGeom>
          <a:noFill/>
        </p:spPr>
        <p:txBody>
          <a:bodyPr wrap="square" lIns="0" rIns="0" tIns="0" bIns="0">
            <a:spAutoFit/>
          </a:bodyPr>
          <a:lstStyle/>
          <a:p>
            <a:pPr algn="ctr">
              <a:spcAft>
                <a:spcPts val="700"/>
              </a:spcAft>
              <a:defRPr sz="2300" b="1">
                <a:solidFill>
                  <a:srgbClr val="73E5B3"/>
                </a:solidFill>
                <a:latin typeface="Liberation Sans"/>
              </a:defRPr>
            </a:pPr>
            <a:r>
              <a:t>Antes</a:t>
            </a:r>
          </a:p>
        </p:txBody>
      </p:sp>
      <p:pic>
        <p:nvPicPr>
          <p:cNvPr id="9" name="Picture 8" descr="image.png"/>
          <p:cNvPicPr>
            <a:picLocks noChangeAspect="1"/>
          </p:cNvPicPr>
          <p:nvPr/>
        </p:nvPicPr>
        <p:blipFill>
          <a:blip r:embed="rId3"/>
          <a:stretch>
            <a:fillRect/>
          </a:stretch>
        </p:blipFill>
        <p:spPr>
          <a:xfrm>
            <a:off x="777240" y="2578608"/>
            <a:ext cx="2103120" cy="2103120"/>
          </a:xfrm>
          <a:prstGeom prst="rect">
            <a:avLst/>
          </a:prstGeom>
        </p:spPr>
      </p:pic>
      <p:sp>
        <p:nvSpPr>
          <p:cNvPr id="10" name="TextBox 9"/>
          <p:cNvSpPr txBox="1"/>
          <p:nvPr/>
        </p:nvSpPr>
        <p:spPr>
          <a:xfrm>
            <a:off x="704088" y="4791455"/>
            <a:ext cx="224942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Amplitud</a:t>
            </a:r>
          </a:p>
        </p:txBody>
      </p:sp>
      <p:pic>
        <p:nvPicPr>
          <p:cNvPr id="11" name="Picture 10" descr="image.png"/>
          <p:cNvPicPr>
            <a:picLocks noChangeAspect="1"/>
          </p:cNvPicPr>
          <p:nvPr/>
        </p:nvPicPr>
        <p:blipFill>
          <a:blip r:embed="rId4"/>
          <a:stretch>
            <a:fillRect/>
          </a:stretch>
        </p:blipFill>
        <p:spPr>
          <a:xfrm>
            <a:off x="3291840" y="2578608"/>
            <a:ext cx="2103120" cy="2103120"/>
          </a:xfrm>
          <a:prstGeom prst="rect">
            <a:avLst/>
          </a:prstGeom>
        </p:spPr>
      </p:pic>
      <p:sp>
        <p:nvSpPr>
          <p:cNvPr id="12" name="TextBox 11"/>
          <p:cNvSpPr txBox="1"/>
          <p:nvPr/>
        </p:nvSpPr>
        <p:spPr>
          <a:xfrm>
            <a:off x="3218688" y="4791455"/>
            <a:ext cx="224942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Fase</a:t>
            </a:r>
          </a:p>
        </p:txBody>
      </p:sp>
      <p:sp>
        <p:nvSpPr>
          <p:cNvPr id="13" name="TextBox 12"/>
          <p:cNvSpPr txBox="1"/>
          <p:nvPr/>
        </p:nvSpPr>
        <p:spPr>
          <a:xfrm>
            <a:off x="6675120" y="1947672"/>
            <a:ext cx="4754880" cy="411480"/>
          </a:xfrm>
          <a:prstGeom prst="rect">
            <a:avLst/>
          </a:prstGeom>
          <a:noFill/>
        </p:spPr>
        <p:txBody>
          <a:bodyPr wrap="square" lIns="0" rIns="0" tIns="0" bIns="0">
            <a:spAutoFit/>
          </a:bodyPr>
          <a:lstStyle/>
          <a:p>
            <a:pPr algn="ctr">
              <a:spcAft>
                <a:spcPts val="700"/>
              </a:spcAft>
              <a:defRPr sz="2300" b="1">
                <a:solidFill>
                  <a:srgbClr val="73E5B3"/>
                </a:solidFill>
                <a:latin typeface="Liberation Sans"/>
              </a:defRPr>
            </a:pPr>
            <a:r>
              <a:t>Después</a:t>
            </a:r>
          </a:p>
        </p:txBody>
      </p:sp>
      <p:pic>
        <p:nvPicPr>
          <p:cNvPr id="14" name="Picture 13" descr="image.png"/>
          <p:cNvPicPr>
            <a:picLocks noChangeAspect="1"/>
          </p:cNvPicPr>
          <p:nvPr/>
        </p:nvPicPr>
        <p:blipFill>
          <a:blip r:embed="rId5"/>
          <a:stretch>
            <a:fillRect/>
          </a:stretch>
        </p:blipFill>
        <p:spPr>
          <a:xfrm>
            <a:off x="6675120" y="2578608"/>
            <a:ext cx="2103120" cy="2103120"/>
          </a:xfrm>
          <a:prstGeom prst="rect">
            <a:avLst/>
          </a:prstGeom>
        </p:spPr>
      </p:pic>
      <p:sp>
        <p:nvSpPr>
          <p:cNvPr id="15" name="TextBox 14"/>
          <p:cNvSpPr txBox="1"/>
          <p:nvPr/>
        </p:nvSpPr>
        <p:spPr>
          <a:xfrm>
            <a:off x="6601968" y="4791455"/>
            <a:ext cx="224942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Amplitud</a:t>
            </a:r>
          </a:p>
        </p:txBody>
      </p:sp>
      <p:pic>
        <p:nvPicPr>
          <p:cNvPr id="16" name="Picture 15" descr="image.png"/>
          <p:cNvPicPr>
            <a:picLocks noChangeAspect="1"/>
          </p:cNvPicPr>
          <p:nvPr/>
        </p:nvPicPr>
        <p:blipFill>
          <a:blip r:embed="rId6"/>
          <a:stretch>
            <a:fillRect/>
          </a:stretch>
        </p:blipFill>
        <p:spPr>
          <a:xfrm>
            <a:off x="9189720" y="2578608"/>
            <a:ext cx="2103120" cy="2103120"/>
          </a:xfrm>
          <a:prstGeom prst="rect">
            <a:avLst/>
          </a:prstGeom>
        </p:spPr>
      </p:pic>
      <p:sp>
        <p:nvSpPr>
          <p:cNvPr id="17" name="TextBox 16"/>
          <p:cNvSpPr txBox="1"/>
          <p:nvPr/>
        </p:nvSpPr>
        <p:spPr>
          <a:xfrm>
            <a:off x="9116568" y="4791455"/>
            <a:ext cx="224942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Fase</a:t>
            </a:r>
          </a:p>
        </p:txBody>
      </p:sp>
      <p:sp>
        <p:nvSpPr>
          <p:cNvPr id="18" name="TextBox 17"/>
          <p:cNvSpPr txBox="1"/>
          <p:nvPr/>
        </p:nvSpPr>
        <p:spPr>
          <a:xfrm>
            <a:off x="640080" y="5824728"/>
            <a:ext cx="10881360" cy="411480"/>
          </a:xfrm>
          <a:prstGeom prst="rect">
            <a:avLst/>
          </a:prstGeom>
          <a:noFill/>
        </p:spPr>
        <p:txBody>
          <a:bodyPr wrap="square" lIns="0" rIns="0" tIns="0" bIns="0">
            <a:spAutoFit/>
          </a:bodyPr>
          <a:lstStyle/>
          <a:p>
            <a:pPr>
              <a:spcAft>
                <a:spcPts val="700"/>
              </a:spcAft>
              <a:defRPr sz="2000" b="1">
                <a:solidFill>
                  <a:srgbClr val="73E5B3"/>
                </a:solidFill>
                <a:latin typeface="Liberation Sans"/>
              </a:defRPr>
            </a:pPr>
            <a:r>
              <a:t>La imagen actualizada debe explicar mejor las capturas.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92608"/>
            <a:ext cx="10058400" cy="256032"/>
          </a:xfrm>
          <a:prstGeom prst="rect">
            <a:avLst/>
          </a:prstGeom>
          <a:noFill/>
        </p:spPr>
        <p:txBody>
          <a:bodyPr wrap="square" lIns="0" rIns="0" tIns="0" bIns="0">
            <a:spAutoFit/>
          </a:bodyPr>
          <a:lstStyle/>
          <a:p>
            <a:pPr>
              <a:spcAft>
                <a:spcPts val="700"/>
              </a:spcAft>
              <a:defRPr sz="1200" b="1">
                <a:solidFill>
                  <a:srgbClr val="73E5B3"/>
                </a:solidFill>
                <a:latin typeface="Liberation Sans"/>
              </a:defRPr>
            </a:pPr>
            <a:r>
              <a:t>03 · RECONSTRUIR / 7</a:t>
            </a:r>
          </a:p>
        </p:txBody>
      </p:sp>
      <p:sp>
        <p:nvSpPr>
          <p:cNvPr id="3" name="TextBox 2"/>
          <p:cNvSpPr txBox="1"/>
          <p:nvPr/>
        </p:nvSpPr>
        <p:spPr>
          <a:xfrm>
            <a:off x="548640" y="749808"/>
            <a:ext cx="11064240" cy="621792"/>
          </a:xfrm>
          <a:prstGeom prst="rect">
            <a:avLst/>
          </a:prstGeom>
          <a:noFill/>
        </p:spPr>
        <p:txBody>
          <a:bodyPr wrap="square" lIns="0" rIns="0" tIns="0" bIns="0">
            <a:spAutoFit/>
          </a:bodyPr>
          <a:lstStyle/>
          <a:p>
            <a:pPr>
              <a:spcAft>
                <a:spcPts val="700"/>
              </a:spcAft>
              <a:defRPr sz="3000" b="1">
                <a:solidFill>
                  <a:srgbClr val="E8EEF6"/>
                </a:solidFill>
                <a:latin typeface="Liberation Sans"/>
              </a:defRPr>
            </a:pPr>
            <a:r>
              <a:t>Repetimos con los demás LEDs</a:t>
            </a:r>
          </a:p>
        </p:txBody>
      </p:sp>
      <p:sp>
        <p:nvSpPr>
          <p:cNvPr id="4" name="TextBox 3"/>
          <p:cNvSpPr txBox="1"/>
          <p:nvPr/>
        </p:nvSpPr>
        <p:spPr>
          <a:xfrm>
            <a:off x="548640" y="1389888"/>
            <a:ext cx="11064240" cy="502920"/>
          </a:xfrm>
          <a:prstGeom prst="rect">
            <a:avLst/>
          </a:prstGeom>
          <a:noFill/>
        </p:spPr>
        <p:txBody>
          <a:bodyPr wrap="square" lIns="0" rIns="0" tIns="0" bIns="0">
            <a:spAutoFit/>
          </a:bodyPr>
          <a:lstStyle/>
          <a:p>
            <a:pPr>
              <a:spcAft>
                <a:spcPts val="700"/>
              </a:spcAft>
              <a:defRPr sz="1900" b="0">
                <a:solidFill>
                  <a:srgbClr val="A0B3C9"/>
                </a:solidFill>
                <a:latin typeface="Liberation Sans"/>
              </a:defRPr>
            </a:pPr>
            <a:r>
              <a:t>Buscamos un solo objeto que explique todas las mediciones.</a:t>
            </a:r>
          </a:p>
        </p:txBody>
      </p:sp>
      <p:cxnSp>
        <p:nvCxnSpPr>
          <p:cNvPr id="5" name="Connector 4"/>
          <p:cNvCxnSpPr/>
          <p:nvPr/>
        </p:nvCxnSpPr>
        <p:spPr>
          <a:xfrm>
            <a:off x="548640" y="6355080"/>
            <a:ext cx="11082528" cy="0"/>
          </a:xfrm>
          <a:prstGeom prst="line">
            <a:avLst/>
          </a:prstGeom>
          <a:ln w="8890">
            <a:solidFill>
              <a:srgbClr val="36566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9144000" cy="201168"/>
          </a:xfrm>
          <a:prstGeom prst="rect">
            <a:avLst/>
          </a:prstGeom>
          <a:noFill/>
        </p:spPr>
        <p:txBody>
          <a:bodyPr wrap="square" lIns="0" rIns="0" tIns="0" bIns="0">
            <a:spAutoFit/>
          </a:bodyPr>
          <a:lstStyle/>
          <a:p>
            <a:pPr>
              <a:spcAft>
                <a:spcPts val="700"/>
              </a:spcAft>
              <a:defRPr sz="1000" b="0">
                <a:solidFill>
                  <a:srgbClr val="A0B3C9"/>
                </a:solidFill>
                <a:latin typeface="Liberation Sans"/>
              </a:defRPr>
            </a:pPr>
            <a:r>
              <a:t>Pticografía de Fourier · simulación didáctica · V1</a:t>
            </a:r>
          </a:p>
        </p:txBody>
      </p:sp>
      <p:sp>
        <p:nvSpPr>
          <p:cNvPr id="7" name="TextBox 6"/>
          <p:cNvSpPr txBox="1"/>
          <p:nvPr/>
        </p:nvSpPr>
        <p:spPr>
          <a:xfrm>
            <a:off x="10698480" y="6455664"/>
            <a:ext cx="914400" cy="228600"/>
          </a:xfrm>
          <a:prstGeom prst="rect">
            <a:avLst/>
          </a:prstGeom>
          <a:noFill/>
        </p:spPr>
        <p:txBody>
          <a:bodyPr wrap="square" lIns="0" rIns="0" tIns="0" bIns="0">
            <a:spAutoFit/>
          </a:bodyPr>
          <a:lstStyle/>
          <a:p>
            <a:pPr algn="r">
              <a:spcAft>
                <a:spcPts val="700"/>
              </a:spcAft>
              <a:defRPr sz="1100" b="0">
                <a:solidFill>
                  <a:srgbClr val="A0B3C9"/>
                </a:solidFill>
                <a:latin typeface="Liberation Sans"/>
              </a:defRPr>
            </a:pPr>
            <a:r>
              <a:t>14 / 18</a:t>
            </a:r>
          </a:p>
        </p:txBody>
      </p:sp>
      <p:sp>
        <p:nvSpPr>
          <p:cNvPr id="8" name="Rounded Rectangle 7"/>
          <p:cNvSpPr/>
          <p:nvPr/>
        </p:nvSpPr>
        <p:spPr>
          <a:xfrm>
            <a:off x="731520" y="2743200"/>
            <a:ext cx="2011680" cy="1005840"/>
          </a:xfrm>
          <a:prstGeom prst="roundRect">
            <a:avLst/>
          </a:prstGeom>
          <a:solidFill>
            <a:srgbClr val="131F30"/>
          </a:solidFill>
          <a:ln w="12700">
            <a:solidFill>
              <a:srgbClr val="73E5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026664"/>
            <a:ext cx="1792224" cy="411480"/>
          </a:xfrm>
          <a:prstGeom prst="rect">
            <a:avLst/>
          </a:prstGeom>
          <a:noFill/>
        </p:spPr>
        <p:txBody>
          <a:bodyPr wrap="square" lIns="0" rIns="0" tIns="0" bIns="0">
            <a:spAutoFit/>
          </a:bodyPr>
          <a:lstStyle/>
          <a:p>
            <a:pPr algn="ctr">
              <a:spcAft>
                <a:spcPts val="700"/>
              </a:spcAft>
              <a:defRPr sz="2300" b="1">
                <a:solidFill>
                  <a:srgbClr val="73E5B3"/>
                </a:solidFill>
                <a:latin typeface="Liberation Sans"/>
              </a:defRPr>
            </a:pPr>
            <a:r>
              <a:t>Predecir</a:t>
            </a:r>
          </a:p>
        </p:txBody>
      </p:sp>
      <p:sp>
        <p:nvSpPr>
          <p:cNvPr id="10" name="Right Arrow 9"/>
          <p:cNvSpPr/>
          <p:nvPr/>
        </p:nvSpPr>
        <p:spPr>
          <a:xfrm>
            <a:off x="2926080" y="3136392"/>
            <a:ext cx="502920" cy="256032"/>
          </a:xfrm>
          <a:prstGeom prst="rightArrow">
            <a:avLst/>
          </a:prstGeom>
          <a:solidFill>
            <a:srgbClr val="73E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657600" y="2743200"/>
            <a:ext cx="2011680" cy="1005840"/>
          </a:xfrm>
          <a:prstGeom prst="roundRect">
            <a:avLst/>
          </a:prstGeom>
          <a:solidFill>
            <a:srgbClr val="131F30"/>
          </a:solidFill>
          <a:ln w="12700">
            <a:solidFill>
              <a:srgbClr val="73E5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67328" y="3026664"/>
            <a:ext cx="1792224" cy="411480"/>
          </a:xfrm>
          <a:prstGeom prst="rect">
            <a:avLst/>
          </a:prstGeom>
          <a:noFill/>
        </p:spPr>
        <p:txBody>
          <a:bodyPr wrap="square" lIns="0" rIns="0" tIns="0" bIns="0">
            <a:spAutoFit/>
          </a:bodyPr>
          <a:lstStyle/>
          <a:p>
            <a:pPr algn="ctr">
              <a:spcAft>
                <a:spcPts val="700"/>
              </a:spcAft>
              <a:defRPr sz="2300" b="1">
                <a:solidFill>
                  <a:srgbClr val="73E5B3"/>
                </a:solidFill>
                <a:latin typeface="Liberation Sans"/>
              </a:defRPr>
            </a:pPr>
            <a:r>
              <a:t>Comparar</a:t>
            </a:r>
          </a:p>
        </p:txBody>
      </p:sp>
      <p:sp>
        <p:nvSpPr>
          <p:cNvPr id="13" name="Right Arrow 12"/>
          <p:cNvSpPr/>
          <p:nvPr/>
        </p:nvSpPr>
        <p:spPr>
          <a:xfrm>
            <a:off x="5852160" y="3136392"/>
            <a:ext cx="502920" cy="256032"/>
          </a:xfrm>
          <a:prstGeom prst="rightArrow">
            <a:avLst/>
          </a:prstGeom>
          <a:solidFill>
            <a:srgbClr val="73E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83680" y="2743200"/>
            <a:ext cx="2011680" cy="1005840"/>
          </a:xfrm>
          <a:prstGeom prst="roundRect">
            <a:avLst/>
          </a:prstGeom>
          <a:solidFill>
            <a:srgbClr val="131F30"/>
          </a:solidFill>
          <a:ln w="12700">
            <a:solidFill>
              <a:srgbClr val="73E5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93408" y="3026664"/>
            <a:ext cx="1792224" cy="411480"/>
          </a:xfrm>
          <a:prstGeom prst="rect">
            <a:avLst/>
          </a:prstGeom>
          <a:noFill/>
        </p:spPr>
        <p:txBody>
          <a:bodyPr wrap="square" lIns="0" rIns="0" tIns="0" bIns="0">
            <a:spAutoFit/>
          </a:bodyPr>
          <a:lstStyle/>
          <a:p>
            <a:pPr algn="ctr">
              <a:spcAft>
                <a:spcPts val="700"/>
              </a:spcAft>
              <a:defRPr sz="2300" b="1">
                <a:solidFill>
                  <a:srgbClr val="73E5B3"/>
                </a:solidFill>
                <a:latin typeface="Liberation Sans"/>
              </a:defRPr>
            </a:pPr>
            <a:r>
              <a:t>Corregir</a:t>
            </a:r>
          </a:p>
        </p:txBody>
      </p:sp>
      <p:sp>
        <p:nvSpPr>
          <p:cNvPr id="16" name="Right Arrow 15"/>
          <p:cNvSpPr/>
          <p:nvPr/>
        </p:nvSpPr>
        <p:spPr>
          <a:xfrm>
            <a:off x="8778240" y="3136392"/>
            <a:ext cx="502920" cy="256032"/>
          </a:xfrm>
          <a:prstGeom prst="rightArrow">
            <a:avLst/>
          </a:prstGeom>
          <a:solidFill>
            <a:srgbClr val="73E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9760" y="2743200"/>
            <a:ext cx="2011680" cy="1005840"/>
          </a:xfrm>
          <a:prstGeom prst="roundRect">
            <a:avLst/>
          </a:prstGeom>
          <a:solidFill>
            <a:srgbClr val="131F30"/>
          </a:solidFill>
          <a:ln w="12700">
            <a:solidFill>
              <a:srgbClr val="73E5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19488" y="3026664"/>
            <a:ext cx="1792224" cy="411480"/>
          </a:xfrm>
          <a:prstGeom prst="rect">
            <a:avLst/>
          </a:prstGeom>
          <a:noFill/>
        </p:spPr>
        <p:txBody>
          <a:bodyPr wrap="square" lIns="0" rIns="0" tIns="0" bIns="0">
            <a:spAutoFit/>
          </a:bodyPr>
          <a:lstStyle/>
          <a:p>
            <a:pPr algn="ctr">
              <a:spcAft>
                <a:spcPts val="700"/>
              </a:spcAft>
              <a:defRPr sz="2300" b="1">
                <a:solidFill>
                  <a:srgbClr val="73E5B3"/>
                </a:solidFill>
                <a:latin typeface="Liberation Sans"/>
              </a:defRPr>
            </a:pPr>
            <a:r>
              <a:t>Otro LED</a:t>
            </a:r>
          </a:p>
        </p:txBody>
      </p:sp>
      <p:sp>
        <p:nvSpPr>
          <p:cNvPr id="19" name="TextBox 18"/>
          <p:cNvSpPr txBox="1"/>
          <p:nvPr/>
        </p:nvSpPr>
        <p:spPr>
          <a:xfrm>
            <a:off x="2011680" y="4526280"/>
            <a:ext cx="8229600" cy="640080"/>
          </a:xfrm>
          <a:prstGeom prst="rect">
            <a:avLst/>
          </a:prstGeom>
          <a:noFill/>
        </p:spPr>
        <p:txBody>
          <a:bodyPr wrap="square" lIns="0" rIns="0" tIns="0" bIns="0">
            <a:spAutoFit/>
          </a:bodyPr>
          <a:lstStyle/>
          <a:p>
            <a:pPr algn="ctr">
              <a:spcAft>
                <a:spcPts val="700"/>
              </a:spcAft>
              <a:defRPr sz="2900" b="0">
                <a:solidFill>
                  <a:srgbClr val="E8EEF6"/>
                </a:solidFill>
                <a:latin typeface="Liberation Sans"/>
              </a:defRPr>
            </a:pPr>
            <a:r>
              <a:t>49 LEDs = una iteración</a:t>
            </a:r>
          </a:p>
        </p:txBody>
      </p:sp>
      <p:sp>
        <p:nvSpPr>
          <p:cNvPr id="20" name="TextBox 19"/>
          <p:cNvSpPr txBox="1"/>
          <p:nvPr/>
        </p:nvSpPr>
        <p:spPr>
          <a:xfrm>
            <a:off x="640080" y="5824728"/>
            <a:ext cx="10881360" cy="411480"/>
          </a:xfrm>
          <a:prstGeom prst="rect">
            <a:avLst/>
          </a:prstGeom>
          <a:noFill/>
        </p:spPr>
        <p:txBody>
          <a:bodyPr wrap="square" lIns="0" rIns="0" tIns="0" bIns="0">
            <a:spAutoFit/>
          </a:bodyPr>
          <a:lstStyle/>
          <a:p>
            <a:pPr>
              <a:spcAft>
                <a:spcPts val="700"/>
              </a:spcAft>
              <a:defRPr sz="2000" b="1">
                <a:solidFill>
                  <a:srgbClr val="73E5B3"/>
                </a:solidFill>
                <a:latin typeface="Liberation Sans"/>
              </a:defRPr>
            </a:pPr>
            <a:r>
              <a:t>La corrida completa empieza otra vez desde la estimación inicial.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92608"/>
            <a:ext cx="10058400" cy="256032"/>
          </a:xfrm>
          <a:prstGeom prst="rect">
            <a:avLst/>
          </a:prstGeom>
          <a:noFill/>
        </p:spPr>
        <p:txBody>
          <a:bodyPr wrap="square" lIns="0" rIns="0" tIns="0" bIns="0">
            <a:spAutoFit/>
          </a:bodyPr>
          <a:lstStyle/>
          <a:p>
            <a:pPr>
              <a:spcAft>
                <a:spcPts val="700"/>
              </a:spcAft>
              <a:defRPr sz="1200" b="1">
                <a:solidFill>
                  <a:srgbClr val="73E5B3"/>
                </a:solidFill>
                <a:latin typeface="Liberation Sans"/>
              </a:defRPr>
            </a:pPr>
            <a:r>
              <a:t>03 · ITERAR</a:t>
            </a:r>
          </a:p>
        </p:txBody>
      </p:sp>
      <p:sp>
        <p:nvSpPr>
          <p:cNvPr id="3" name="TextBox 2"/>
          <p:cNvSpPr txBox="1"/>
          <p:nvPr/>
        </p:nvSpPr>
        <p:spPr>
          <a:xfrm>
            <a:off x="548640" y="749808"/>
            <a:ext cx="11064240" cy="621792"/>
          </a:xfrm>
          <a:prstGeom prst="rect">
            <a:avLst/>
          </a:prstGeom>
          <a:noFill/>
        </p:spPr>
        <p:txBody>
          <a:bodyPr wrap="square" lIns="0" rIns="0" tIns="0" bIns="0">
            <a:spAutoFit/>
          </a:bodyPr>
          <a:lstStyle/>
          <a:p>
            <a:pPr>
              <a:spcAft>
                <a:spcPts val="700"/>
              </a:spcAft>
              <a:defRPr sz="3000" b="1">
                <a:solidFill>
                  <a:srgbClr val="E8EEF6"/>
                </a:solidFill>
                <a:latin typeface="Liberation Sans"/>
              </a:defRPr>
            </a:pPr>
            <a:r>
              <a:t>¿Las capturas coinciden mejor?</a:t>
            </a:r>
          </a:p>
        </p:txBody>
      </p:sp>
      <p:sp>
        <p:nvSpPr>
          <p:cNvPr id="4" name="TextBox 3"/>
          <p:cNvSpPr txBox="1"/>
          <p:nvPr/>
        </p:nvSpPr>
        <p:spPr>
          <a:xfrm>
            <a:off x="548640" y="1389888"/>
            <a:ext cx="11064240" cy="502920"/>
          </a:xfrm>
          <a:prstGeom prst="rect">
            <a:avLst/>
          </a:prstGeom>
          <a:noFill/>
        </p:spPr>
        <p:txBody>
          <a:bodyPr wrap="square" lIns="0" rIns="0" tIns="0" bIns="0">
            <a:spAutoFit/>
          </a:bodyPr>
          <a:lstStyle/>
          <a:p>
            <a:pPr>
              <a:spcAft>
                <a:spcPts val="700"/>
              </a:spcAft>
              <a:defRPr sz="1900" b="0">
                <a:solidFill>
                  <a:srgbClr val="A0B3C9"/>
                </a:solidFill>
                <a:latin typeface="Liberation Sans"/>
              </a:defRPr>
            </a:pPr>
            <a:r>
              <a:t>La pérdida global compara las 49 capturas sobre el mismo estado.</a:t>
            </a:r>
          </a:p>
        </p:txBody>
      </p:sp>
      <p:cxnSp>
        <p:nvCxnSpPr>
          <p:cNvPr id="5" name="Connector 4"/>
          <p:cNvCxnSpPr/>
          <p:nvPr/>
        </p:nvCxnSpPr>
        <p:spPr>
          <a:xfrm>
            <a:off x="548640" y="6355080"/>
            <a:ext cx="11082528" cy="0"/>
          </a:xfrm>
          <a:prstGeom prst="line">
            <a:avLst/>
          </a:prstGeom>
          <a:ln w="8890">
            <a:solidFill>
              <a:srgbClr val="36566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9144000" cy="201168"/>
          </a:xfrm>
          <a:prstGeom prst="rect">
            <a:avLst/>
          </a:prstGeom>
          <a:noFill/>
        </p:spPr>
        <p:txBody>
          <a:bodyPr wrap="square" lIns="0" rIns="0" tIns="0" bIns="0">
            <a:spAutoFit/>
          </a:bodyPr>
          <a:lstStyle/>
          <a:p>
            <a:pPr>
              <a:spcAft>
                <a:spcPts val="700"/>
              </a:spcAft>
              <a:defRPr sz="1000" b="0">
                <a:solidFill>
                  <a:srgbClr val="A0B3C9"/>
                </a:solidFill>
                <a:latin typeface="Liberation Sans"/>
              </a:defRPr>
            </a:pPr>
            <a:r>
              <a:t>Pticografía de Fourier · simulación didáctica · V1</a:t>
            </a:r>
          </a:p>
        </p:txBody>
      </p:sp>
      <p:sp>
        <p:nvSpPr>
          <p:cNvPr id="7" name="TextBox 6"/>
          <p:cNvSpPr txBox="1"/>
          <p:nvPr/>
        </p:nvSpPr>
        <p:spPr>
          <a:xfrm>
            <a:off x="10698480" y="6455664"/>
            <a:ext cx="914400" cy="228600"/>
          </a:xfrm>
          <a:prstGeom prst="rect">
            <a:avLst/>
          </a:prstGeom>
          <a:noFill/>
        </p:spPr>
        <p:txBody>
          <a:bodyPr wrap="square" lIns="0" rIns="0" tIns="0" bIns="0">
            <a:spAutoFit/>
          </a:bodyPr>
          <a:lstStyle/>
          <a:p>
            <a:pPr algn="r">
              <a:spcAft>
                <a:spcPts val="700"/>
              </a:spcAft>
              <a:defRPr sz="1100" b="0">
                <a:solidFill>
                  <a:srgbClr val="A0B3C9"/>
                </a:solidFill>
                <a:latin typeface="Liberation Sans"/>
              </a:defRPr>
            </a:pPr>
            <a:r>
              <a:t>15 / 18</a:t>
            </a:r>
          </a:p>
        </p:txBody>
      </p:sp>
      <p:graphicFrame>
        <p:nvGraphicFramePr>
          <p:cNvPr id="8" name="Chart 7"/>
          <p:cNvGraphicFramePr>
            <a:graphicFrameLocks noGrp="1"/>
          </p:cNvGraphicFramePr>
          <p:nvPr/>
        </p:nvGraphicFramePr>
        <p:xfrm>
          <a:off x="731520" y="2148840"/>
          <a:ext cx="7315200" cy="3383280"/>
        </p:xfrm>
        <a:graphic>
          <a:graphicData uri="http://schemas.openxmlformats.org/drawingml/2006/chart">
            <c:chart xmlns:c="http://schemas.openxmlformats.org/drawingml/2006/chart" r:id="rId3"/>
          </a:graphicData>
        </a:graphic>
      </p:graphicFrame>
      <p:sp>
        <p:nvSpPr>
          <p:cNvPr id="9" name="TextBox 8"/>
          <p:cNvSpPr txBox="1"/>
          <p:nvPr/>
        </p:nvSpPr>
        <p:spPr>
          <a:xfrm>
            <a:off x="3474720" y="5559552"/>
            <a:ext cx="1828800" cy="274320"/>
          </a:xfrm>
          <a:prstGeom prst="rect">
            <a:avLst/>
          </a:prstGeom>
          <a:noFill/>
        </p:spPr>
        <p:txBody>
          <a:bodyPr wrap="square" lIns="0" rIns="0" tIns="0" bIns="0">
            <a:spAutoFit/>
          </a:bodyPr>
          <a:lstStyle/>
          <a:p>
            <a:pPr algn="ctr">
              <a:spcAft>
                <a:spcPts val="700"/>
              </a:spcAft>
              <a:defRPr sz="1400" b="0">
                <a:solidFill>
                  <a:srgbClr val="A0B3C9"/>
                </a:solidFill>
                <a:latin typeface="Liberation Sans"/>
              </a:defRPr>
            </a:pPr>
            <a:r>
              <a:t>Iteración</a:t>
            </a:r>
          </a:p>
        </p:txBody>
      </p:sp>
      <p:sp>
        <p:nvSpPr>
          <p:cNvPr id="10" name="TextBox 9"/>
          <p:cNvSpPr txBox="1"/>
          <p:nvPr/>
        </p:nvSpPr>
        <p:spPr>
          <a:xfrm>
            <a:off x="8412480" y="2743200"/>
            <a:ext cx="3108960" cy="640080"/>
          </a:xfrm>
          <a:prstGeom prst="rect">
            <a:avLst/>
          </a:prstGeom>
          <a:noFill/>
        </p:spPr>
        <p:txBody>
          <a:bodyPr wrap="square" lIns="0" rIns="0" tIns="0" bIns="0">
            <a:spAutoFit/>
          </a:bodyPr>
          <a:lstStyle/>
          <a:p>
            <a:pPr>
              <a:spcAft>
                <a:spcPts val="700"/>
              </a:spcAft>
              <a:defRPr sz="2800" b="1">
                <a:solidFill>
                  <a:srgbClr val="73E5B3"/>
                </a:solidFill>
                <a:latin typeface="Liberation Sans"/>
              </a:defRPr>
            </a:pPr>
            <a:r>
              <a:t>8.83 % → 1.25 %</a:t>
            </a:r>
          </a:p>
        </p:txBody>
      </p:sp>
      <p:sp>
        <p:nvSpPr>
          <p:cNvPr id="11" name="TextBox 10"/>
          <p:cNvSpPr txBox="1"/>
          <p:nvPr/>
        </p:nvSpPr>
        <p:spPr>
          <a:xfrm>
            <a:off x="8412480" y="3566160"/>
            <a:ext cx="3017520" cy="1554480"/>
          </a:xfrm>
          <a:prstGeom prst="rect">
            <a:avLst/>
          </a:prstGeom>
          <a:noFill/>
        </p:spPr>
        <p:txBody>
          <a:bodyPr wrap="square" lIns="0" rIns="0" tIns="0" bIns="0">
            <a:spAutoFit/>
          </a:bodyPr>
          <a:lstStyle/>
          <a:p>
            <a:pPr>
              <a:spcAft>
                <a:spcPts val="700"/>
              </a:spcAft>
              <a:defRPr sz="2000" b="0">
                <a:solidFill>
                  <a:srgbClr val="A0B3C9"/>
                </a:solidFill>
                <a:latin typeface="Liberation Sans"/>
              </a:defRPr>
            </a:pPr>
            <a:r>
              <a:t>Residual relativo</a:t>
            </a:r>
          </a:p>
          <a:p>
            <a:pPr>
              <a:spcAft>
                <a:spcPts val="700"/>
              </a:spcAft>
              <a:defRPr sz="2000" b="0">
                <a:solidFill>
                  <a:srgbClr val="A0B3C9"/>
                </a:solidFill>
                <a:latin typeface="Liberation Sans"/>
              </a:defRPr>
            </a:pPr>
            <a:r>
              <a:t>de amplitud</a:t>
            </a:r>
          </a:p>
          <a:p>
            <a:pPr>
              <a:spcAft>
                <a:spcPts val="700"/>
              </a:spcAft>
              <a:defRPr sz="2000" b="0">
                <a:solidFill>
                  <a:srgbClr val="A0B3C9"/>
                </a:solidFill>
                <a:latin typeface="Liberation Sans"/>
              </a:defRPr>
            </a:pPr>
            <a:r>
              <a:t>(raíz de la pérdida)</a:t>
            </a:r>
          </a:p>
        </p:txBody>
      </p:sp>
      <p:sp>
        <p:nvSpPr>
          <p:cNvPr id="12" name="TextBox 11"/>
          <p:cNvSpPr txBox="1"/>
          <p:nvPr/>
        </p:nvSpPr>
        <p:spPr>
          <a:xfrm>
            <a:off x="640080" y="5824728"/>
            <a:ext cx="10881360" cy="411480"/>
          </a:xfrm>
          <a:prstGeom prst="rect">
            <a:avLst/>
          </a:prstGeom>
          <a:noFill/>
        </p:spPr>
        <p:txBody>
          <a:bodyPr wrap="square" lIns="0" rIns="0" tIns="0" bIns="0">
            <a:spAutoFit/>
          </a:bodyPr>
          <a:lstStyle/>
          <a:p>
            <a:pPr>
              <a:spcAft>
                <a:spcPts val="700"/>
              </a:spcAft>
              <a:defRPr sz="2000" b="1">
                <a:solidFill>
                  <a:srgbClr val="73E5B3"/>
                </a:solidFill>
                <a:latin typeface="Liberation Sans"/>
              </a:defRPr>
            </a:pPr>
            <a:r>
              <a:t>Una pérdida baja no garantiza que la fase sea exacta.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92608"/>
            <a:ext cx="10058400" cy="256032"/>
          </a:xfrm>
          <a:prstGeom prst="rect">
            <a:avLst/>
          </a:prstGeom>
          <a:noFill/>
        </p:spPr>
        <p:txBody>
          <a:bodyPr wrap="square" lIns="0" rIns="0" tIns="0" bIns="0">
            <a:spAutoFit/>
          </a:bodyPr>
          <a:lstStyle/>
          <a:p>
            <a:pPr>
              <a:spcAft>
                <a:spcPts val="700"/>
              </a:spcAft>
              <a:defRPr sz="1200" b="1">
                <a:solidFill>
                  <a:srgbClr val="73E5B3"/>
                </a:solidFill>
                <a:latin typeface="Liberation Sans"/>
              </a:defRPr>
            </a:pPr>
            <a:r>
              <a:t>03 · ITERAR</a:t>
            </a:r>
          </a:p>
        </p:txBody>
      </p:sp>
      <p:sp>
        <p:nvSpPr>
          <p:cNvPr id="3" name="TextBox 2"/>
          <p:cNvSpPr txBox="1"/>
          <p:nvPr/>
        </p:nvSpPr>
        <p:spPr>
          <a:xfrm>
            <a:off x="548640" y="749808"/>
            <a:ext cx="11064240" cy="621792"/>
          </a:xfrm>
          <a:prstGeom prst="rect">
            <a:avLst/>
          </a:prstGeom>
          <a:noFill/>
        </p:spPr>
        <p:txBody>
          <a:bodyPr wrap="square" lIns="0" rIns="0" tIns="0" bIns="0">
            <a:spAutoFit/>
          </a:bodyPr>
          <a:lstStyle/>
          <a:p>
            <a:pPr>
              <a:spcAft>
                <a:spcPts val="700"/>
              </a:spcAft>
              <a:defRPr sz="3000" b="1">
                <a:solidFill>
                  <a:srgbClr val="E8EEF6"/>
                </a:solidFill>
                <a:latin typeface="Liberation Sans"/>
              </a:defRPr>
            </a:pPr>
            <a:r>
              <a:t>La estimación evoluciona</a:t>
            </a:r>
          </a:p>
        </p:txBody>
      </p:sp>
      <p:sp>
        <p:nvSpPr>
          <p:cNvPr id="4" name="TextBox 3"/>
          <p:cNvSpPr txBox="1"/>
          <p:nvPr/>
        </p:nvSpPr>
        <p:spPr>
          <a:xfrm>
            <a:off x="548640" y="1389888"/>
            <a:ext cx="11064240" cy="502920"/>
          </a:xfrm>
          <a:prstGeom prst="rect">
            <a:avLst/>
          </a:prstGeom>
          <a:noFill/>
        </p:spPr>
        <p:txBody>
          <a:bodyPr wrap="square" lIns="0" rIns="0" tIns="0" bIns="0">
            <a:spAutoFit/>
          </a:bodyPr>
          <a:lstStyle/>
          <a:p>
            <a:pPr>
              <a:spcAft>
                <a:spcPts val="700"/>
              </a:spcAft>
              <a:defRPr sz="1900" b="0">
                <a:solidFill>
                  <a:srgbClr val="A0B3C9"/>
                </a:solidFill>
                <a:latin typeface="Liberation Sans"/>
              </a:defRPr>
            </a:pPr>
            <a:r>
              <a:t>Amplitud y fase al finalizar distintas iteraciones completas.</a:t>
            </a:r>
          </a:p>
        </p:txBody>
      </p:sp>
      <p:cxnSp>
        <p:nvCxnSpPr>
          <p:cNvPr id="5" name="Connector 4"/>
          <p:cNvCxnSpPr/>
          <p:nvPr/>
        </p:nvCxnSpPr>
        <p:spPr>
          <a:xfrm>
            <a:off x="548640" y="6355080"/>
            <a:ext cx="11082528" cy="0"/>
          </a:xfrm>
          <a:prstGeom prst="line">
            <a:avLst/>
          </a:prstGeom>
          <a:ln w="8890">
            <a:solidFill>
              <a:srgbClr val="36566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9144000" cy="201168"/>
          </a:xfrm>
          <a:prstGeom prst="rect">
            <a:avLst/>
          </a:prstGeom>
          <a:noFill/>
        </p:spPr>
        <p:txBody>
          <a:bodyPr wrap="square" lIns="0" rIns="0" tIns="0" bIns="0">
            <a:spAutoFit/>
          </a:bodyPr>
          <a:lstStyle/>
          <a:p>
            <a:pPr>
              <a:spcAft>
                <a:spcPts val="700"/>
              </a:spcAft>
              <a:defRPr sz="1000" b="0">
                <a:solidFill>
                  <a:srgbClr val="A0B3C9"/>
                </a:solidFill>
                <a:latin typeface="Liberation Sans"/>
              </a:defRPr>
            </a:pPr>
            <a:r>
              <a:t>Pticografía de Fourier · simulación didáctica · V1</a:t>
            </a:r>
          </a:p>
        </p:txBody>
      </p:sp>
      <p:sp>
        <p:nvSpPr>
          <p:cNvPr id="7" name="TextBox 6"/>
          <p:cNvSpPr txBox="1"/>
          <p:nvPr/>
        </p:nvSpPr>
        <p:spPr>
          <a:xfrm>
            <a:off x="10698480" y="6455664"/>
            <a:ext cx="914400" cy="228600"/>
          </a:xfrm>
          <a:prstGeom prst="rect">
            <a:avLst/>
          </a:prstGeom>
          <a:noFill/>
        </p:spPr>
        <p:txBody>
          <a:bodyPr wrap="square" lIns="0" rIns="0" tIns="0" bIns="0">
            <a:spAutoFit/>
          </a:bodyPr>
          <a:lstStyle/>
          <a:p>
            <a:pPr algn="r">
              <a:spcAft>
                <a:spcPts val="700"/>
              </a:spcAft>
              <a:defRPr sz="1100" b="0">
                <a:solidFill>
                  <a:srgbClr val="A0B3C9"/>
                </a:solidFill>
                <a:latin typeface="Liberation Sans"/>
              </a:defRPr>
            </a:pPr>
            <a:r>
              <a:t>16 / 18</a:t>
            </a:r>
          </a:p>
        </p:txBody>
      </p:sp>
      <p:sp>
        <p:nvSpPr>
          <p:cNvPr id="8" name="TextBox 7"/>
          <p:cNvSpPr txBox="1"/>
          <p:nvPr/>
        </p:nvSpPr>
        <p:spPr>
          <a:xfrm>
            <a:off x="594360" y="2743200"/>
            <a:ext cx="1371600" cy="411480"/>
          </a:xfrm>
          <a:prstGeom prst="rect">
            <a:avLst/>
          </a:prstGeom>
          <a:noFill/>
        </p:spPr>
        <p:txBody>
          <a:bodyPr wrap="square" lIns="0" rIns="0" tIns="0" bIns="0">
            <a:spAutoFit/>
          </a:bodyPr>
          <a:lstStyle/>
          <a:p>
            <a:pPr>
              <a:spcAft>
                <a:spcPts val="700"/>
              </a:spcAft>
              <a:defRPr sz="1800" b="0">
                <a:solidFill>
                  <a:srgbClr val="A0B3C9"/>
                </a:solidFill>
                <a:latin typeface="Liberation Sans"/>
              </a:defRPr>
            </a:pPr>
            <a:r>
              <a:t>Amplitud</a:t>
            </a:r>
          </a:p>
        </p:txBody>
      </p:sp>
      <p:sp>
        <p:nvSpPr>
          <p:cNvPr id="9" name="TextBox 8"/>
          <p:cNvSpPr txBox="1"/>
          <p:nvPr/>
        </p:nvSpPr>
        <p:spPr>
          <a:xfrm>
            <a:off x="594360" y="4599432"/>
            <a:ext cx="1371600" cy="411480"/>
          </a:xfrm>
          <a:prstGeom prst="rect">
            <a:avLst/>
          </a:prstGeom>
          <a:noFill/>
        </p:spPr>
        <p:txBody>
          <a:bodyPr wrap="square" lIns="0" rIns="0" tIns="0" bIns="0">
            <a:spAutoFit/>
          </a:bodyPr>
          <a:lstStyle/>
          <a:p>
            <a:pPr>
              <a:spcAft>
                <a:spcPts val="700"/>
              </a:spcAft>
              <a:defRPr sz="1800" b="0">
                <a:solidFill>
                  <a:srgbClr val="A0B3C9"/>
                </a:solidFill>
                <a:latin typeface="Liberation Sans"/>
              </a:defRPr>
            </a:pPr>
            <a:r>
              <a:t>Fase</a:t>
            </a:r>
          </a:p>
        </p:txBody>
      </p:sp>
      <p:sp>
        <p:nvSpPr>
          <p:cNvPr id="10" name="TextBox 9"/>
          <p:cNvSpPr txBox="1"/>
          <p:nvPr/>
        </p:nvSpPr>
        <p:spPr>
          <a:xfrm>
            <a:off x="2148840" y="1965960"/>
            <a:ext cx="2194560" cy="365760"/>
          </a:xfrm>
          <a:prstGeom prst="rect">
            <a:avLst/>
          </a:prstGeom>
          <a:noFill/>
        </p:spPr>
        <p:txBody>
          <a:bodyPr wrap="square" lIns="0" rIns="0" tIns="0" bIns="0">
            <a:spAutoFit/>
          </a:bodyPr>
          <a:lstStyle/>
          <a:p>
            <a:pPr algn="ctr">
              <a:spcAft>
                <a:spcPts val="700"/>
              </a:spcAft>
              <a:defRPr sz="2100" b="1">
                <a:solidFill>
                  <a:srgbClr val="73E5B3"/>
                </a:solidFill>
                <a:latin typeface="Liberation Sans"/>
              </a:defRPr>
            </a:pPr>
            <a:r>
              <a:t>Iteración 0</a:t>
            </a:r>
          </a:p>
        </p:txBody>
      </p:sp>
      <p:pic>
        <p:nvPicPr>
          <p:cNvPr id="11" name="Picture 10" descr="image.png"/>
          <p:cNvPicPr>
            <a:picLocks noChangeAspect="1"/>
          </p:cNvPicPr>
          <p:nvPr/>
        </p:nvPicPr>
        <p:blipFill>
          <a:blip r:embed="rId3"/>
          <a:stretch>
            <a:fillRect/>
          </a:stretch>
        </p:blipFill>
        <p:spPr>
          <a:xfrm>
            <a:off x="2286000" y="2423160"/>
            <a:ext cx="1627632" cy="1627632"/>
          </a:xfrm>
          <a:prstGeom prst="rect">
            <a:avLst/>
          </a:prstGeom>
        </p:spPr>
      </p:pic>
      <p:pic>
        <p:nvPicPr>
          <p:cNvPr id="12" name="Picture 11" descr="image.png"/>
          <p:cNvPicPr>
            <a:picLocks noChangeAspect="1"/>
          </p:cNvPicPr>
          <p:nvPr/>
        </p:nvPicPr>
        <p:blipFill>
          <a:blip r:embed="rId4"/>
          <a:stretch>
            <a:fillRect/>
          </a:stretch>
        </p:blipFill>
        <p:spPr>
          <a:xfrm>
            <a:off x="2286000" y="4206240"/>
            <a:ext cx="1627632" cy="1627632"/>
          </a:xfrm>
          <a:prstGeom prst="rect">
            <a:avLst/>
          </a:prstGeom>
        </p:spPr>
      </p:pic>
      <p:sp>
        <p:nvSpPr>
          <p:cNvPr id="13" name="TextBox 12"/>
          <p:cNvSpPr txBox="1"/>
          <p:nvPr/>
        </p:nvSpPr>
        <p:spPr>
          <a:xfrm>
            <a:off x="5440679" y="1965960"/>
            <a:ext cx="2194560" cy="365760"/>
          </a:xfrm>
          <a:prstGeom prst="rect">
            <a:avLst/>
          </a:prstGeom>
          <a:noFill/>
        </p:spPr>
        <p:txBody>
          <a:bodyPr wrap="square" lIns="0" rIns="0" tIns="0" bIns="0">
            <a:spAutoFit/>
          </a:bodyPr>
          <a:lstStyle/>
          <a:p>
            <a:pPr algn="ctr">
              <a:spcAft>
                <a:spcPts val="700"/>
              </a:spcAft>
              <a:defRPr sz="2100" b="1">
                <a:solidFill>
                  <a:srgbClr val="73E5B3"/>
                </a:solidFill>
                <a:latin typeface="Liberation Sans"/>
              </a:defRPr>
            </a:pPr>
            <a:r>
              <a:t>Iteración 5</a:t>
            </a:r>
          </a:p>
        </p:txBody>
      </p:sp>
      <p:pic>
        <p:nvPicPr>
          <p:cNvPr id="14" name="Picture 13" descr="image.png"/>
          <p:cNvPicPr>
            <a:picLocks noChangeAspect="1"/>
          </p:cNvPicPr>
          <p:nvPr/>
        </p:nvPicPr>
        <p:blipFill>
          <a:blip r:embed="rId5"/>
          <a:stretch>
            <a:fillRect/>
          </a:stretch>
        </p:blipFill>
        <p:spPr>
          <a:xfrm>
            <a:off x="5577840" y="2423160"/>
            <a:ext cx="1627632" cy="1627632"/>
          </a:xfrm>
          <a:prstGeom prst="rect">
            <a:avLst/>
          </a:prstGeom>
        </p:spPr>
      </p:pic>
      <p:pic>
        <p:nvPicPr>
          <p:cNvPr id="15" name="Picture 14" descr="image.png"/>
          <p:cNvPicPr>
            <a:picLocks noChangeAspect="1"/>
          </p:cNvPicPr>
          <p:nvPr/>
        </p:nvPicPr>
        <p:blipFill>
          <a:blip r:embed="rId6"/>
          <a:stretch>
            <a:fillRect/>
          </a:stretch>
        </p:blipFill>
        <p:spPr>
          <a:xfrm>
            <a:off x="5577840" y="4206240"/>
            <a:ext cx="1627632" cy="1627632"/>
          </a:xfrm>
          <a:prstGeom prst="rect">
            <a:avLst/>
          </a:prstGeom>
        </p:spPr>
      </p:pic>
      <p:sp>
        <p:nvSpPr>
          <p:cNvPr id="16" name="TextBox 15"/>
          <p:cNvSpPr txBox="1"/>
          <p:nvPr/>
        </p:nvSpPr>
        <p:spPr>
          <a:xfrm>
            <a:off x="8732519" y="1965960"/>
            <a:ext cx="2194560" cy="365760"/>
          </a:xfrm>
          <a:prstGeom prst="rect">
            <a:avLst/>
          </a:prstGeom>
          <a:noFill/>
        </p:spPr>
        <p:txBody>
          <a:bodyPr wrap="square" lIns="0" rIns="0" tIns="0" bIns="0">
            <a:spAutoFit/>
          </a:bodyPr>
          <a:lstStyle/>
          <a:p>
            <a:pPr algn="ctr">
              <a:spcAft>
                <a:spcPts val="700"/>
              </a:spcAft>
              <a:defRPr sz="2100" b="1">
                <a:solidFill>
                  <a:srgbClr val="73E5B3"/>
                </a:solidFill>
                <a:latin typeface="Liberation Sans"/>
              </a:defRPr>
            </a:pPr>
            <a:r>
              <a:t>Iteración 30</a:t>
            </a:r>
          </a:p>
        </p:txBody>
      </p:sp>
      <p:pic>
        <p:nvPicPr>
          <p:cNvPr id="17" name="Picture 16" descr="image.png"/>
          <p:cNvPicPr>
            <a:picLocks noChangeAspect="1"/>
          </p:cNvPicPr>
          <p:nvPr/>
        </p:nvPicPr>
        <p:blipFill>
          <a:blip r:embed="rId7"/>
          <a:stretch>
            <a:fillRect/>
          </a:stretch>
        </p:blipFill>
        <p:spPr>
          <a:xfrm>
            <a:off x="8869680" y="2423160"/>
            <a:ext cx="1627632" cy="1627632"/>
          </a:xfrm>
          <a:prstGeom prst="rect">
            <a:avLst/>
          </a:prstGeom>
        </p:spPr>
      </p:pic>
      <p:pic>
        <p:nvPicPr>
          <p:cNvPr id="18" name="Picture 17" descr="image.png"/>
          <p:cNvPicPr>
            <a:picLocks noChangeAspect="1"/>
          </p:cNvPicPr>
          <p:nvPr/>
        </p:nvPicPr>
        <p:blipFill>
          <a:blip r:embed="rId8"/>
          <a:stretch>
            <a:fillRect/>
          </a:stretch>
        </p:blipFill>
        <p:spPr>
          <a:xfrm>
            <a:off x="8869680" y="4206240"/>
            <a:ext cx="1627632" cy="162763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92608"/>
            <a:ext cx="10058400" cy="256032"/>
          </a:xfrm>
          <a:prstGeom prst="rect">
            <a:avLst/>
          </a:prstGeom>
          <a:noFill/>
        </p:spPr>
        <p:txBody>
          <a:bodyPr wrap="square" lIns="0" rIns="0" tIns="0" bIns="0">
            <a:spAutoFit/>
          </a:bodyPr>
          <a:lstStyle/>
          <a:p>
            <a:pPr>
              <a:spcAft>
                <a:spcPts val="700"/>
              </a:spcAft>
              <a:defRPr sz="1200" b="1">
                <a:solidFill>
                  <a:srgbClr val="73E5B3"/>
                </a:solidFill>
                <a:latin typeface="Liberation Sans"/>
              </a:defRPr>
            </a:pPr>
            <a:r>
              <a:t>04 · INTERPRETAR</a:t>
            </a:r>
          </a:p>
        </p:txBody>
      </p:sp>
      <p:sp>
        <p:nvSpPr>
          <p:cNvPr id="3" name="TextBox 2"/>
          <p:cNvSpPr txBox="1"/>
          <p:nvPr/>
        </p:nvSpPr>
        <p:spPr>
          <a:xfrm>
            <a:off x="548640" y="749808"/>
            <a:ext cx="11064240" cy="621792"/>
          </a:xfrm>
          <a:prstGeom prst="rect">
            <a:avLst/>
          </a:prstGeom>
          <a:noFill/>
        </p:spPr>
        <p:txBody>
          <a:bodyPr wrap="square" lIns="0" rIns="0" tIns="0" bIns="0">
            <a:spAutoFit/>
          </a:bodyPr>
          <a:lstStyle/>
          <a:p>
            <a:pPr>
              <a:spcAft>
                <a:spcPts val="700"/>
              </a:spcAft>
              <a:defRPr sz="3000" b="1">
                <a:solidFill>
                  <a:srgbClr val="E8EEF6"/>
                </a:solidFill>
                <a:latin typeface="Liberation Sans"/>
              </a:defRPr>
            </a:pPr>
            <a:r>
              <a:t>Comparar el ajuste con la muestra conocida</a:t>
            </a:r>
          </a:p>
        </p:txBody>
      </p:sp>
      <p:sp>
        <p:nvSpPr>
          <p:cNvPr id="4" name="TextBox 3"/>
          <p:cNvSpPr txBox="1"/>
          <p:nvPr/>
        </p:nvSpPr>
        <p:spPr>
          <a:xfrm>
            <a:off x="548640" y="1389888"/>
            <a:ext cx="11064240" cy="502920"/>
          </a:xfrm>
          <a:prstGeom prst="rect">
            <a:avLst/>
          </a:prstGeom>
          <a:noFill/>
        </p:spPr>
        <p:txBody>
          <a:bodyPr wrap="square" lIns="0" rIns="0" tIns="0" bIns="0">
            <a:spAutoFit/>
          </a:bodyPr>
          <a:lstStyle/>
          <a:p>
            <a:pPr>
              <a:spcAft>
                <a:spcPts val="700"/>
              </a:spcAft>
              <a:defRPr sz="1900" b="0">
                <a:solidFill>
                  <a:srgbClr val="A0B3C9"/>
                </a:solidFill>
                <a:latin typeface="Liberation Sans"/>
              </a:defRPr>
            </a:pPr>
            <a:r>
              <a:t>La amplitud recupera detalle; la fase puede conservar errores.</a:t>
            </a:r>
          </a:p>
        </p:txBody>
      </p:sp>
      <p:cxnSp>
        <p:nvCxnSpPr>
          <p:cNvPr id="5" name="Connector 4"/>
          <p:cNvCxnSpPr/>
          <p:nvPr/>
        </p:nvCxnSpPr>
        <p:spPr>
          <a:xfrm>
            <a:off x="548640" y="6355080"/>
            <a:ext cx="11082528" cy="0"/>
          </a:xfrm>
          <a:prstGeom prst="line">
            <a:avLst/>
          </a:prstGeom>
          <a:ln w="8890">
            <a:solidFill>
              <a:srgbClr val="36566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9144000" cy="201168"/>
          </a:xfrm>
          <a:prstGeom prst="rect">
            <a:avLst/>
          </a:prstGeom>
          <a:noFill/>
        </p:spPr>
        <p:txBody>
          <a:bodyPr wrap="square" lIns="0" rIns="0" tIns="0" bIns="0">
            <a:spAutoFit/>
          </a:bodyPr>
          <a:lstStyle/>
          <a:p>
            <a:pPr>
              <a:spcAft>
                <a:spcPts val="700"/>
              </a:spcAft>
              <a:defRPr sz="1000" b="0">
                <a:solidFill>
                  <a:srgbClr val="A0B3C9"/>
                </a:solidFill>
                <a:latin typeface="Liberation Sans"/>
              </a:defRPr>
            </a:pPr>
            <a:r>
              <a:t>Pticografía de Fourier · simulación didáctica · V1</a:t>
            </a:r>
          </a:p>
        </p:txBody>
      </p:sp>
      <p:sp>
        <p:nvSpPr>
          <p:cNvPr id="7" name="TextBox 6"/>
          <p:cNvSpPr txBox="1"/>
          <p:nvPr/>
        </p:nvSpPr>
        <p:spPr>
          <a:xfrm>
            <a:off x="10698480" y="6455664"/>
            <a:ext cx="914400" cy="228600"/>
          </a:xfrm>
          <a:prstGeom prst="rect">
            <a:avLst/>
          </a:prstGeom>
          <a:noFill/>
        </p:spPr>
        <p:txBody>
          <a:bodyPr wrap="square" lIns="0" rIns="0" tIns="0" bIns="0">
            <a:spAutoFit/>
          </a:bodyPr>
          <a:lstStyle/>
          <a:p>
            <a:pPr algn="r">
              <a:spcAft>
                <a:spcPts val="700"/>
              </a:spcAft>
              <a:defRPr sz="1100" b="0">
                <a:solidFill>
                  <a:srgbClr val="A0B3C9"/>
                </a:solidFill>
                <a:latin typeface="Liberation Sans"/>
              </a:defRPr>
            </a:pPr>
            <a:r>
              <a:t>17 / 18</a:t>
            </a:r>
          </a:p>
        </p:txBody>
      </p:sp>
      <p:sp>
        <p:nvSpPr>
          <p:cNvPr id="8" name="TextBox 7"/>
          <p:cNvSpPr txBox="1"/>
          <p:nvPr/>
        </p:nvSpPr>
        <p:spPr>
          <a:xfrm>
            <a:off x="640080" y="1984248"/>
            <a:ext cx="5029200" cy="548640"/>
          </a:xfrm>
          <a:prstGeom prst="rect">
            <a:avLst/>
          </a:prstGeom>
          <a:noFill/>
        </p:spPr>
        <p:txBody>
          <a:bodyPr wrap="square" lIns="0" rIns="0" tIns="0" bIns="0">
            <a:spAutoFit/>
          </a:bodyPr>
          <a:lstStyle/>
          <a:p>
            <a:pPr algn="ctr">
              <a:spcAft>
                <a:spcPts val="700"/>
              </a:spcAft>
              <a:defRPr sz="2100" b="1">
                <a:solidFill>
                  <a:srgbClr val="73E5B3"/>
                </a:solidFill>
                <a:latin typeface="Liberation Sans"/>
              </a:defRPr>
            </a:pPr>
            <a:r>
              <a:t>Reconstrucción · iteración 30</a:t>
            </a:r>
          </a:p>
        </p:txBody>
      </p:sp>
      <p:pic>
        <p:nvPicPr>
          <p:cNvPr id="9" name="Picture 8" descr="image.png"/>
          <p:cNvPicPr>
            <a:picLocks noChangeAspect="1"/>
          </p:cNvPicPr>
          <p:nvPr/>
        </p:nvPicPr>
        <p:blipFill>
          <a:blip r:embed="rId3"/>
          <a:stretch>
            <a:fillRect/>
          </a:stretch>
        </p:blipFill>
        <p:spPr>
          <a:xfrm>
            <a:off x="777240" y="2706624"/>
            <a:ext cx="2103120" cy="2103120"/>
          </a:xfrm>
          <a:prstGeom prst="rect">
            <a:avLst/>
          </a:prstGeom>
        </p:spPr>
      </p:pic>
      <p:sp>
        <p:nvSpPr>
          <p:cNvPr id="10" name="TextBox 9"/>
          <p:cNvSpPr txBox="1"/>
          <p:nvPr/>
        </p:nvSpPr>
        <p:spPr>
          <a:xfrm>
            <a:off x="704088" y="4919472"/>
            <a:ext cx="224942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Amplitud</a:t>
            </a:r>
          </a:p>
        </p:txBody>
      </p:sp>
      <p:pic>
        <p:nvPicPr>
          <p:cNvPr id="11" name="Picture 10" descr="image.png"/>
          <p:cNvPicPr>
            <a:picLocks noChangeAspect="1"/>
          </p:cNvPicPr>
          <p:nvPr/>
        </p:nvPicPr>
        <p:blipFill>
          <a:blip r:embed="rId4"/>
          <a:stretch>
            <a:fillRect/>
          </a:stretch>
        </p:blipFill>
        <p:spPr>
          <a:xfrm>
            <a:off x="3291840" y="2706624"/>
            <a:ext cx="2103120" cy="2103120"/>
          </a:xfrm>
          <a:prstGeom prst="rect">
            <a:avLst/>
          </a:prstGeom>
        </p:spPr>
      </p:pic>
      <p:sp>
        <p:nvSpPr>
          <p:cNvPr id="12" name="TextBox 11"/>
          <p:cNvSpPr txBox="1"/>
          <p:nvPr/>
        </p:nvSpPr>
        <p:spPr>
          <a:xfrm>
            <a:off x="3218688" y="4919472"/>
            <a:ext cx="224942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Fase</a:t>
            </a:r>
          </a:p>
        </p:txBody>
      </p:sp>
      <p:sp>
        <p:nvSpPr>
          <p:cNvPr id="13" name="TextBox 12"/>
          <p:cNvSpPr txBox="1"/>
          <p:nvPr/>
        </p:nvSpPr>
        <p:spPr>
          <a:xfrm>
            <a:off x="6537959" y="1984248"/>
            <a:ext cx="5029200" cy="548640"/>
          </a:xfrm>
          <a:prstGeom prst="rect">
            <a:avLst/>
          </a:prstGeom>
          <a:noFill/>
        </p:spPr>
        <p:txBody>
          <a:bodyPr wrap="square" lIns="0" rIns="0" tIns="0" bIns="0">
            <a:spAutoFit/>
          </a:bodyPr>
          <a:lstStyle/>
          <a:p>
            <a:pPr algn="ctr">
              <a:spcAft>
                <a:spcPts val="700"/>
              </a:spcAft>
              <a:defRPr sz="2100" b="1">
                <a:solidFill>
                  <a:srgbClr val="73E5B3"/>
                </a:solidFill>
                <a:latin typeface="Liberation Sans"/>
              </a:defRPr>
            </a:pPr>
            <a:r>
              <a:t>Muestra conocida</a:t>
            </a:r>
          </a:p>
        </p:txBody>
      </p:sp>
      <p:pic>
        <p:nvPicPr>
          <p:cNvPr id="14" name="Picture 13" descr="image.png"/>
          <p:cNvPicPr>
            <a:picLocks noChangeAspect="1"/>
          </p:cNvPicPr>
          <p:nvPr/>
        </p:nvPicPr>
        <p:blipFill>
          <a:blip r:embed="rId5"/>
          <a:stretch>
            <a:fillRect/>
          </a:stretch>
        </p:blipFill>
        <p:spPr>
          <a:xfrm>
            <a:off x="6675120" y="2706624"/>
            <a:ext cx="2103120" cy="2103120"/>
          </a:xfrm>
          <a:prstGeom prst="rect">
            <a:avLst/>
          </a:prstGeom>
        </p:spPr>
      </p:pic>
      <p:sp>
        <p:nvSpPr>
          <p:cNvPr id="15" name="TextBox 14"/>
          <p:cNvSpPr txBox="1"/>
          <p:nvPr/>
        </p:nvSpPr>
        <p:spPr>
          <a:xfrm>
            <a:off x="6601968" y="4919472"/>
            <a:ext cx="224942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Amplitud</a:t>
            </a:r>
          </a:p>
        </p:txBody>
      </p:sp>
      <p:pic>
        <p:nvPicPr>
          <p:cNvPr id="16" name="Picture 15" descr="image.png"/>
          <p:cNvPicPr>
            <a:picLocks noChangeAspect="1"/>
          </p:cNvPicPr>
          <p:nvPr/>
        </p:nvPicPr>
        <p:blipFill>
          <a:blip r:embed="rId6"/>
          <a:stretch>
            <a:fillRect/>
          </a:stretch>
        </p:blipFill>
        <p:spPr>
          <a:xfrm>
            <a:off x="9189720" y="2706624"/>
            <a:ext cx="2103120" cy="2103120"/>
          </a:xfrm>
          <a:prstGeom prst="rect">
            <a:avLst/>
          </a:prstGeom>
        </p:spPr>
      </p:pic>
      <p:sp>
        <p:nvSpPr>
          <p:cNvPr id="17" name="TextBox 16"/>
          <p:cNvSpPr txBox="1"/>
          <p:nvPr/>
        </p:nvSpPr>
        <p:spPr>
          <a:xfrm>
            <a:off x="9116568" y="4919472"/>
            <a:ext cx="2249424" cy="594360"/>
          </a:xfrm>
          <a:prstGeom prst="rect">
            <a:avLst/>
          </a:prstGeom>
          <a:noFill/>
        </p:spPr>
        <p:txBody>
          <a:bodyPr wrap="square" lIns="0" rIns="0" tIns="0" bIns="0">
            <a:spAutoFit/>
          </a:bodyPr>
          <a:lstStyle/>
          <a:p>
            <a:pPr algn="ctr">
              <a:spcAft>
                <a:spcPts val="700"/>
              </a:spcAft>
              <a:defRPr sz="1600" b="0">
                <a:solidFill>
                  <a:srgbClr val="A0B3C9"/>
                </a:solidFill>
                <a:latin typeface="Liberation Sans"/>
              </a:defRPr>
            </a:pPr>
            <a:r>
              <a:t>Fase</a:t>
            </a:r>
          </a:p>
        </p:txBody>
      </p:sp>
      <p:sp>
        <p:nvSpPr>
          <p:cNvPr id="18" name="TextBox 17"/>
          <p:cNvSpPr txBox="1"/>
          <p:nvPr/>
        </p:nvSpPr>
        <p:spPr>
          <a:xfrm>
            <a:off x="640080" y="5824728"/>
            <a:ext cx="10881360" cy="411480"/>
          </a:xfrm>
          <a:prstGeom prst="rect">
            <a:avLst/>
          </a:prstGeom>
          <a:noFill/>
        </p:spPr>
        <p:txBody>
          <a:bodyPr wrap="square" lIns="0" rIns="0" tIns="0" bIns="0">
            <a:spAutoFit/>
          </a:bodyPr>
          <a:lstStyle/>
          <a:p>
            <a:pPr>
              <a:spcAft>
                <a:spcPts val="700"/>
              </a:spcAft>
              <a:defRPr sz="2000" b="1">
                <a:solidFill>
                  <a:srgbClr val="73E5B3"/>
                </a:solidFill>
                <a:latin typeface="Liberation Sans"/>
              </a:defRPr>
            </a:pPr>
            <a:r>
              <a:t>La referencia permite ver errores que la curva de pérdida no muestra.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92608"/>
            <a:ext cx="10058400" cy="256032"/>
          </a:xfrm>
          <a:prstGeom prst="rect">
            <a:avLst/>
          </a:prstGeom>
          <a:noFill/>
        </p:spPr>
        <p:txBody>
          <a:bodyPr wrap="square" lIns="0" rIns="0" tIns="0" bIns="0">
            <a:spAutoFit/>
          </a:bodyPr>
          <a:lstStyle/>
          <a:p>
            <a:pPr>
              <a:spcAft>
                <a:spcPts val="700"/>
              </a:spcAft>
              <a:defRPr sz="1200" b="1">
                <a:solidFill>
                  <a:srgbClr val="73E5B3"/>
                </a:solidFill>
                <a:latin typeface="Liberation Sans"/>
              </a:defRPr>
            </a:pPr>
            <a:r>
              <a:t>APÉNDICE</a:t>
            </a:r>
          </a:p>
        </p:txBody>
      </p:sp>
      <p:sp>
        <p:nvSpPr>
          <p:cNvPr id="3" name="TextBox 2"/>
          <p:cNvSpPr txBox="1"/>
          <p:nvPr/>
        </p:nvSpPr>
        <p:spPr>
          <a:xfrm>
            <a:off x="548640" y="749808"/>
            <a:ext cx="11064240" cy="621792"/>
          </a:xfrm>
          <a:prstGeom prst="rect">
            <a:avLst/>
          </a:prstGeom>
          <a:noFill/>
        </p:spPr>
        <p:txBody>
          <a:bodyPr wrap="square" lIns="0" rIns="0" tIns="0" bIns="0">
            <a:spAutoFit/>
          </a:bodyPr>
          <a:lstStyle/>
          <a:p>
            <a:pPr>
              <a:spcAft>
                <a:spcPts val="700"/>
              </a:spcAft>
              <a:defRPr sz="3000" b="1">
                <a:solidFill>
                  <a:srgbClr val="E8EEF6"/>
                </a:solidFill>
                <a:latin typeface="Liberation Sans"/>
              </a:defRPr>
            </a:pPr>
            <a:r>
              <a:t>Modelo, límites y referencias</a:t>
            </a:r>
          </a:p>
        </p:txBody>
      </p:sp>
      <p:sp>
        <p:nvSpPr>
          <p:cNvPr id="4" name="TextBox 3"/>
          <p:cNvSpPr txBox="1"/>
          <p:nvPr/>
        </p:nvSpPr>
        <p:spPr>
          <a:xfrm>
            <a:off x="548640" y="1389888"/>
            <a:ext cx="11064240" cy="502920"/>
          </a:xfrm>
          <a:prstGeom prst="rect">
            <a:avLst/>
          </a:prstGeom>
          <a:noFill/>
        </p:spPr>
        <p:txBody>
          <a:bodyPr wrap="square" lIns="0" rIns="0" tIns="0" bIns="0">
            <a:spAutoFit/>
          </a:bodyPr>
          <a:lstStyle/>
          <a:p>
            <a:pPr>
              <a:spcAft>
                <a:spcPts val="700"/>
              </a:spcAft>
              <a:defRPr sz="1900" b="0">
                <a:solidFill>
                  <a:srgbClr val="A0B3C9"/>
                </a:solidFill>
                <a:latin typeface="Liberation Sans"/>
              </a:defRPr>
            </a:pPr>
            <a:r>
              <a:t>Una simulación ideal para entender el proceso.</a:t>
            </a:r>
          </a:p>
        </p:txBody>
      </p:sp>
      <p:cxnSp>
        <p:nvCxnSpPr>
          <p:cNvPr id="5" name="Connector 4"/>
          <p:cNvCxnSpPr/>
          <p:nvPr/>
        </p:nvCxnSpPr>
        <p:spPr>
          <a:xfrm>
            <a:off x="548640" y="6355080"/>
            <a:ext cx="11082528" cy="0"/>
          </a:xfrm>
          <a:prstGeom prst="line">
            <a:avLst/>
          </a:prstGeom>
          <a:ln w="8890">
            <a:solidFill>
              <a:srgbClr val="36566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9144000" cy="201168"/>
          </a:xfrm>
          <a:prstGeom prst="rect">
            <a:avLst/>
          </a:prstGeom>
          <a:noFill/>
        </p:spPr>
        <p:txBody>
          <a:bodyPr wrap="square" lIns="0" rIns="0" tIns="0" bIns="0">
            <a:spAutoFit/>
          </a:bodyPr>
          <a:lstStyle/>
          <a:p>
            <a:pPr>
              <a:spcAft>
                <a:spcPts val="700"/>
              </a:spcAft>
              <a:defRPr sz="1000" b="0">
                <a:solidFill>
                  <a:srgbClr val="A0B3C9"/>
                </a:solidFill>
                <a:latin typeface="Liberation Sans"/>
              </a:defRPr>
            </a:pPr>
            <a:r>
              <a:t>Pticografía de Fourier · simulación didáctica · V1</a:t>
            </a:r>
          </a:p>
        </p:txBody>
      </p:sp>
      <p:sp>
        <p:nvSpPr>
          <p:cNvPr id="7" name="TextBox 6"/>
          <p:cNvSpPr txBox="1"/>
          <p:nvPr/>
        </p:nvSpPr>
        <p:spPr>
          <a:xfrm>
            <a:off x="10698480" y="6455664"/>
            <a:ext cx="914400" cy="228600"/>
          </a:xfrm>
          <a:prstGeom prst="rect">
            <a:avLst/>
          </a:prstGeom>
          <a:noFill/>
        </p:spPr>
        <p:txBody>
          <a:bodyPr wrap="square" lIns="0" rIns="0" tIns="0" bIns="0">
            <a:spAutoFit/>
          </a:bodyPr>
          <a:lstStyle/>
          <a:p>
            <a:pPr algn="r">
              <a:spcAft>
                <a:spcPts val="700"/>
              </a:spcAft>
              <a:defRPr sz="1100" b="0">
                <a:solidFill>
                  <a:srgbClr val="A0B3C9"/>
                </a:solidFill>
                <a:latin typeface="Liberation Sans"/>
              </a:defRPr>
            </a:pPr>
            <a:r>
              <a:t>18 / 18</a:t>
            </a:r>
          </a:p>
        </p:txBody>
      </p:sp>
      <p:sp>
        <p:nvSpPr>
          <p:cNvPr id="8" name="TextBox 7"/>
          <p:cNvSpPr txBox="1"/>
          <p:nvPr/>
        </p:nvSpPr>
        <p:spPr>
          <a:xfrm>
            <a:off x="731520" y="2194560"/>
            <a:ext cx="5120640" cy="457200"/>
          </a:xfrm>
          <a:prstGeom prst="rect">
            <a:avLst/>
          </a:prstGeom>
          <a:noFill/>
        </p:spPr>
        <p:txBody>
          <a:bodyPr wrap="square" lIns="0" rIns="0" tIns="0" bIns="0">
            <a:spAutoFit/>
          </a:bodyPr>
          <a:lstStyle/>
          <a:p>
            <a:pPr>
              <a:spcAft>
                <a:spcPts val="700"/>
              </a:spcAft>
              <a:defRPr sz="2300" b="1">
                <a:solidFill>
                  <a:srgbClr val="73E5B3"/>
                </a:solidFill>
                <a:latin typeface="Liberation Sans"/>
              </a:defRPr>
            </a:pPr>
            <a:r>
              <a:t>Modelo óptico</a:t>
            </a:r>
          </a:p>
        </p:txBody>
      </p:sp>
      <p:sp>
        <p:nvSpPr>
          <p:cNvPr id="9" name="TextBox 8"/>
          <p:cNvSpPr txBox="1"/>
          <p:nvPr/>
        </p:nvSpPr>
        <p:spPr>
          <a:xfrm>
            <a:off x="731520" y="2816352"/>
            <a:ext cx="5120640" cy="2468880"/>
          </a:xfrm>
          <a:prstGeom prst="rect">
            <a:avLst/>
          </a:prstGeom>
          <a:noFill/>
        </p:spPr>
        <p:txBody>
          <a:bodyPr wrap="square" lIns="0" rIns="0" tIns="0" bIns="0">
            <a:spAutoFit/>
          </a:bodyPr>
          <a:lstStyle/>
          <a:p>
            <a:pPr>
              <a:spcAft>
                <a:spcPts val="700"/>
              </a:spcAft>
              <a:defRPr sz="2100" b="0">
                <a:solidFill>
                  <a:srgbClr val="E8EEF6"/>
                </a:solidFill>
                <a:latin typeface="Liberation Sans"/>
              </a:defRPr>
            </a:pPr>
            <a:r>
              <a:t>Muestra delgada y un LED a la vez.</a:t>
            </a:r>
          </a:p>
          <a:p>
            <a:pPr>
              <a:spcAft>
                <a:spcPts val="700"/>
              </a:spcAft>
              <a:defRPr sz="2100" b="0">
                <a:solidFill>
                  <a:srgbClr val="E8EEF6"/>
                </a:solidFill>
                <a:latin typeface="Liberation Sans"/>
              </a:defRPr>
            </a:pPr>
            <a:r>
              <a:t>Pupila circular ideal.</a:t>
            </a:r>
          </a:p>
          <a:p>
            <a:pPr>
              <a:spcAft>
                <a:spcPts val="700"/>
              </a:spcAft>
              <a:defRPr sz="2100" b="0">
                <a:solidFill>
                  <a:srgbClr val="E8EEF6"/>
                </a:solidFill>
                <a:latin typeface="Liberation Sans"/>
              </a:defRPr>
            </a:pPr>
            <a:r>
              <a:t>Sin ruido ni aberraciones.</a:t>
            </a:r>
          </a:p>
          <a:p>
            <a:pPr>
              <a:spcAft>
                <a:spcPts val="700"/>
              </a:spcAft>
              <a:defRPr sz="2100" b="0">
                <a:solidFill>
                  <a:srgbClr val="E8EEF6"/>
                </a:solidFill>
                <a:latin typeface="Liberation Sans"/>
              </a:defRPr>
            </a:pPr>
            <a:r>
              <a:t>49 capturas · 30 iteraciones.</a:t>
            </a:r>
          </a:p>
        </p:txBody>
      </p:sp>
      <p:sp>
        <p:nvSpPr>
          <p:cNvPr id="10" name="TextBox 9"/>
          <p:cNvSpPr txBox="1"/>
          <p:nvPr/>
        </p:nvSpPr>
        <p:spPr>
          <a:xfrm>
            <a:off x="6400800" y="2194560"/>
            <a:ext cx="5029200" cy="457200"/>
          </a:xfrm>
          <a:prstGeom prst="rect">
            <a:avLst/>
          </a:prstGeom>
          <a:noFill/>
        </p:spPr>
        <p:txBody>
          <a:bodyPr wrap="square" lIns="0" rIns="0" tIns="0" bIns="0">
            <a:spAutoFit/>
          </a:bodyPr>
          <a:lstStyle/>
          <a:p>
            <a:pPr>
              <a:spcAft>
                <a:spcPts val="700"/>
              </a:spcAft>
              <a:defRPr sz="2300" b="1">
                <a:solidFill>
                  <a:srgbClr val="73E5B3"/>
                </a:solidFill>
                <a:latin typeface="Liberation Sans"/>
              </a:defRPr>
            </a:pPr>
            <a:r>
              <a:t>Optimización y lectura</a:t>
            </a:r>
          </a:p>
        </p:txBody>
      </p:sp>
      <p:sp>
        <p:nvSpPr>
          <p:cNvPr id="11" name="TextBox 10"/>
          <p:cNvSpPr txBox="1"/>
          <p:nvPr/>
        </p:nvSpPr>
        <p:spPr>
          <a:xfrm>
            <a:off x="6400800" y="2816352"/>
            <a:ext cx="5029200" cy="2468880"/>
          </a:xfrm>
          <a:prstGeom prst="rect">
            <a:avLst/>
          </a:prstGeom>
          <a:noFill/>
        </p:spPr>
        <p:txBody>
          <a:bodyPr wrap="square" lIns="0" rIns="0" tIns="0" bIns="0">
            <a:spAutoFit/>
          </a:bodyPr>
          <a:lstStyle/>
          <a:p>
            <a:pPr>
              <a:spcAft>
                <a:spcPts val="700"/>
              </a:spcAft>
              <a:defRPr sz="2100" b="0">
                <a:solidFill>
                  <a:srgbClr val="E8EEF6"/>
                </a:solidFill>
                <a:latin typeface="Liberation Sans"/>
              </a:defRPr>
            </a:pPr>
            <a:r>
              <a:t>Descenso incremental con pérdida de amplitud.</a:t>
            </a:r>
          </a:p>
          <a:p>
            <a:pPr>
              <a:spcAft>
                <a:spcPts val="700"/>
              </a:spcAft>
              <a:defRPr sz="2100" b="0">
                <a:solidFill>
                  <a:srgbClr val="E8EEF6"/>
                </a:solidFill>
                <a:latin typeface="Liberation Sans"/>
              </a:defRPr>
            </a:pPr>
          </a:p>
          <a:p>
            <a:pPr>
              <a:spcAft>
                <a:spcPts val="700"/>
              </a:spcAft>
              <a:defRPr sz="2100" b="0">
                <a:solidFill>
                  <a:srgbClr val="E8EEF6"/>
                </a:solidFill>
                <a:latin typeface="Liberation Sans"/>
              </a:defRPr>
            </a:pPr>
            <a:r>
              <a:t>Zheng et al. (2013)</a:t>
            </a:r>
          </a:p>
          <a:p>
            <a:pPr>
              <a:spcAft>
                <a:spcPts val="700"/>
              </a:spcAft>
              <a:defRPr sz="2100" b="0">
                <a:solidFill>
                  <a:srgbClr val="E8EEF6"/>
                </a:solidFill>
                <a:latin typeface="Liberation Sans"/>
              </a:defRPr>
            </a:pPr>
            <a:r>
              <a:t>Bian et al. (2015)</a:t>
            </a:r>
          </a:p>
        </p:txBody>
      </p:sp>
      <p:sp>
        <p:nvSpPr>
          <p:cNvPr id="12" name="TextBox 11">
            <a:hlinkClick r:id="rId3"/>
          </p:cNvPr>
          <p:cNvSpPr txBox="1"/>
          <p:nvPr/>
        </p:nvSpPr>
        <p:spPr>
          <a:xfrm>
            <a:off x="6400800" y="5029200"/>
            <a:ext cx="5029200" cy="274320"/>
          </a:xfrm>
          <a:prstGeom prst="rect">
            <a:avLst/>
          </a:prstGeom>
          <a:noFill/>
        </p:spPr>
        <p:txBody>
          <a:bodyPr wrap="square" lIns="0" rIns="0" tIns="0" bIns="0">
            <a:spAutoFit/>
          </a:bodyPr>
          <a:lstStyle/>
          <a:p>
            <a:pPr>
              <a:spcAft>
                <a:spcPts val="700"/>
              </a:spcAft>
              <a:defRPr sz="1500" b="0">
                <a:solidFill>
                  <a:srgbClr val="FFCC75"/>
                </a:solidFill>
                <a:latin typeface="Liberation Sans"/>
              </a:defRPr>
            </a:pPr>
            <a:r>
              <a:t>Zheng · Nature Photonics</a:t>
            </a:r>
          </a:p>
        </p:txBody>
      </p:sp>
      <p:sp>
        <p:nvSpPr>
          <p:cNvPr id="13" name="TextBox 12">
            <a:hlinkClick r:id="rId4"/>
          </p:cNvPr>
          <p:cNvSpPr txBox="1"/>
          <p:nvPr/>
        </p:nvSpPr>
        <p:spPr>
          <a:xfrm>
            <a:off x="6400800" y="5367528"/>
            <a:ext cx="5029200" cy="274320"/>
          </a:xfrm>
          <a:prstGeom prst="rect">
            <a:avLst/>
          </a:prstGeom>
          <a:noFill/>
        </p:spPr>
        <p:txBody>
          <a:bodyPr wrap="square" lIns="0" rIns="0" tIns="0" bIns="0">
            <a:spAutoFit/>
          </a:bodyPr>
          <a:lstStyle/>
          <a:p>
            <a:pPr>
              <a:spcAft>
                <a:spcPts val="700"/>
              </a:spcAft>
              <a:defRPr sz="1500" b="0">
                <a:solidFill>
                  <a:srgbClr val="FFCC75"/>
                </a:solidFill>
                <a:latin typeface="Liberation Sans"/>
              </a:defRPr>
            </a:pPr>
            <a:r>
              <a:t>Bian · Optics Express</a:t>
            </a:r>
          </a:p>
        </p:txBody>
      </p:sp>
      <p:sp>
        <p:nvSpPr>
          <p:cNvPr id="14" name="TextBox 13"/>
          <p:cNvSpPr txBox="1"/>
          <p:nvPr/>
        </p:nvSpPr>
        <p:spPr>
          <a:xfrm>
            <a:off x="640080" y="5824728"/>
            <a:ext cx="10881360" cy="411480"/>
          </a:xfrm>
          <a:prstGeom prst="rect">
            <a:avLst/>
          </a:prstGeom>
          <a:noFill/>
        </p:spPr>
        <p:txBody>
          <a:bodyPr wrap="square" lIns="0" rIns="0" tIns="0" bIns="0">
            <a:spAutoFit/>
          </a:bodyPr>
          <a:lstStyle/>
          <a:p>
            <a:pPr>
              <a:spcAft>
                <a:spcPts val="700"/>
              </a:spcAft>
              <a:defRPr sz="2000" b="1">
                <a:solidFill>
                  <a:srgbClr val="73E5B3"/>
                </a:solidFill>
                <a:latin typeface="Liberation Sans"/>
              </a:defRPr>
            </a:pPr>
            <a:r>
              <a:t>El HTML V1 complementa la presentación con controles interactivos.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Una imagen, muchos ángulos · Pticografía de Fourier</dc:title>
  <dc:subject>Recorrido didáctico basado en el HTML interactivo V1</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es-AR</dc:language>
</cp:coreProperties>
</file>