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8"/>
    <p:sldId id="288" r:id="rId39"/>
    <p:sldId id="289" r:id="rId40"/>
    <p:sldId id="290" r:id="rId4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7" roundtripDataSignature="AMtx7mjJp7FrYqj3xjiiwzg0drexwoAa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E240919-7D21-43D5-84AE-4EA60D75C9E8}">
  <a:tblStyle styleId="{EE240919-7D21-43D5-84AE-4EA60D75C9E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s] Soy Lucas Costilla. Durante un mes le pedimos a agentes de inteligencia artificial que trabajaran sobre un problema real de microscopía. En cinco minutos: el problema, el mejor resultado, cómo lo validamos y qué aprendimos trabajando con agentes.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[60 s] Un microscopio no separa detalles más chicos que cierto límite; con nuestro objetivo, unos 3,8 micrones. La pticografía de Fourier, FPM, lo ataca sin cambiar el objetivo: se toma una foto por cada LED de una matriz, cada una con la iluminación desde otro ángulo, y un programa las combina. En teoría baja a 0,5 a 1 micrón, y además recupera la fase, cuánto se retrasa la luz al atravesar la muestra, que la cámara no registra. La trampa: el programa siempre devuelve una imagen, y hay que saber si es la muestra en alta resolución o si lo inventó. Y nuestra pregunta de fondo: qué parte de este trabajo pudieron hacer agentes de IA, que escribieron, corrieron y auditaron el código, y qué parte no.</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b71923e8388a2e9_0_1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hb71923e8388a2e9_0_1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El mejor resultado es la última captura, del lunes 28 a la noche. Para llegar a ella hicieron falta varias capturas: en cada una los agentes midieron qué faltaba y sugirieron qué cambiar.</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p:txBody>
      </p:sp>
      <p:sp>
        <p:nvSpPr>
          <p:cNvPr id="55" name="Google Shape;55;hb71923e8388a2e9_0_1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hb71923e8388a2e9_0_2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hb71923e8388a2e9_0_2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En julio, con el mismo tiempo para todos los LEDs, la luz inclinada salía casi negra.</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Verde, captura del 24/09. LEDs con S/R &gt; 3: 25 de 169 a 10 ms, 131 de 169 a 100 ms (a 100 ms la luz directa se satura: de ahí, corto para la luz directa y largo para la inclinada).</a:t>
            </a:r>
          </a:p>
        </p:txBody>
      </p:sp>
      <p:sp>
        <p:nvSpPr>
          <p:cNvPr id="64" name="Google Shape;64;hb71923e8388a2e9_0_2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hb71923e8388a2e9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hb71923e8388a2e9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Propusieron varios tiempos por LED: corto para la luz directa y largo para la inclinada. Así pasamos de 12 a 131 de 169 LEDs con señal útil.</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Verde, captura del 24/09. LEDs con S/R &gt; 3: 25 de 169 a 10 ms, 131 de 169 a 100 ms (a 100 ms la luz directa se satura: de ahí, corto para la luz directa y largo para la inclinada).</a:t>
            </a:r>
          </a:p>
        </p:txBody>
      </p:sp>
      <p:sp>
        <p:nvSpPr>
          <p:cNvPr id="74" name="Google Shape;74;hb71923e8388a2e9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b71923e8388a2e9_0_1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hb71923e8388a2e9_0_1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Con los LEDs apagados, el sensor no da cero.</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Rojo, 250 ms, 28/09, recorte de 400 px, misma escala en los tres. Oscuro: mediana 188 cuentas, con píxeles calientes fijos del sensor. La luz inclinada suma en mediana solo 5,9 cuentas sobre ese fondo: sin restarlo, el fondo domina.</a:t>
            </a:r>
          </a:p>
        </p:txBody>
      </p:sp>
      <p:sp>
        <p:nvSpPr>
          <p:cNvPr id="88" name="Google Shape;88;hb71923e8388a2e9_0_1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b71923e8388a2e9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hb71923e8388a2e9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Fotos a oscuras para restar ese fondo, repetidas cuando salieron saturadas.</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Rojo, 250 ms, 28/09, recorte de 400 px, misma escala en los tres. Oscuro: mediana 188 cuentas, con píxeles calientes fijos del sensor. La luz inclinada suma en mediana solo 5,9 cuentas sobre ese fondo: sin restarlo, el fondo domina.</a:t>
            </a:r>
          </a:p>
        </p:txBody>
      </p:sp>
      <p:sp>
        <p:nvSpPr>
          <p:cNvPr id="102" name="Google Shape;102;hb71923e8388a2e9_0_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hb71923e8388a2e9_0_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hb71923e8388a2e9_0_1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El tiempo de cada LED lo calcularon a partir de la captura anterior: un mapa por LED y por color.</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Captura del 28/09, 15×15 LEDs. Centro: luz directa, corto; bordes: luz inclinada, hasta 250 ms (el máximo del programa).</a:t>
            </a:r>
          </a:p>
        </p:txBody>
      </p:sp>
      <p:sp>
        <p:nvSpPr>
          <p:cNvPr id="119" name="Google Shape;119;hb71923e8388a2e9_0_1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b71923e8388a2e9_0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hb71923e8388a2e9_0_2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El tiempo de cada LED lo calcularon a partir de la captura anterior: un mapa por LED y por color.</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Captura del 28/09, 15×15 LEDs. Centro: luz directa, corto; bordes: luz inclinada, hasta 250 ms (el máximo del programa).</a:t>
            </a:r>
          </a:p>
        </p:txBody>
      </p:sp>
      <p:sp>
        <p:nvSpPr>
          <p:cNvPr id="136" name="Google Shape;136;hb71923e8388a2e9_0_2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b71923e8388a2e9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hb71923e8388a2e9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Alejar la matriz, de 74 a unos 98 milímetros, para que las fotos de LEDs vecinos se solapen más: del 31 al 46 por ciento.</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Cada círculo es la pupila de un LED. Naranja: dos LEDs vecinos. Más lejos la matriz, más cerca los círculos y más se solapan.</a:t>
            </a:r>
          </a:p>
        </p:txBody>
      </p:sp>
      <p:sp>
        <p:nvSpPr>
          <p:cNvPr id="156" name="Google Shape;156;hb71923e8388a2e9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b71923e8388a2e9_0_2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hb71923e8388a2e9_0_2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Alejar la matriz, de 74 a unos 98 milímetros, para que las fotos de LEDs vecinos se solapen más: del 31 al 46 por ciento.</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Cada círculo es la pupila de un LED. Naranja: dos LEDs vecinos. Más lejos la matriz, más cerca los círculos y más se solapan.</a:t>
            </a:r>
          </a:p>
        </p:txBody>
      </p:sp>
      <p:sp>
        <p:nvSpPr>
          <p:cNvPr id="176" name="Google Shape;176;hb71923e8388a2e9_0_2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hb71923e8388a2e9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hb71923e8388a2e9_0_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Y enfocar cada color por separado: con un solo foco, solo el color enfocado se parecía a la muestra.</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Captura de la tarde del 28/09, misma porción de 128 µm. Confirmación posterior (captura de la noche): el rojo en su propio foco predice las fotos que no usó con error 0,46; con el foco del verde, 0,81 (sin reconstruir, ~0,98).</a:t>
            </a:r>
          </a:p>
        </p:txBody>
      </p:sp>
      <p:sp>
        <p:nvSpPr>
          <p:cNvPr id="199" name="Google Shape;199;hb71923e8388a2e9_0_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b71923e8388a2e9_0_2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hb71923e8388a2e9_0_2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Y enfocar cada color por separado: con un solo foco, solo el color enfocado se parecía a la muestra.</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Captura de la tarde del 28/09, misma porción de 128 µm. Confirmación posterior (captura de la noche): el rojo en su propio foco predice las fotos que no usó con error 0,46; con el foco del verde, 0,81 (sin reconstruir, ~0,98).</a:t>
            </a:r>
          </a:p>
        </p:txBody>
      </p:sp>
      <p:sp>
        <p:nvSpPr>
          <p:cNvPr id="222" name="Google Shape;222;hb71923e8388a2e9_0_2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b71923e8388a2e9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hb71923e8388a2e9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El resultado: el mismo campo en rojo, verde y azul; arriba la foto cruda de cada color, abajo la reconstrucción. Los tres colores reconstruyen las mismas partículas en los mismos lugares, y cada reconstrucción predice fotos que no usó.</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El mejor resultado es la última captura, del lunes 28 a la noche. Para llegar a ella hicieron falta varias capturas: en cada una los agentes midieron qué faltaba y sugirieron qué cambiar. En julio, con el mismo tiempo para todos los LEDs, la luz inclinada salía casi negra. Propusieron varios tiempos por LED: corto para la luz directa y largo para la inclinada. Así pasamos de 12 a 131 de 169 LEDs con señal útil. Con los LEDs apagados, el sensor no da cero. Fotos a oscuras para restar ese fondo, repetidas cuando salieron saturadas. El tiempo de cada LED lo calcularon a partir de la captura anterior: un mapa por LED y por color. Alejar la matriz, de 74 a unos 98 milímetros, para que las fotos de LEDs vecinos se solapen más: del 31 al 46 por ciento. Y enfocar cada color por separado: con un solo foco, solo el color enfocado se parecía a la muestra. El resultado: el mismo campo en rojo, verde y azul; arriba la foto cruda de cada color, abajo la reconstrucción. Los tres colores reconstruyen las mismas partículas en los mismos lugares, y cada reconstrucción predice fotos que no usó.</a:t>
            </a:r>
            <a:endParaRPr/>
          </a:p>
          <a:p>
            <a:pPr indent="0" lvl="0" marL="0" rtl="0" algn="l">
              <a:spcBef>
                <a:spcPts val="0"/>
              </a:spcBef>
              <a:spcAft>
                <a:spcPts val="0"/>
              </a:spcAft>
              <a:buNone/>
            </a:pPr>
            <a:r>
              <a:rPr lang="es-AR"/>
              <a:t>Pie de la figura (no se muestra): Amplitud = raíz del brillo.</a:t>
            </a:r>
          </a:p>
        </p:txBody>
      </p:sp>
      <p:sp>
        <p:nvSpPr>
          <p:cNvPr id="248" name="Google Shape;248;hb71923e8388a2e9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hb71923e8388a2e9_0_4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hb71923e8388a2e9_0_4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¿Cómo decidimos si confiar? Tres pruebas, con criterios escritos antes de mirar los datos reales. Uno: en simulación, donde conocemos la respuesta, la amplitud coincide 0,997 con la muestra inventada y la fase 0,64 con la matriz a 75 milímetros, donde 1 es perfecto; alejándola a 100, con más solapamiento, la fase sube a 0,97.</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¿Cómo decidimos si confiar? Tres pruebas, con criterios escritos antes de mirar los datos reales. Uno: en simulación, donde conocemos la respuesta, la amplitud coincide 0,997 con la muestra inventada y la fase 0,64 con la matriz a 75 milímetros, donde 1 es perfecto; alejándola a 100, con más solapamiento, la fase sube a 0,97. Dos: con datos reales, apartamos algunos LEDs, reconstruimos sin ellos y comparamos las fotos que el programa predice con las medidas. El error va de 0,46 a 0,62, donde 0 es perfecto y sin reconstruir da 0,98. Tres, la que decide la resolución: reconstruimos dos veces, cada una con la mitad de los LEDs, y medimos cuánto coinciden en el detalle más fino que el objetivo. Da entre 0,04 y 0,10: de 5 a 14 veces más que por azar, pero debajo del umbral, 0,14. A la izquierda, en verde y en la misma zona, la foto cruda y la fase que recuperó el programa, que ninguna foto registra. Las partículas grandes retrasan la luz varios radianes y las chicas muy poco; por eso casi no aparecen en la fase. Conclusión honesta: recuperamos la fase de la muestra real, pero ganar resolución todavía no está demostrado.</a:t>
            </a:r>
            <a:endParaRPr/>
          </a:p>
        </p:txBody>
      </p:sp>
      <p:sp>
        <p:nvSpPr>
          <p:cNvPr id="274" name="Google Shape;274;hb71923e8388a2e9_0_4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hb71923e8388a2e9_0_3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hb71923e8388a2e9_0_3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Dos: con datos reales, apartamos algunos LEDs, reconstruimos sin ellos y comparamos las fotos que el programa predice con las medidas. El error va de 0,46 a 0,62, donde 0 es perfecto y sin reconstruir da 0,98.</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¿Cómo decidimos si confiar? Tres pruebas, con criterios escritos antes de mirar los datos reales. Uno: en simulación, donde conocemos la respuesta, la amplitud coincide 0,997 con la muestra inventada y la fase 0,64 con la matriz a 75 milímetros, donde 1 es perfecto; alejándola a 100, con más solapamiento, la fase sube a 0,97. Dos: con datos reales, apartamos algunos LEDs, reconstruimos sin ellos y comparamos las fotos que el programa predice con las medidas. El error va de 0,46 a 0,62, donde 0 es perfecto y sin reconstruir da 0,98. Tres, la que decide la resolución: reconstruimos dos veces, cada una con la mitad de los LEDs, y medimos cuánto coinciden en el detalle más fino que el objetivo. Da entre 0,04 y 0,10: de 5 a 14 veces más que por azar, pero debajo del umbral, 0,14. A la izquierda, en verde y en la misma zona, la foto cruda y la fase que recuperó el programa, que ninguna foto registra. Las partículas grandes retrasan la luz varios radianes y las chicas muy poco; por eso casi no aparecen en la fase. Conclusión honesta: recuperamos la fase de la muestra real, pero ganar resolución todavía no está demostrado.</a:t>
            </a:r>
            <a:endParaRPr/>
          </a:p>
        </p:txBody>
      </p:sp>
      <p:sp>
        <p:nvSpPr>
          <p:cNvPr id="291" name="Google Shape;291;hb71923e8388a2e9_0_3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Tres, la que decide la resolución: reconstruimos dos veces, cada una con la mitad de los LEDs, y medimos cuánto coinciden en el detalle más fino que el objetivo. Da entre 0,04 y 0,10: de 5 a 14 veces más que por azar, pero debajo del umbral, 0,14.</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¿Cómo decidimos si confiar? Tres pruebas, con criterios escritos antes de mirar los datos reales. Uno: en simulación, donde conocemos la respuesta, la amplitud coincide 0,997 con la muestra inventada y la fase 0,64 con la matriz a 75 milímetros, donde 1 es perfecto; alejándola a 100, con más solapamiento, la fase sube a 0,97. Dos: con datos reales, apartamos algunos LEDs, reconstruimos sin ellos y comparamos las fotos que el programa predice con las medidas. El error va de 0,46 a 0,62, donde 0 es perfecto y sin reconstruir da 0,98. Tres, la que decide la resolución: reconstruimos dos veces, cada una con la mitad de los LEDs, y medimos cuánto coinciden en el detalle más fino que el objetivo. Da entre 0,04 y 0,10: de 5 a 14 veces más que por azar, pero debajo del umbral, 0,14. A la izquierda, en verde y en la misma zona, la foto cruda y la fase que recuperó el programa, que ninguna foto registra. Las partículas grandes retrasan la luz varios radianes y las chicas muy poco; por eso casi no aparecen en la fase. Conclusión honesta: recuperamos la fase de la muestra real, pero ganar resolución todavía no está demostrado.</a:t>
            </a:r>
            <a:endParaRPr/>
          </a:p>
        </p:txBody>
      </p:sp>
      <p:sp>
        <p:nvSpPr>
          <p:cNvPr id="316" name="Google Shape;3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hb71923e8388a2e9_0_3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hb71923e8388a2e9_0_3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A la izquierda, en verde y en la misma zona, la foto cruda y la fase que recuperó el programa, que ninguna foto registra. (opcional) Las partículas grandes retrasan la luz varios radianes y las chicas muy poco; por eso casi no aparecen en la fase.</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¿Cómo decidimos si confiar? Tres pruebas, con criterios escritos antes de mirar los datos reales. Uno: en simulación, donde conocemos la respuesta, la amplitud coincide 0,997 con la muestra inventada y la fase 0,64 con la matriz a 75 milímetros, donde 1 es perfecto; alejándola a 100, con más solapamiento, la fase sube a 0,97. Dos: con datos reales, apartamos algunos LEDs, reconstruimos sin ellos y comparamos las fotos que el programa predice con las medidas. El error va de 0,46 a 0,62, donde 0 es perfecto y sin reconstruir da 0,98. Tres, la que decide la resolución: reconstruimos dos veces, cada una con la mitad de los LEDs, y medimos cuánto coinciden en el detalle más fino que el objetivo. Da entre 0,04 y 0,10: de 5 a 14 veces más que por azar, pero debajo del umbral, 0,14. A la izquierda, en verde y en la misma zona, la foto cruda y la fase que recuperó el programa, que ninguna foto registra. Las partículas grandes retrasan la luz varios radianes y las chicas muy poco; por eso casi no aparecen en la fase. Conclusión honesta: recuperamos la fase de la muestra real, pero ganar resolución todavía no está demostrado.</a:t>
            </a:r>
            <a:endParaRPr/>
          </a:p>
        </p:txBody>
      </p:sp>
      <p:sp>
        <p:nvSpPr>
          <p:cNvPr id="348" name="Google Shape;348;hb71923e8388a2e9_0_3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hb16857675266d5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hb16857675266d5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Conclusión honesta: recuperamos la fase de la muestra real, pero ganar resolución todavía no está demostrado.</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[75 s] ¿Cómo decidimos si confiar? Tres pruebas, con criterios escritos antes de mirar los datos reales. Uno: en simulación, donde conocemos la respuesta, la amplitud coincide 0,997 con la muestra inventada y la fase 0,64 con la matriz a 75 milímetros, donde 1 es perfecto; alejándola a 100, con más solapamiento, la fase sube a 0,97. Dos: con datos reales, apartamos algunos LEDs, reconstruimos sin ellos y comparamos las fotos que el programa predice con las medidas. El error va de 0,46 a 0,62, donde 0 es perfecto y sin reconstruir da 0,98. Tres, la que decide la resolución: reconstruimos dos veces, cada una con la mitad de los LEDs, y medimos cuánto coinciden en el detalle más fino que el objetivo. Da entre 0,04 y 0,10: de 5 a 14 veces más que por azar, pero debajo del umbral, 0,14. A la izquierda, en verde y en la misma zona, la foto cruda y la fase que recuperó el programa, que ninguna foto registra. Las partículas grandes retrasan la luz varios radianes y las chicas muy poco; por eso casi no aparecen en la fase. Conclusión honesta: recuperamos la fase de la muestra real, pero ganar resolución todavía no está demostrado.</a:t>
            </a:r>
            <a:endParaRPr/>
          </a:p>
        </p:txBody>
      </p:sp>
      <p:sp>
        <p:nvSpPr>
          <p:cNvPr id="380" name="Google Shape;380;hb16857675266d5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Lo que más nos enseñó, y creo que sirve para cualquier grupo: pasar todas las pruebas no alcanza.</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[60 s] Lo que más nos enseñó, y creo que sirve para cualquier grupo: pasar todas las pruebas no alcanza. El programa mejora la imagen de a poco: compara las fotos que predice con las medidas y la corrige un poco en cada vuelta. Con imágenes reales, esas correcciones eran unas 8.000 veces más chicas de lo debido: después de cientos de vueltas devolvía casi la foto original. Y aun así pasaba cientos de pruebas automáticas, porque estaban hechas con imágenes chiquitas, de 16 a 32 píxeles. Lo encontró un agente que investigaba otra cosa. Los agentes también se equivocaron: supusieron mal datos del hardware y explicaron mal el ruido del sensor. Cuatro consejos: probar con datos del tamaño real; escribir el criterio de éxito antes de ver el resultado; que otro agente, con su propio código, rehaga cada número; y una persona que conozca el equipo, porque los agentes no saben lo que no se les dice.</a:t>
            </a:r>
            <a:endParaRPr/>
          </a:p>
          <a:p>
            <a:pPr indent="0" lvl="0" marL="0" rtl="0" algn="l">
              <a:spcBef>
                <a:spcPts val="0"/>
              </a:spcBef>
              <a:spcAft>
                <a:spcPts val="0"/>
              </a:spcAft>
              <a:buNone/>
            </a:pPr>
            <a:r>
              <a:rPr lang="es-AR"/>
              <a:t>Pie de la figura (no se muestra): Captura de diciembre de 2025, verde, zona de 205 µm. El congelamiento no se veía en las pruebas porque usaban imágenes diminutas.</a:t>
            </a:r>
          </a:p>
        </p:txBody>
      </p:sp>
      <p:sp>
        <p:nvSpPr>
          <p:cNvPr id="414" name="Google Shape;4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hb16857675266d5a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hb16857675266d5a_0_1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El programa mejora la imagen de a poco: compara las fotos que predice con las medidas y la corrige un poco en cada vuelta. Con imágenes reales, esas correcciones eran unas 8.000 veces más chicas de lo debido: después de cientos de vueltas devolvía casi la foto original. Y aun así pasaba cientos de pruebas automáticas, porque estaban hechas con imágenes chiquitas, de 16 a 32 píxeles. Lo encontró un agente que investigaba otra cosa. Los agentes también se equivocaron: supusieron mal datos del hardware (opcional) y explicaron mal el ruido del sensor. Cuatro consejos:</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[60 s] Lo que más nos enseñó, y creo que sirve para cualquier grupo: pasar todas las pruebas no alcanza. El programa mejora la imagen de a poco: compara las fotos que predice con las medidas y la corrige un poco en cada vuelta. Con imágenes reales, esas correcciones eran unas 8.000 veces más chicas de lo debido: después de cientos de vueltas devolvía casi la foto original. Y aun así pasaba cientos de pruebas automáticas, porque estaban hechas con imágenes chiquitas, de 16 a 32 píxeles. Lo encontró un agente que investigaba otra cosa. Los agentes también se equivocaron: supusieron mal datos del hardware y explicaron mal el ruido del sensor. Cuatro consejos: probar con datos del tamaño real; escribir el criterio de éxito antes de ver el resultado; que otro agente, con su propio código, rehaga cada número; y una persona que conozca el equipo, porque los agentes no saben lo que no se les dice.</a:t>
            </a:r>
            <a:endParaRPr/>
          </a:p>
          <a:p>
            <a:pPr indent="0" lvl="0" marL="0" rtl="0" algn="l">
              <a:spcBef>
                <a:spcPts val="0"/>
              </a:spcBef>
              <a:spcAft>
                <a:spcPts val="0"/>
              </a:spcAft>
              <a:buNone/>
            </a:pPr>
            <a:r>
              <a:rPr lang="es-AR"/>
              <a:t>Pie de la figura (no se muestra): Captura de diciembre de 2025, verde, zona de 205 µm. El congelamiento no se veía en las pruebas porque usaban imágenes diminutas.</a:t>
            </a:r>
          </a:p>
        </p:txBody>
      </p:sp>
      <p:sp>
        <p:nvSpPr>
          <p:cNvPr id="424" name="Google Shape;424;hb16857675266d5a_0_1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hb16857675266d5a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hb16857675266d5a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probar con datos del tamaño real;</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[60 s] Lo que más nos enseñó, y creo que sirve para cualquier grupo: pasar todas las pruebas no alcanza. El programa mejora la imagen de a poco: compara las fotos que predice con las medidas y la corrige un poco en cada vuelta. Con imágenes reales, esas correcciones eran unas 8.000 veces más chicas de lo debido: después de cientos de vueltas devolvía casi la foto original. Y aun así pasaba cientos de pruebas automáticas, porque estaban hechas con imágenes chiquitas, de 16 a 32 píxeles. Lo encontró un agente que investigaba otra cosa. Los agentes también se equivocaron: supusieron mal datos del hardware y explicaron mal el ruido del sensor. Cuatro consejos: probar con datos del tamaño real; escribir el criterio de éxito antes de ver el resultado; que otro agente, con su propio código, rehaga cada número; y una persona que conozca el equipo, porque los agentes no saben lo que no se les dice.</a:t>
            </a:r>
            <a:endParaRPr/>
          </a:p>
          <a:p>
            <a:pPr indent="0" lvl="0" marL="0" rtl="0" algn="l">
              <a:spcBef>
                <a:spcPts val="0"/>
              </a:spcBef>
              <a:spcAft>
                <a:spcPts val="0"/>
              </a:spcAft>
              <a:buNone/>
            </a:pPr>
            <a:r>
              <a:rPr lang="es-AR"/>
              <a:t>Pie de la figura (no se muestra): Captura de diciembre de 2025, verde, zona de 205 µm. El congelamiento no se veía en las pruebas porque usaban imágenes diminutas.</a:t>
            </a:r>
          </a:p>
        </p:txBody>
      </p:sp>
      <p:sp>
        <p:nvSpPr>
          <p:cNvPr id="437" name="Google Shape;437;hb16857675266d5a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hb16857675266d5a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hb16857675266d5a_0_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escribir el criterio de éxito antes de ver el resultado;</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[60 s] Lo que más nos enseñó, y creo que sirve para cualquier grupo: pasar todas las pruebas no alcanza. El programa mejora la imagen de a poco: compara las fotos que predice con las medidas y la corrige un poco en cada vuelta. Con imágenes reales, esas correcciones eran unas 8.000 veces más chicas de lo debido: después de cientos de vueltas devolvía casi la foto original. Y aun así pasaba cientos de pruebas automáticas, porque estaban hechas con imágenes chiquitas, de 16 a 32 píxeles. Lo encontró un agente que investigaba otra cosa. Los agentes también se equivocaron: supusieron mal datos del hardware y explicaron mal el ruido del sensor. Cuatro consejos: probar con datos del tamaño real; escribir el criterio de éxito antes de ver el resultado; que otro agente, con su propio código, rehaga cada número; y una persona que conozca el equipo, porque los agentes no saben lo que no se les dice.</a:t>
            </a:r>
            <a:endParaRPr/>
          </a:p>
          <a:p>
            <a:pPr indent="0" lvl="0" marL="0" rtl="0" algn="l">
              <a:spcBef>
                <a:spcPts val="0"/>
              </a:spcBef>
              <a:spcAft>
                <a:spcPts val="0"/>
              </a:spcAft>
              <a:buNone/>
            </a:pPr>
            <a:r>
              <a:rPr lang="es-AR"/>
              <a:t>Pie de la figura (no se muestra): Captura de diciembre de 2025, verde, zona de 205 µm. El congelamiento no se veía en las pruebas porque usaban imágenes diminutas.</a:t>
            </a:r>
          </a:p>
        </p:txBody>
      </p:sp>
      <p:sp>
        <p:nvSpPr>
          <p:cNvPr id="454" name="Google Shape;454;hb16857675266d5a_0_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hb16857675266d5a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hb16857675266d5a_0_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que otro agente, con su propio código, rehaga cada número;</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[60 s] Lo que más nos enseñó, y creo que sirve para cualquier grupo: pasar todas las pruebas no alcanza. El programa mejora la imagen de a poco: compara las fotos que predice con las medidas y la corrige un poco en cada vuelta. Con imágenes reales, esas correcciones eran unas 8.000 veces más chicas de lo debido: después de cientos de vueltas devolvía casi la foto original. Y aun así pasaba cientos de pruebas automáticas, porque estaban hechas con imágenes chiquitas, de 16 a 32 píxeles. Lo encontró un agente que investigaba otra cosa. Los agentes también se equivocaron: supusieron mal datos del hardware y explicaron mal el ruido del sensor. Cuatro consejos: probar con datos del tamaño real; escribir el criterio de éxito antes de ver el resultado; que otro agente, con su propio código, rehaga cada número; y una persona que conozca el equipo, porque los agentes no saben lo que no se les dice.</a:t>
            </a:r>
            <a:endParaRPr/>
          </a:p>
          <a:p>
            <a:pPr indent="0" lvl="0" marL="0" rtl="0" algn="l">
              <a:spcBef>
                <a:spcPts val="0"/>
              </a:spcBef>
              <a:spcAft>
                <a:spcPts val="0"/>
              </a:spcAft>
              <a:buNone/>
            </a:pPr>
            <a:r>
              <a:rPr lang="es-AR"/>
              <a:t>Pie de la figura (no se muestra): Captura de diciembre de 2025, verde, zona de 205 µm. El congelamiento no se veía en las pruebas porque usaban imágenes diminutas.</a:t>
            </a:r>
          </a:p>
        </p:txBody>
      </p:sp>
      <p:sp>
        <p:nvSpPr>
          <p:cNvPr id="475" name="Google Shape;475;hb16857675266d5a_0_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hb16857675266d5a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9" name="Google Shape;499;hb16857675266d5a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b="1"/>
              <a:t>▶ ESTE CLIC: y una persona que conozca el equipo, porque los agentes no saben lo que no se les dice.</a:t>
            </a:r>
          </a:p>
          <a:p>
            <a:pPr indent="0" lvl="0" marL="0" rtl="0" algn="l">
              <a:spcBef>
                <a:spcPts val="0"/>
              </a:spcBef>
              <a:spcAft>
                <a:spcPts val="0"/>
              </a:spcAft>
              <a:buNone/>
            </a:pPr>
            <a:r>
              <a:rPr lang="es-AR"/>
              <a:t>— Notas completas del bloque: —</a:t>
            </a:r>
          </a:p>
          <a:p>
            <a:pPr indent="0" lvl="0" marL="0" rtl="0" algn="l">
              <a:spcBef>
                <a:spcPts val="0"/>
              </a:spcBef>
              <a:spcAft>
                <a:spcPts val="0"/>
              </a:spcAft>
              <a:buNone/>
            </a:pPr>
            <a:r>
              <a:rPr lang="en-US"/>
              <a:t>[60 s] Lo que más nos enseñó, y creo que sirve para cualquier grupo: pasar todas las pruebas no alcanza. El programa mejora la imagen de a poco: compara las fotos que predice con las medidas y la corrige un poco en cada vuelta. Con imágenes reales, esas correcciones eran unas 8.000 veces más chicas de lo debido: después de cientos de vueltas devolvía casi la foto original. Y aun así pasaba cientos de pruebas automáticas, porque estaban hechas con imágenes chiquitas, de 16 a 32 píxeles. Lo encontró un agente que investigaba otra cosa. Los agentes también se equivocaron: supusieron mal datos del hardware y explicaron mal el ruido del sensor. Cuatro consejos: probar con datos del tamaño real; escribir el criterio de éxito antes de ver el resultado; que otro agente, con su propio código, rehaga cada número; y una persona que conozca el equipo, porque los agentes no saben lo que no se les dice.</a:t>
            </a:r>
            <a:endParaRPr/>
          </a:p>
          <a:p>
            <a:pPr indent="0" lvl="0" marL="0" rtl="0" algn="l">
              <a:spcBef>
                <a:spcPts val="0"/>
              </a:spcBef>
              <a:spcAft>
                <a:spcPts val="0"/>
              </a:spcAft>
              <a:buNone/>
            </a:pPr>
            <a:r>
              <a:rPr lang="es-AR"/>
              <a:t>Pie de la figura (no se muestra): Captura de diciembre de 2025, verde, zona de 205 µm. El congelamiento no se veía en las pruebas porque usaban imágenes diminutas.</a:t>
            </a:r>
          </a:p>
        </p:txBody>
      </p:sp>
      <p:sp>
        <p:nvSpPr>
          <p:cNvPr id="500" name="Google Shape;500;hb16857675266d5a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 s] En resumen: los agentes fueron más útiles para auditar que para juzgar resultados reales. Ya medimos qué mejoró la última captura: sobre todo el foco de cada color, de forma provisional. Lo que sigue: una placa de calibración con detalle conocido, y probar con datos reales la combinación de verde y azul. Gracias.</a:t>
            </a:r>
            <a:endParaRPr/>
          </a:p>
        </p:txBody>
      </p:sp>
      <p:sp>
        <p:nvSpPr>
          <p:cNvPr id="529" name="Google Shape;52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Separador. No cuenta en los 5 minutos: slides para responder preguntas.</a:t>
            </a:r>
            <a:endParaRPr/>
          </a:p>
        </p:txBody>
      </p:sp>
      <p:sp>
        <p:nvSpPr>
          <p:cNvPr id="543" name="Google Shape;54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Cuatro controles, cada uno nació de un error. Uno: cada número del resumen lleva una marca con su clave, y un script comprueba que coincide con el registro de números, que solo escribe un programa; si alguien, persona o agente, cambia un número a mano, la verificación falla. Dos: en la reconstrucción conjunta, la prueba de aceptación tenía el hash fijado y el agente no la podía editar; los criterios y umbrales tampoco se pueden cambiar después de ver resultados. Tres: un verificador independiente rehace cada número con su propio código; en la reconstrucción conjunta el gradiente dio 1,03e-8 y el verificador obtuvo 6,0e-9. Cuatro: los planes escriben los criterios antes de correr (carpeta docs).</a:t>
            </a:r>
            <a:endParaRPr/>
          </a:p>
        </p:txBody>
      </p:sp>
      <p:sp>
        <p:nvSpPr>
          <p:cNvPr id="551" name="Google Shape;55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La división del trabajo. Lucas armó el montaje y tomó todas las capturas en el laboratorio; confirmó los datos del hardware, que los agentes no podían saber y a veces supusieron mal; decidió qué probar y tuvo la última palabra. Los agentes escribieron casi todo el código: 97 de los 99 commits del repositorio tienen a Claude como coautor. También hicieron los análisis, encontraron los errores, escribieron los informes, propusieron cómo tomar las capturas y armaron esta presentación. Los agentes no hacen commits por su cuenta: solo cuando la persona lo pide.</a:t>
            </a:r>
            <a:endParaRPr/>
          </a:p>
        </p:txBody>
      </p:sp>
      <p:sp>
        <p:nvSpPr>
          <p:cNvPr id="572" name="Google Shape;57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 ejemplo de por qué pasar las pruebas no alcanza. Probamos reconstruir los tres colores juntos, con un solo espesor para la muestra. Todo en simulación, donde conocemos la respuesta. El gradiente estaba verificado y la prueba de aceptación pasó, pero esa prueba solo exige que los entregables existan, no que el método funcione. El ajuste reproduce las fotos mejor que la muestra verdadera: queda en 0,97 veces el piso de ruido. Y sin embargo el espesor que encuentra no tiene nada que ver con el verdadero: correlación −0,09. Optimizar más lo empeora: de −0,04 en la época 80 a −0,09 en la 240. Por la regla del plan, no se pasó a datos reales. La cadena simple, verde y azul por separado con la dispersión conocida, da 0,945 en la misma simulación.</a:t>
            </a:r>
            <a:endParaRPr/>
          </a:p>
        </p:txBody>
      </p:sp>
      <p:sp>
        <p:nvSpPr>
          <p:cNvPr id="603" name="Google Shape;60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8" name="Google Shape;62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la última captura cambiamos dos cosas a la vez, así que después las separamos. Solo el foco: el rojo, la misma noche y el mismo campo, en su foco o con el foco del verde o del azul. En su foco predice las fotos no usadas con error 0,46; desenfocado, 0,81 a 0,86. Las mitades coinciden 0,083 contra 0,021 a 0,024: de 3,5 a 4 veces más. Solo la geometría: el verde en foco, al pasar de 74 a 98 milímetros, sube de 0,024 a 0,043, 1,8 veces. O sea, el foco pesa más. Es provisional: el modelo no incluye el desenfoque, y un modelo con el desenfoque de cada color podría recuperar parte.</a:t>
            </a:r>
            <a:endParaRPr/>
          </a:p>
        </p:txBody>
      </p:sp>
      <p:sp>
        <p:nvSpPr>
          <p:cNvPr id="629" name="Google Shape;62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a:t>Una muestra con detalle conocido más fino que el límite: una placa de calibración con líneas de ancho conocido, o las pistas de un CD, de 1,6 µm. Contaría si la reconstrucción separa líneas que la foto cruda no separa, y si las dos mitades de LEDs superan el umbral fijado antes. El criterio exacto para la placa todavía no lo escribimos.</a:t>
            </a:r>
            <a:endParaRPr/>
          </a:p>
        </p:txBody>
      </p:sp>
      <p:sp>
        <p:nvSpPr>
          <p:cNvPr id="551" name="Google Shape;55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a:t>Está en una grilla tres veces más fina, 0,43 µm contra 1,28 µm, y agrega frecuencias altas que la foto no tiene: aparecen anillos alrededor de las partículas, y en rojo un gradiente de fondo. El residuo, 0,4 a 0,6, está muy por encima del ruido del sensor, 0,05: es error del modelo, no ruido. El método no tiene regularización explícita.</a:t>
            </a:r>
            <a:endParaRPr/>
          </a:p>
        </p:txBody>
      </p:sp>
      <p:sp>
        <p:nvSpPr>
          <p:cNvPr id="551" name="Google Shape;55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a:t>En rojo sí: la predicción mejora de 0,46 a 0,40 a 400 épocas, y las mitades de 0,083 a 0,105. En verde y azul no, lo mejor está cerca de 5 épocas. Ningún color llega al umbral; con 5 particiones al azar en rojo, 1 de 5 lo cruza apenas (0,147). La super-resolución sigue sin demostrarse.</a:t>
            </a:r>
            <a:endParaRPr/>
          </a:p>
        </p:txBody>
      </p:sp>
      <p:sp>
        <p:nvSpPr>
          <p:cNvPr id="551" name="Google Shape;55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AR"/>
              <a:t>No lo comparamos con un paquete publicado, y es una buena sugerencia. Sí comparamos con mi código previo, basado en un método publicado (Bian 2016): tenía tres errores verificados (el inverso no correspondía al directo, la orientación de los LEDs traspuesta y la pupila con mal tamaño). Corregido, queda casi congelado: 0,985 contra 0,517 del nuestro.</a:t>
            </a:r>
            <a:endParaRPr/>
          </a:p>
        </p:txBody>
      </p:sp>
      <p:sp>
        <p:nvSpPr>
          <p:cNvPr id="551" name="Google Shape;55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5" name="Shape 15"/>
        <p:cNvGrpSpPr/>
        <p:nvPr/>
      </p:nvGrpSpPr>
      <p:grpSpPr>
        <a:xfrm>
          <a:off x="0" y="0"/>
          <a:ext cx="0" cy="0"/>
          <a:chOff x="0" y="0"/>
          <a:chExt cx="0" cy="0"/>
        </a:xfrm>
      </p:grpSpPr>
      <p:sp>
        <p:nvSpPr>
          <p:cNvPr id="16" name="Google Shape;16;p1"/>
          <p:cNvSpPr txBox="1"/>
          <p:nvPr/>
        </p:nvSpPr>
        <p:spPr>
          <a:xfrm>
            <a:off x="812780" y="2095448"/>
            <a:ext cx="10566136" cy="317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1600"/>
              <a:buFont typeface="Calibri"/>
              <a:buNone/>
            </a:pPr>
            <a:r>
              <a:rPr b="1" i="0" lang="en-US" sz="1600" u="none" cap="none" strike="noStrike">
                <a:solidFill>
                  <a:srgbClr val="D9692B"/>
                </a:solidFill>
                <a:latin typeface="Calibri"/>
                <a:ea typeface="Calibri"/>
                <a:cs typeface="Calibri"/>
                <a:sym typeface="Calibri"/>
              </a:rPr>
              <a:t>PROYECTO DE MICROSCOPÍA COMPUTACIONAL</a:t>
            </a:r>
            <a:endParaRPr b="0" i="0" sz="1600" u="none" cap="none" strike="noStrike">
              <a:solidFill>
                <a:schemeClr val="dk1"/>
              </a:solidFill>
              <a:latin typeface="Calibri"/>
              <a:ea typeface="Calibri"/>
              <a:cs typeface="Calibri"/>
              <a:sym typeface="Calibri"/>
            </a:endParaRPr>
          </a:p>
        </p:txBody>
      </p:sp>
      <p:sp>
        <p:nvSpPr>
          <p:cNvPr id="17" name="Google Shape;17;p1"/>
          <p:cNvSpPr txBox="1"/>
          <p:nvPr/>
        </p:nvSpPr>
        <p:spPr>
          <a:xfrm>
            <a:off x="812780" y="2539937"/>
            <a:ext cx="9524762" cy="228594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BFBF8"/>
              </a:buClr>
              <a:buSzPts val="5200"/>
              <a:buFont typeface="Cambria"/>
              <a:buNone/>
            </a:pPr>
            <a:r>
              <a:rPr b="1" i="0" lang="en-US" sz="5200" u="none" cap="none" strike="noStrike">
                <a:solidFill>
                  <a:srgbClr val="FBFBF8"/>
                </a:solidFill>
                <a:latin typeface="Cambria"/>
                <a:ea typeface="Cambria"/>
                <a:cs typeface="Cambria"/>
                <a:sym typeface="Cambria"/>
              </a:rPr>
              <a:t>Un mes con agentes de IA en un problema de Pticografía de Fourier</a:t>
            </a:r>
            <a:endParaRPr b="0" i="0" sz="5200" u="none" cap="none" strike="noStrike">
              <a:solidFill>
                <a:schemeClr val="dk1"/>
              </a:solidFill>
              <a:latin typeface="Calibri"/>
              <a:ea typeface="Calibri"/>
              <a:cs typeface="Calibri"/>
              <a:sym typeface="Calibri"/>
            </a:endParaRPr>
          </a:p>
        </p:txBody>
      </p:sp>
      <p:sp>
        <p:nvSpPr>
          <p:cNvPr id="18" name="Google Shape;18;p1"/>
          <p:cNvSpPr txBox="1"/>
          <p:nvPr/>
        </p:nvSpPr>
        <p:spPr>
          <a:xfrm>
            <a:off x="812780" y="4889378"/>
            <a:ext cx="10566136" cy="3809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FD0E6"/>
              </a:buClr>
              <a:buSzPts val="2200"/>
              <a:buFont typeface="Calibri"/>
              <a:buNone/>
            </a:pPr>
            <a:r>
              <a:rPr b="0" i="0" lang="en-US" sz="2200" u="none" cap="none" strike="noStrike">
                <a:solidFill>
                  <a:srgbClr val="BFD0E6"/>
                </a:solidFill>
                <a:latin typeface="Calibri"/>
                <a:ea typeface="Calibri"/>
                <a:cs typeface="Calibri"/>
                <a:sym typeface="Calibri"/>
              </a:rPr>
              <a:t>Qué se resolvió y qué no</a:t>
            </a:r>
            <a:endParaRPr b="0" i="0" sz="2200" u="none" cap="none" strike="noStrike">
              <a:solidFill>
                <a:schemeClr val="dk1"/>
              </a:solidFill>
              <a:latin typeface="Calibri"/>
              <a:ea typeface="Calibri"/>
              <a:cs typeface="Calibri"/>
              <a:sym typeface="Calibri"/>
            </a:endParaRPr>
          </a:p>
        </p:txBody>
      </p:sp>
      <p:sp>
        <p:nvSpPr>
          <p:cNvPr id="19" name="Google Shape;19;p1"/>
          <p:cNvSpPr txBox="1"/>
          <p:nvPr/>
        </p:nvSpPr>
        <p:spPr>
          <a:xfrm>
            <a:off x="812780" y="5968851"/>
            <a:ext cx="10566136"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FD0E6"/>
              </a:buClr>
              <a:buSzPts val="1500"/>
              <a:buFont typeface="Calibri"/>
              <a:buNone/>
            </a:pPr>
            <a:r>
              <a:rPr b="0" i="0" lang="en-US" sz="1500" u="none" cap="none" strike="noStrike">
                <a:solidFill>
                  <a:srgbClr val="BFD0E6"/>
                </a:solidFill>
                <a:latin typeface="Calibri"/>
                <a:ea typeface="Calibri"/>
                <a:cs typeface="Calibri"/>
                <a:sym typeface="Calibri"/>
              </a:rPr>
              <a:t>Lucas Costilla · 01/10/2026</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4" name="Shape 24"/>
        <p:cNvGrpSpPr/>
        <p:nvPr/>
      </p:nvGrpSpPr>
      <p:grpSpPr>
        <a:xfrm>
          <a:off x="0" y="0"/>
          <a:ext cx="0" cy="0"/>
          <a:chOff x="0" y="0"/>
          <a:chExt cx="0" cy="0"/>
        </a:xfrm>
      </p:grpSpPr>
      <p:sp>
        <p:nvSpPr>
          <p:cNvPr id="25" name="Google Shape;25;p2"/>
          <p:cNvSpPr/>
          <p:nvPr/>
        </p:nvSpPr>
        <p:spPr>
          <a:xfrm>
            <a:off x="812780" y="711182"/>
            <a:ext cx="3035224" cy="330192"/>
          </a:xfrm>
          <a:prstGeom prst="roundRect">
            <a:avLst>
              <a:gd fmla="val 55386" name="adj"/>
            </a:avLst>
          </a:prstGeom>
          <a:solidFill>
            <a:srgbClr val="FBFBF8"/>
          </a:solidFill>
          <a:ln cap="flat" cmpd="sng" w="1905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txBox="1"/>
          <p:nvPr/>
        </p:nvSpPr>
        <p:spPr>
          <a:xfrm>
            <a:off x="812780" y="711182"/>
            <a:ext cx="3035224"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692B"/>
              </a:buClr>
              <a:buSzPts val="1300"/>
              <a:buFont typeface="Calibri"/>
              <a:buNone/>
            </a:pPr>
            <a:r>
              <a:rPr b="1" i="0" lang="en-US" sz="1300" u="none" cap="none" strike="noStrike">
                <a:solidFill>
                  <a:srgbClr val="D9692B"/>
                </a:solidFill>
                <a:latin typeface="Calibri"/>
                <a:ea typeface="Calibri"/>
                <a:cs typeface="Calibri"/>
                <a:sym typeface="Calibri"/>
              </a:rPr>
              <a:t>PROBLEMA / PREGUNTA</a:t>
            </a:r>
            <a:endParaRPr b="0" i="0" sz="1300" u="none" cap="none" strike="noStrike">
              <a:solidFill>
                <a:schemeClr val="dk1"/>
              </a:solidFill>
              <a:latin typeface="Calibri"/>
              <a:ea typeface="Calibri"/>
              <a:cs typeface="Calibri"/>
              <a:sym typeface="Calibri"/>
            </a:endParaRPr>
          </a:p>
        </p:txBody>
      </p:sp>
      <p:sp>
        <p:nvSpPr>
          <p:cNvPr id="27" name="Google Shape;27;p2"/>
          <p:cNvSpPr txBox="1"/>
          <p:nvPr/>
        </p:nvSpPr>
        <p:spPr>
          <a:xfrm>
            <a:off x="812780" y="1142971"/>
            <a:ext cx="10566136" cy="107947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Ver más detalle que lo que permite el objetivo y recuperar la fase de una muestra</a:t>
            </a:r>
            <a:endParaRPr b="0" i="0" sz="3300" u="none" cap="none" strike="noStrike">
              <a:solidFill>
                <a:schemeClr val="dk1"/>
              </a:solidFill>
              <a:latin typeface="Calibri"/>
              <a:ea typeface="Calibri"/>
              <a:cs typeface="Calibri"/>
              <a:sym typeface="Calibri"/>
            </a:endParaRPr>
          </a:p>
        </p:txBody>
      </p:sp>
      <p:sp>
        <p:nvSpPr>
          <p:cNvPr id="28" name="Google Shape;28;p2"/>
          <p:cNvSpPr txBox="1"/>
          <p:nvPr/>
        </p:nvSpPr>
        <p:spPr>
          <a:xfrm>
            <a:off x="812780" y="2476438"/>
            <a:ext cx="6857829" cy="6349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700"/>
              <a:buFont typeface="Calibri"/>
              <a:buNone/>
            </a:pPr>
            <a:r>
              <a:rPr b="0" i="0" lang="en-US" sz="1700" u="none" cap="none" strike="noStrike">
                <a:solidFill>
                  <a:srgbClr val="3D4A5C"/>
                </a:solidFill>
                <a:latin typeface="Calibri"/>
                <a:ea typeface="Calibri"/>
                <a:cs typeface="Calibri"/>
                <a:sym typeface="Calibri"/>
              </a:rPr>
              <a:t>Un microscopio no separa detalles menores a un límite: con nuestro objetivo, </a:t>
            </a:r>
            <a:r>
              <a:rPr b="1" i="0" lang="en-US" sz="1700" u="none" cap="none" strike="noStrike">
                <a:solidFill>
                  <a:srgbClr val="3D4A5C"/>
                </a:solidFill>
                <a:latin typeface="Calibri"/>
                <a:ea typeface="Calibri"/>
                <a:cs typeface="Calibri"/>
                <a:sym typeface="Calibri"/>
              </a:rPr>
              <a:t>~3,8 µm</a:t>
            </a:r>
            <a:r>
              <a:rPr b="0" i="0" lang="en-US" sz="1700" u="none" cap="none" strike="noStrike">
                <a:solidFill>
                  <a:srgbClr val="3D4A5C"/>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29" name="Google Shape;29;p2"/>
          <p:cNvSpPr txBox="1"/>
          <p:nvPr/>
        </p:nvSpPr>
        <p:spPr>
          <a:xfrm>
            <a:off x="812780" y="3174921"/>
            <a:ext cx="6857829" cy="107947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700"/>
              <a:buFont typeface="Calibri"/>
              <a:buNone/>
            </a:pPr>
            <a:r>
              <a:rPr b="1" i="0" lang="en-US" sz="1700" u="none" cap="none" strike="noStrike">
                <a:solidFill>
                  <a:srgbClr val="3D4A5C"/>
                </a:solidFill>
                <a:latin typeface="Calibri"/>
                <a:ea typeface="Calibri"/>
                <a:cs typeface="Calibri"/>
                <a:sym typeface="Calibri"/>
              </a:rPr>
              <a:t>FPM</a:t>
            </a:r>
            <a:r>
              <a:rPr b="0" i="0" lang="en-US" sz="1700" u="none" cap="none" strike="noStrike">
                <a:solidFill>
                  <a:srgbClr val="3D4A5C"/>
                </a:solidFill>
                <a:latin typeface="Calibri"/>
                <a:ea typeface="Calibri"/>
                <a:cs typeface="Calibri"/>
                <a:sym typeface="Calibri"/>
              </a:rPr>
              <a:t>: una foto por LED, cada una con la iluminación desde otro ángulo; un programa las combina para bajar, en teoría, a </a:t>
            </a:r>
            <a:r>
              <a:rPr b="1" i="0" lang="en-US" sz="1700" u="none" cap="none" strike="noStrike">
                <a:solidFill>
                  <a:srgbClr val="3D4A5C"/>
                </a:solidFill>
                <a:latin typeface="Calibri"/>
                <a:ea typeface="Calibri"/>
                <a:cs typeface="Calibri"/>
                <a:sym typeface="Calibri"/>
              </a:rPr>
              <a:t>0,5–1 µm</a:t>
            </a:r>
            <a:r>
              <a:rPr b="0" i="0" lang="en-US" sz="1700" u="none" cap="none" strike="noStrike">
                <a:solidFill>
                  <a:srgbClr val="3D4A5C"/>
                </a:solidFill>
                <a:latin typeface="Calibri"/>
                <a:ea typeface="Calibri"/>
                <a:cs typeface="Calibri"/>
                <a:sym typeface="Calibri"/>
              </a:rPr>
              <a:t> y además recuperar la </a:t>
            </a:r>
            <a:r>
              <a:rPr b="0" i="1" lang="en-US" sz="1700" u="none" cap="none" strike="noStrike">
                <a:solidFill>
                  <a:srgbClr val="3D4A5C"/>
                </a:solidFill>
                <a:latin typeface="Calibri"/>
                <a:ea typeface="Calibri"/>
                <a:cs typeface="Calibri"/>
                <a:sym typeface="Calibri"/>
              </a:rPr>
              <a:t>fase</a:t>
            </a:r>
            <a:r>
              <a:rPr b="0" i="0" lang="en-US" sz="1700" u="none" cap="none" strike="noStrike">
                <a:solidFill>
                  <a:srgbClr val="3D4A5C"/>
                </a:solidFill>
                <a:latin typeface="Calibri"/>
                <a:ea typeface="Calibri"/>
                <a:cs typeface="Calibri"/>
                <a:sym typeface="Calibri"/>
              </a:rPr>
              <a:t> (cuánto se retrasa la luz).</a:t>
            </a:r>
            <a:endParaRPr b="0" i="0" sz="1700" u="none" cap="none" strike="noStrike">
              <a:solidFill>
                <a:schemeClr val="dk1"/>
              </a:solidFill>
              <a:latin typeface="Calibri"/>
              <a:ea typeface="Calibri"/>
              <a:cs typeface="Calibri"/>
              <a:sym typeface="Calibri"/>
            </a:endParaRPr>
          </a:p>
        </p:txBody>
      </p:sp>
      <p:sp>
        <p:nvSpPr>
          <p:cNvPr id="30" name="Google Shape;30;p2"/>
          <p:cNvSpPr txBox="1"/>
          <p:nvPr/>
        </p:nvSpPr>
        <p:spPr>
          <a:xfrm>
            <a:off x="812780" y="4381390"/>
            <a:ext cx="6857829" cy="63498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700"/>
              <a:buFont typeface="Calibri"/>
              <a:buNone/>
            </a:pPr>
            <a:r>
              <a:rPr b="0" i="0" lang="en-US" sz="1700" u="none" cap="none" strike="noStrike">
                <a:solidFill>
                  <a:srgbClr val="3D4A5C"/>
                </a:solidFill>
                <a:latin typeface="Calibri"/>
                <a:ea typeface="Calibri"/>
                <a:cs typeface="Calibri"/>
                <a:sym typeface="Calibri"/>
              </a:rPr>
              <a:t>El programa siempre devuelve una imagen: </a:t>
            </a:r>
            <a:r>
              <a:rPr b="1" i="0" lang="en-US" sz="1700" u="none" cap="none" strike="noStrike">
                <a:solidFill>
                  <a:srgbClr val="3D4A5C"/>
                </a:solidFill>
                <a:latin typeface="Calibri"/>
                <a:ea typeface="Calibri"/>
                <a:cs typeface="Calibri"/>
                <a:sym typeface="Calibri"/>
              </a:rPr>
              <a:t>¿Es la muestra en alta resolución o lo inventó?</a:t>
            </a:r>
            <a:endParaRPr b="0" i="0" sz="1700" u="none" cap="none" strike="noStrike">
              <a:solidFill>
                <a:schemeClr val="dk1"/>
              </a:solidFill>
              <a:latin typeface="Calibri"/>
              <a:ea typeface="Calibri"/>
              <a:cs typeface="Calibri"/>
              <a:sym typeface="Calibri"/>
            </a:endParaRPr>
          </a:p>
        </p:txBody>
      </p:sp>
      <p:sp>
        <p:nvSpPr>
          <p:cNvPr id="31" name="Google Shape;31;p2"/>
          <p:cNvSpPr/>
          <p:nvPr/>
        </p:nvSpPr>
        <p:spPr>
          <a:xfrm>
            <a:off x="812780" y="5143371"/>
            <a:ext cx="6857829" cy="825479"/>
          </a:xfrm>
          <a:prstGeom prst="roundRect">
            <a:avLst>
              <a:gd fmla="val 11077" name="adj"/>
            </a:avLst>
          </a:prstGeom>
          <a:solidFill>
            <a:srgbClr val="F6D9C6"/>
          </a:solidFill>
          <a:ln cap="flat" cmpd="sng" w="12700">
            <a:solidFill>
              <a:srgbClr val="F6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txBox="1"/>
          <p:nvPr/>
        </p:nvSpPr>
        <p:spPr>
          <a:xfrm>
            <a:off x="1015975" y="5143371"/>
            <a:ext cx="6476838" cy="82547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700"/>
              <a:buFont typeface="Calibri"/>
              <a:buNone/>
            </a:pPr>
            <a:r>
              <a:rPr b="1" i="0" lang="en-US" sz="1700" u="none" cap="none" strike="noStrike">
                <a:solidFill>
                  <a:srgbClr val="14213D"/>
                </a:solidFill>
                <a:latin typeface="Calibri"/>
                <a:ea typeface="Calibri"/>
                <a:cs typeface="Calibri"/>
                <a:sym typeface="Calibri"/>
              </a:rPr>
              <a:t>¿Qué pudieron resolver los agentes de IA en este problema, y qué no?</a:t>
            </a:r>
            <a:endParaRPr b="0" i="0" sz="1700" u="none" cap="none" strike="noStrike">
              <a:solidFill>
                <a:schemeClr val="dk1"/>
              </a:solidFill>
              <a:latin typeface="Calibri"/>
              <a:ea typeface="Calibri"/>
              <a:cs typeface="Calibri"/>
              <a:sym typeface="Calibri"/>
            </a:endParaRPr>
          </a:p>
        </p:txBody>
      </p:sp>
      <p:sp>
        <p:nvSpPr>
          <p:cNvPr id="33" name="Google Shape;33;p2"/>
          <p:cNvSpPr/>
          <p:nvPr/>
        </p:nvSpPr>
        <p:spPr>
          <a:xfrm>
            <a:off x="8364584" y="2700526"/>
            <a:ext cx="170422" cy="170422"/>
          </a:xfrm>
          <a:prstGeom prst="ellipse">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8684125" y="2700526"/>
            <a:ext cx="170422" cy="170422"/>
          </a:xfrm>
          <a:prstGeom prst="ellipse">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9003665" y="2700526"/>
            <a:ext cx="170422" cy="170422"/>
          </a:xfrm>
          <a:prstGeom prst="ellipse">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9323206" y="2700526"/>
            <a:ext cx="170422" cy="170422"/>
          </a:xfrm>
          <a:prstGeom prst="ellipse">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9642746" y="2700526"/>
            <a:ext cx="170422" cy="170422"/>
          </a:xfrm>
          <a:prstGeom prst="ellipse">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9962286" y="2700526"/>
            <a:ext cx="170422" cy="170422"/>
          </a:xfrm>
          <a:prstGeom prst="ellipse">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0281827" y="2700526"/>
            <a:ext cx="170422" cy="170422"/>
          </a:xfrm>
          <a:prstGeom prst="ellipse">
            <a:avLst/>
          </a:prstGeom>
          <a:solidFill>
            <a:srgbClr val="D9692B"/>
          </a:solidFill>
          <a:ln cap="flat" cmpd="sng" w="1905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0601367" y="2700526"/>
            <a:ext cx="170422" cy="170422"/>
          </a:xfrm>
          <a:prstGeom prst="ellipse">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0920908" y="2700526"/>
            <a:ext cx="170422" cy="170422"/>
          </a:xfrm>
          <a:prstGeom prst="ellipse">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 name="Google Shape;42;p2"/>
          <p:cNvCxnSpPr/>
          <p:nvPr/>
        </p:nvCxnSpPr>
        <p:spPr>
          <a:xfrm flipH="1">
            <a:off x="9834470" y="2892250"/>
            <a:ext cx="532567" cy="1278162"/>
          </a:xfrm>
          <a:prstGeom prst="straightConnector1">
            <a:avLst/>
          </a:prstGeom>
          <a:noFill/>
          <a:ln cap="flat" cmpd="sng" w="31750">
            <a:solidFill>
              <a:srgbClr val="D9692B"/>
            </a:solidFill>
            <a:prstDash val="solid"/>
            <a:round/>
            <a:headEnd len="sm" w="sm" type="none"/>
            <a:tailEnd len="sm" w="sm" type="none"/>
          </a:ln>
        </p:spPr>
      </p:cxnSp>
      <p:sp>
        <p:nvSpPr>
          <p:cNvPr id="43" name="Google Shape;43;p2"/>
          <p:cNvSpPr/>
          <p:nvPr/>
        </p:nvSpPr>
        <p:spPr>
          <a:xfrm>
            <a:off x="8875849" y="4170412"/>
            <a:ext cx="1704215" cy="159770"/>
          </a:xfrm>
          <a:prstGeom prst="roundRect">
            <a:avLst>
              <a:gd fmla="val 17170" name="adj"/>
            </a:avLst>
          </a:prstGeom>
          <a:solidFill>
            <a:srgbClr val="F6D9C6"/>
          </a:solidFill>
          <a:ln cap="flat" cmpd="sng" w="1270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10800000">
            <a:off x="9301903" y="4543209"/>
            <a:ext cx="852108" cy="426054"/>
          </a:xfrm>
          <a:prstGeom prst="trapezoid">
            <a:avLst>
              <a:gd fmla="val 25000" name="adj"/>
            </a:avLst>
          </a:prstGeom>
          <a:solidFill>
            <a:srgbClr val="FBFBF8"/>
          </a:solidFill>
          <a:ln cap="flat" cmpd="sng" w="1905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 name="Google Shape;45;p2"/>
          <p:cNvCxnSpPr/>
          <p:nvPr/>
        </p:nvCxnSpPr>
        <p:spPr>
          <a:xfrm>
            <a:off x="9727957" y="4969263"/>
            <a:ext cx="0" cy="426054"/>
          </a:xfrm>
          <a:prstGeom prst="straightConnector1">
            <a:avLst/>
          </a:prstGeom>
          <a:noFill/>
          <a:ln cap="flat" cmpd="sng" w="19050">
            <a:solidFill>
              <a:srgbClr val="14213D"/>
            </a:solidFill>
            <a:prstDash val="solid"/>
            <a:round/>
            <a:headEnd len="sm" w="sm" type="none"/>
            <a:tailEnd len="sm" w="sm" type="none"/>
          </a:ln>
        </p:spPr>
      </p:cxnSp>
      <p:sp>
        <p:nvSpPr>
          <p:cNvPr id="46" name="Google Shape;46;p2"/>
          <p:cNvSpPr/>
          <p:nvPr/>
        </p:nvSpPr>
        <p:spPr>
          <a:xfrm>
            <a:off x="9301903" y="5395317"/>
            <a:ext cx="852108" cy="479311"/>
          </a:xfrm>
          <a:prstGeom prst="roundRect">
            <a:avLst>
              <a:gd fmla="val 11446" name="adj"/>
            </a:avLst>
          </a:prstGeom>
          <a:solidFill>
            <a:srgbClr val="FBFBF8"/>
          </a:solidFill>
          <a:ln cap="flat" cmpd="sng" w="19050">
            <a:solidFill>
              <a:srgbClr val="1421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txBox="1"/>
          <p:nvPr/>
        </p:nvSpPr>
        <p:spPr>
          <a:xfrm>
            <a:off x="8183512" y="2972135"/>
            <a:ext cx="1650959" cy="2285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Matriz de LEDs</a:t>
            </a:r>
            <a:endParaRPr b="0" i="0" sz="1300" u="none" cap="none" strike="noStrike">
              <a:solidFill>
                <a:schemeClr val="dk1"/>
              </a:solidFill>
              <a:latin typeface="Calibri"/>
              <a:ea typeface="Calibri"/>
              <a:cs typeface="Calibri"/>
              <a:sym typeface="Calibri"/>
            </a:endParaRPr>
          </a:p>
        </p:txBody>
      </p:sp>
      <p:sp>
        <p:nvSpPr>
          <p:cNvPr id="48" name="Google Shape;48;p2"/>
          <p:cNvSpPr txBox="1"/>
          <p:nvPr/>
        </p:nvSpPr>
        <p:spPr>
          <a:xfrm>
            <a:off x="10633321" y="4154435"/>
            <a:ext cx="1015975" cy="2285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Muestra</a:t>
            </a:r>
            <a:endParaRPr b="0" i="0" sz="1300" u="none" cap="none" strike="noStrike">
              <a:solidFill>
                <a:schemeClr val="dk1"/>
              </a:solidFill>
              <a:latin typeface="Calibri"/>
              <a:ea typeface="Calibri"/>
              <a:cs typeface="Calibri"/>
              <a:sym typeface="Calibri"/>
            </a:endParaRPr>
          </a:p>
        </p:txBody>
      </p:sp>
      <p:sp>
        <p:nvSpPr>
          <p:cNvPr id="49" name="Google Shape;49;p2"/>
          <p:cNvSpPr txBox="1"/>
          <p:nvPr/>
        </p:nvSpPr>
        <p:spPr>
          <a:xfrm>
            <a:off x="10207267" y="4676351"/>
            <a:ext cx="1015975" cy="2285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Objetivo</a:t>
            </a:r>
            <a:endParaRPr b="0" i="0" sz="1300" u="none" cap="none" strike="noStrike">
              <a:solidFill>
                <a:schemeClr val="dk1"/>
              </a:solidFill>
              <a:latin typeface="Calibri"/>
              <a:ea typeface="Calibri"/>
              <a:cs typeface="Calibri"/>
              <a:sym typeface="Calibri"/>
            </a:endParaRPr>
          </a:p>
        </p:txBody>
      </p:sp>
      <p:sp>
        <p:nvSpPr>
          <p:cNvPr id="50" name="Google Shape;50;p2"/>
          <p:cNvSpPr txBox="1"/>
          <p:nvPr/>
        </p:nvSpPr>
        <p:spPr>
          <a:xfrm>
            <a:off x="10207267" y="5555087"/>
            <a:ext cx="1015975" cy="2285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Cámara</a:t>
            </a:r>
            <a:endParaRPr b="0" i="0" sz="1300" u="none" cap="none" strike="noStrike">
              <a:solidFill>
                <a:schemeClr val="dk1"/>
              </a:solidFill>
              <a:latin typeface="Calibri"/>
              <a:ea typeface="Calibri"/>
              <a:cs typeface="Calibri"/>
              <a:sym typeface="Calibri"/>
            </a:endParaRPr>
          </a:p>
        </p:txBody>
      </p:sp>
      <p:sp>
        <p:nvSpPr>
          <p:cNvPr id="51" name="Google Shape;51;p2"/>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2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56" name="Shape 56"/>
        <p:cNvGrpSpPr/>
        <p:nvPr/>
      </p:nvGrpSpPr>
      <p:grpSpPr>
        <a:xfrm>
          <a:off x="0" y="0"/>
          <a:ext cx="0" cy="0"/>
          <a:chOff x="0" y="0"/>
          <a:chExt cx="0" cy="0"/>
        </a:xfrm>
      </p:grpSpPr>
      <p:sp>
        <p:nvSpPr>
          <p:cNvPr id="57" name="Google Shape;57;hb71923e8388a2e9_0_190"/>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hb71923e8388a2e9_0_190"/>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59" name="Google Shape;59;hb71923e8388a2e9_0_190"/>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60" name="Google Shape;60;hb71923e8388a2e9_0_190"/>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65" name="Shape 65"/>
        <p:cNvGrpSpPr/>
        <p:nvPr/>
      </p:nvGrpSpPr>
      <p:grpSpPr>
        <a:xfrm>
          <a:off x="0" y="0"/>
          <a:ext cx="0" cy="0"/>
          <a:chOff x="0" y="0"/>
          <a:chExt cx="0" cy="0"/>
        </a:xfrm>
      </p:grpSpPr>
      <p:sp>
        <p:nvSpPr>
          <p:cNvPr id="66" name="Google Shape;66;hb71923e8388a2e9_0_203"/>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hb71923e8388a2e9_0_203"/>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68" name="Google Shape;68;hb71923e8388a2e9_0_203"/>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69" name="Google Shape;69;hb71923e8388a2e9_0_203"/>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pic>
        <p:nvPicPr>
          <p:cNvPr id="70" name="Google Shape;70;hb71923e8388a2e9_0_203" title="fig_motivo_1_exposicion.png"/>
          <p:cNvPicPr preferRelativeResize="0"/>
          <p:nvPr/>
        </p:nvPicPr>
        <p:blipFill>
          <a:blip r:embed="rId3">
            <a:alphaModFix/>
          </a:blip>
          <a:stretch>
            <a:fillRect/>
          </a:stretch>
        </p:blipFill>
        <p:spPr>
          <a:xfrm>
            <a:off x="812775" y="2222363"/>
            <a:ext cx="5715000" cy="254878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75" name="Shape 75"/>
        <p:cNvGrpSpPr/>
        <p:nvPr/>
      </p:nvGrpSpPr>
      <p:grpSpPr>
        <a:xfrm>
          <a:off x="0" y="0"/>
          <a:ext cx="0" cy="0"/>
          <a:chOff x="0" y="0"/>
          <a:chExt cx="0" cy="0"/>
        </a:xfrm>
      </p:grpSpPr>
      <p:sp>
        <p:nvSpPr>
          <p:cNvPr id="76" name="Google Shape;76;hb71923e8388a2e9_0_125"/>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hb71923e8388a2e9_0_125"/>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78" name="Google Shape;78;hb71923e8388a2e9_0_125"/>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79" name="Google Shape;79;hb71923e8388a2e9_0_125"/>
          <p:cNvSpPr txBox="1"/>
          <p:nvPr/>
        </p:nvSpPr>
        <p:spPr>
          <a:xfrm>
            <a:off x="6641934" y="2381190"/>
            <a:ext cx="47370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1" i="0" lang="en-US" sz="1100" u="none" cap="none" strike="noStrike">
                <a:solidFill>
                  <a:srgbClr val="6A7382"/>
                </a:solidFill>
                <a:latin typeface="Calibri"/>
                <a:ea typeface="Calibri"/>
                <a:cs typeface="Calibri"/>
                <a:sym typeface="Calibri"/>
              </a:rPr>
              <a:t>QUÉ SUGIRIERON LOS AGENTES PARA LAS CAPTURAS</a:t>
            </a:r>
            <a:endParaRPr b="0" i="0" sz="1100" u="none" cap="none" strike="noStrike">
              <a:solidFill>
                <a:schemeClr val="dk1"/>
              </a:solidFill>
              <a:latin typeface="Calibri"/>
              <a:ea typeface="Calibri"/>
              <a:cs typeface="Calibri"/>
              <a:sym typeface="Calibri"/>
            </a:endParaRPr>
          </a:p>
        </p:txBody>
      </p:sp>
      <p:sp>
        <p:nvSpPr>
          <p:cNvPr id="80" name="Google Shape;80;hb71923e8388a2e9_0_125"/>
          <p:cNvSpPr txBox="1"/>
          <p:nvPr/>
        </p:nvSpPr>
        <p:spPr>
          <a:xfrm>
            <a:off x="6641934" y="273043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81" name="Google Shape;81;hb71923e8388a2e9_0_125"/>
          <p:cNvSpPr txBox="1"/>
          <p:nvPr/>
        </p:nvSpPr>
        <p:spPr>
          <a:xfrm>
            <a:off x="6997525" y="273043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Varios tiempos por LED: corto en luz directa, largo en luz inclinada</a:t>
            </a:r>
            <a:endParaRPr b="0" i="0" sz="1400" u="none" cap="none" strike="noStrike">
              <a:solidFill>
                <a:schemeClr val="dk1"/>
              </a:solidFill>
              <a:latin typeface="Calibri"/>
              <a:ea typeface="Calibri"/>
              <a:cs typeface="Calibri"/>
              <a:sym typeface="Calibri"/>
            </a:endParaRPr>
          </a:p>
        </p:txBody>
      </p:sp>
      <p:sp>
        <p:nvSpPr>
          <p:cNvPr id="82" name="Google Shape;82;hb71923e8388a2e9_0_125"/>
          <p:cNvSpPr txBox="1"/>
          <p:nvPr/>
        </p:nvSpPr>
        <p:spPr>
          <a:xfrm>
            <a:off x="6997525" y="323841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lang="en-US" sz="1150">
                <a:solidFill>
                  <a:srgbClr val="6A7382"/>
                </a:solidFill>
                <a:latin typeface="Calibri"/>
                <a:ea typeface="Calibri"/>
                <a:cs typeface="Calibri"/>
                <a:sym typeface="Calibri"/>
              </a:rPr>
              <a:t>Pasar de 12 a</a:t>
            </a:r>
            <a:r>
              <a:rPr b="0" i="0" lang="en-US" sz="1150" u="none" cap="none" strike="noStrike">
                <a:solidFill>
                  <a:srgbClr val="6A7382"/>
                </a:solidFill>
                <a:latin typeface="Calibri"/>
                <a:ea typeface="Calibri"/>
                <a:cs typeface="Calibri"/>
                <a:sym typeface="Calibri"/>
              </a:rPr>
              <a:t> 131 de 169 LEDs con señal útil (señal/ruido &gt; 3)</a:t>
            </a:r>
            <a:endParaRPr b="0" i="0" sz="1150" u="none" cap="none" strike="noStrike">
              <a:solidFill>
                <a:schemeClr val="dk1"/>
              </a:solidFill>
              <a:latin typeface="Calibri"/>
              <a:ea typeface="Calibri"/>
              <a:cs typeface="Calibri"/>
              <a:sym typeface="Calibri"/>
            </a:endParaRPr>
          </a:p>
        </p:txBody>
      </p:sp>
      <p:sp>
        <p:nvSpPr>
          <p:cNvPr id="83" name="Google Shape;83;hb71923e8388a2e9_0_125"/>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pic>
        <p:nvPicPr>
          <p:cNvPr id="84" name="Google Shape;84;hb71923e8388a2e9_0_125" title="fig_motivo_1_exposicion.png"/>
          <p:cNvPicPr preferRelativeResize="0"/>
          <p:nvPr/>
        </p:nvPicPr>
        <p:blipFill>
          <a:blip r:embed="rId3">
            <a:alphaModFix/>
          </a:blip>
          <a:stretch>
            <a:fillRect/>
          </a:stretch>
        </p:blipFill>
        <p:spPr>
          <a:xfrm>
            <a:off x="812775" y="2222375"/>
            <a:ext cx="5715000" cy="25487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9" name="Shape 89"/>
        <p:cNvGrpSpPr/>
        <p:nvPr/>
      </p:nvGrpSpPr>
      <p:grpSpPr>
        <a:xfrm>
          <a:off x="0" y="0"/>
          <a:ext cx="0" cy="0"/>
          <a:chOff x="0" y="0"/>
          <a:chExt cx="0" cy="0"/>
        </a:xfrm>
      </p:grpSpPr>
      <p:sp>
        <p:nvSpPr>
          <p:cNvPr id="90" name="Google Shape;90;hb71923e8388a2e9_0_151"/>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hb71923e8388a2e9_0_151"/>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92" name="Google Shape;92;hb71923e8388a2e9_0_151"/>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93" name="Google Shape;93;hb71923e8388a2e9_0_151"/>
          <p:cNvSpPr txBox="1"/>
          <p:nvPr/>
        </p:nvSpPr>
        <p:spPr>
          <a:xfrm>
            <a:off x="6641934" y="2381190"/>
            <a:ext cx="47370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1" i="0" lang="en-US" sz="1100" u="none" cap="none" strike="noStrike">
                <a:solidFill>
                  <a:srgbClr val="6A7382"/>
                </a:solidFill>
                <a:latin typeface="Calibri"/>
                <a:ea typeface="Calibri"/>
                <a:cs typeface="Calibri"/>
                <a:sym typeface="Calibri"/>
              </a:rPr>
              <a:t>QUÉ SUGIRIERON LOS AGENTES PARA LAS CAPTURAS</a:t>
            </a:r>
            <a:endParaRPr b="0" i="0" sz="1100" u="none" cap="none" strike="noStrike">
              <a:solidFill>
                <a:schemeClr val="dk1"/>
              </a:solidFill>
              <a:latin typeface="Calibri"/>
              <a:ea typeface="Calibri"/>
              <a:cs typeface="Calibri"/>
              <a:sym typeface="Calibri"/>
            </a:endParaRPr>
          </a:p>
        </p:txBody>
      </p:sp>
      <p:sp>
        <p:nvSpPr>
          <p:cNvPr id="94" name="Google Shape;94;hb71923e8388a2e9_0_151"/>
          <p:cNvSpPr txBox="1"/>
          <p:nvPr/>
        </p:nvSpPr>
        <p:spPr>
          <a:xfrm>
            <a:off x="6641934" y="273043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95" name="Google Shape;95;hb71923e8388a2e9_0_151"/>
          <p:cNvSpPr txBox="1"/>
          <p:nvPr/>
        </p:nvSpPr>
        <p:spPr>
          <a:xfrm>
            <a:off x="6997525" y="273043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Varios tiempos por LED: corto en luz directa, largo en luz inclinada</a:t>
            </a:r>
            <a:endParaRPr b="0" i="0" sz="1400" u="none" cap="none" strike="noStrike">
              <a:solidFill>
                <a:schemeClr val="dk1"/>
              </a:solidFill>
              <a:latin typeface="Calibri"/>
              <a:ea typeface="Calibri"/>
              <a:cs typeface="Calibri"/>
              <a:sym typeface="Calibri"/>
            </a:endParaRPr>
          </a:p>
        </p:txBody>
      </p:sp>
      <p:sp>
        <p:nvSpPr>
          <p:cNvPr id="96" name="Google Shape;96;hb71923e8388a2e9_0_151"/>
          <p:cNvSpPr txBox="1"/>
          <p:nvPr/>
        </p:nvSpPr>
        <p:spPr>
          <a:xfrm>
            <a:off x="6997525" y="323841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Pasar de 12 a 131 de 169 LEDs con señal útil (señal/ruido &gt; 3)</a:t>
            </a:r>
            <a:endParaRPr b="0" i="0" sz="1150" u="none" cap="none" strike="noStrike">
              <a:solidFill>
                <a:schemeClr val="dk1"/>
              </a:solidFill>
              <a:latin typeface="Calibri"/>
              <a:ea typeface="Calibri"/>
              <a:cs typeface="Calibri"/>
              <a:sym typeface="Calibri"/>
            </a:endParaRPr>
          </a:p>
        </p:txBody>
      </p:sp>
      <p:sp>
        <p:nvSpPr>
          <p:cNvPr id="97" name="Google Shape;97;hb71923e8388a2e9_0_151"/>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pic>
        <p:nvPicPr>
          <p:cNvPr id="98" name="Google Shape;98;hb71923e8388a2e9_0_151" title="fig_motivo_2_oscuras.png"/>
          <p:cNvPicPr preferRelativeResize="0"/>
          <p:nvPr/>
        </p:nvPicPr>
        <p:blipFill>
          <a:blip r:embed="rId3">
            <a:alphaModFix/>
          </a:blip>
          <a:stretch>
            <a:fillRect/>
          </a:stretch>
        </p:blipFill>
        <p:spPr>
          <a:xfrm>
            <a:off x="812775" y="2222363"/>
            <a:ext cx="5714999" cy="23527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03" name="Shape 103"/>
        <p:cNvGrpSpPr/>
        <p:nvPr/>
      </p:nvGrpSpPr>
      <p:grpSpPr>
        <a:xfrm>
          <a:off x="0" y="0"/>
          <a:ext cx="0" cy="0"/>
          <a:chOff x="0" y="0"/>
          <a:chExt cx="0" cy="0"/>
        </a:xfrm>
      </p:grpSpPr>
      <p:sp>
        <p:nvSpPr>
          <p:cNvPr id="104" name="Google Shape;104;hb71923e8388a2e9_0_217"/>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hb71923e8388a2e9_0_217"/>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106" name="Google Shape;106;hb71923e8388a2e9_0_217"/>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107" name="Google Shape;107;hb71923e8388a2e9_0_217"/>
          <p:cNvSpPr txBox="1"/>
          <p:nvPr/>
        </p:nvSpPr>
        <p:spPr>
          <a:xfrm>
            <a:off x="6641934" y="2381190"/>
            <a:ext cx="47370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1" i="0" lang="en-US" sz="1100" u="none" cap="none" strike="noStrike">
                <a:solidFill>
                  <a:srgbClr val="6A7382"/>
                </a:solidFill>
                <a:latin typeface="Calibri"/>
                <a:ea typeface="Calibri"/>
                <a:cs typeface="Calibri"/>
                <a:sym typeface="Calibri"/>
              </a:rPr>
              <a:t>QUÉ SUGIRIERON LOS AGENTES PARA LAS CAPTURAS</a:t>
            </a:r>
            <a:endParaRPr b="0" i="0" sz="1100" u="none" cap="none" strike="noStrike">
              <a:solidFill>
                <a:schemeClr val="dk1"/>
              </a:solidFill>
              <a:latin typeface="Calibri"/>
              <a:ea typeface="Calibri"/>
              <a:cs typeface="Calibri"/>
              <a:sym typeface="Calibri"/>
            </a:endParaRPr>
          </a:p>
        </p:txBody>
      </p:sp>
      <p:sp>
        <p:nvSpPr>
          <p:cNvPr id="108" name="Google Shape;108;hb71923e8388a2e9_0_217"/>
          <p:cNvSpPr txBox="1"/>
          <p:nvPr/>
        </p:nvSpPr>
        <p:spPr>
          <a:xfrm>
            <a:off x="6641934" y="273043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09" name="Google Shape;109;hb71923e8388a2e9_0_217"/>
          <p:cNvSpPr txBox="1"/>
          <p:nvPr/>
        </p:nvSpPr>
        <p:spPr>
          <a:xfrm>
            <a:off x="6997525" y="273043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Varios tiempos por LED: corto en luz directa, largo en luz inclinada</a:t>
            </a:r>
            <a:endParaRPr b="0" i="0" sz="1400" u="none" cap="none" strike="noStrike">
              <a:solidFill>
                <a:schemeClr val="dk1"/>
              </a:solidFill>
              <a:latin typeface="Calibri"/>
              <a:ea typeface="Calibri"/>
              <a:cs typeface="Calibri"/>
              <a:sym typeface="Calibri"/>
            </a:endParaRPr>
          </a:p>
        </p:txBody>
      </p:sp>
      <p:sp>
        <p:nvSpPr>
          <p:cNvPr id="110" name="Google Shape;110;hb71923e8388a2e9_0_217"/>
          <p:cNvSpPr txBox="1"/>
          <p:nvPr/>
        </p:nvSpPr>
        <p:spPr>
          <a:xfrm>
            <a:off x="6997525" y="323841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Pasar de 12 a 131 de 169 LEDs con señal útil (señal/ruido &gt; 3)</a:t>
            </a:r>
            <a:endParaRPr b="0" i="0" sz="1150" u="none" cap="none" strike="noStrike">
              <a:solidFill>
                <a:schemeClr val="dk1"/>
              </a:solidFill>
              <a:latin typeface="Calibri"/>
              <a:ea typeface="Calibri"/>
              <a:cs typeface="Calibri"/>
              <a:sym typeface="Calibri"/>
            </a:endParaRPr>
          </a:p>
        </p:txBody>
      </p:sp>
      <p:sp>
        <p:nvSpPr>
          <p:cNvPr id="111" name="Google Shape;111;hb71923e8388a2e9_0_217"/>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pic>
        <p:nvPicPr>
          <p:cNvPr id="112" name="Google Shape;112;hb71923e8388a2e9_0_217" title="fig_motivo_2_oscuras.png"/>
          <p:cNvPicPr preferRelativeResize="0"/>
          <p:nvPr/>
        </p:nvPicPr>
        <p:blipFill>
          <a:blip r:embed="rId3">
            <a:alphaModFix/>
          </a:blip>
          <a:stretch>
            <a:fillRect/>
          </a:stretch>
        </p:blipFill>
        <p:spPr>
          <a:xfrm>
            <a:off x="812775" y="2222363"/>
            <a:ext cx="5714999" cy="2352705"/>
          </a:xfrm>
          <a:prstGeom prst="rect">
            <a:avLst/>
          </a:prstGeom>
          <a:noFill/>
          <a:ln>
            <a:noFill/>
          </a:ln>
        </p:spPr>
      </p:pic>
      <p:sp>
        <p:nvSpPr>
          <p:cNvPr id="113" name="Google Shape;113;hb71923e8388a2e9_0_217"/>
          <p:cNvSpPr txBox="1"/>
          <p:nvPr/>
        </p:nvSpPr>
        <p:spPr>
          <a:xfrm>
            <a:off x="6641934" y="351781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14" name="Google Shape;114;hb71923e8388a2e9_0_217"/>
          <p:cNvSpPr txBox="1"/>
          <p:nvPr/>
        </p:nvSpPr>
        <p:spPr>
          <a:xfrm>
            <a:off x="6997525" y="351781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Fotos a oscuras para restar el fondo del sensor</a:t>
            </a:r>
            <a:endParaRPr b="0" i="0" sz="1400" u="none" cap="none" strike="noStrike">
              <a:solidFill>
                <a:schemeClr val="dk1"/>
              </a:solidFill>
              <a:latin typeface="Calibri"/>
              <a:ea typeface="Calibri"/>
              <a:cs typeface="Calibri"/>
              <a:sym typeface="Calibri"/>
            </a:endParaRPr>
          </a:p>
        </p:txBody>
      </p:sp>
      <p:sp>
        <p:nvSpPr>
          <p:cNvPr id="115" name="Google Shape;115;hb71923e8388a2e9_0_217"/>
          <p:cNvSpPr txBox="1"/>
          <p:nvPr/>
        </p:nvSpPr>
        <p:spPr>
          <a:xfrm>
            <a:off x="6997525" y="402579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Repetidas cuando salieron saturadas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20" name="Shape 120"/>
        <p:cNvGrpSpPr/>
        <p:nvPr/>
      </p:nvGrpSpPr>
      <p:grpSpPr>
        <a:xfrm>
          <a:off x="0" y="0"/>
          <a:ext cx="0" cy="0"/>
          <a:chOff x="0" y="0"/>
          <a:chExt cx="0" cy="0"/>
        </a:xfrm>
      </p:grpSpPr>
      <p:sp>
        <p:nvSpPr>
          <p:cNvPr id="121" name="Google Shape;121;hb71923e8388a2e9_0_100"/>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hb71923e8388a2e9_0_100"/>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123" name="Google Shape;123;hb71923e8388a2e9_0_100"/>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124" name="Google Shape;124;hb71923e8388a2e9_0_100"/>
          <p:cNvSpPr txBox="1"/>
          <p:nvPr/>
        </p:nvSpPr>
        <p:spPr>
          <a:xfrm>
            <a:off x="6641934" y="2381190"/>
            <a:ext cx="47370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1" i="0" lang="en-US" sz="1100" u="none" cap="none" strike="noStrike">
                <a:solidFill>
                  <a:srgbClr val="6A7382"/>
                </a:solidFill>
                <a:latin typeface="Calibri"/>
                <a:ea typeface="Calibri"/>
                <a:cs typeface="Calibri"/>
                <a:sym typeface="Calibri"/>
              </a:rPr>
              <a:t>QUÉ SUGIRIERON LOS AGENTES PARA LAS CAPTURAS</a:t>
            </a:r>
            <a:endParaRPr b="0" i="0" sz="1100" u="none" cap="none" strike="noStrike">
              <a:solidFill>
                <a:schemeClr val="dk1"/>
              </a:solidFill>
              <a:latin typeface="Calibri"/>
              <a:ea typeface="Calibri"/>
              <a:cs typeface="Calibri"/>
              <a:sym typeface="Calibri"/>
            </a:endParaRPr>
          </a:p>
        </p:txBody>
      </p:sp>
      <p:sp>
        <p:nvSpPr>
          <p:cNvPr id="125" name="Google Shape;125;hb71923e8388a2e9_0_100"/>
          <p:cNvSpPr txBox="1"/>
          <p:nvPr/>
        </p:nvSpPr>
        <p:spPr>
          <a:xfrm>
            <a:off x="6641934" y="273043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26" name="Google Shape;126;hb71923e8388a2e9_0_100"/>
          <p:cNvSpPr txBox="1"/>
          <p:nvPr/>
        </p:nvSpPr>
        <p:spPr>
          <a:xfrm>
            <a:off x="6997525" y="273043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Varios tiempos por LED: corto en luz directa, largo en luz inclinada</a:t>
            </a:r>
            <a:endParaRPr b="0" i="0" sz="1400" u="none" cap="none" strike="noStrike">
              <a:solidFill>
                <a:schemeClr val="dk1"/>
              </a:solidFill>
              <a:latin typeface="Calibri"/>
              <a:ea typeface="Calibri"/>
              <a:cs typeface="Calibri"/>
              <a:sym typeface="Calibri"/>
            </a:endParaRPr>
          </a:p>
        </p:txBody>
      </p:sp>
      <p:sp>
        <p:nvSpPr>
          <p:cNvPr id="127" name="Google Shape;127;hb71923e8388a2e9_0_100"/>
          <p:cNvSpPr txBox="1"/>
          <p:nvPr/>
        </p:nvSpPr>
        <p:spPr>
          <a:xfrm>
            <a:off x="6997525" y="323841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Pasar de 12 a 131 de 169 LEDs con señal útil (señal/ruido &gt; 3)</a:t>
            </a:r>
            <a:endParaRPr b="0" i="0" sz="1150" u="none" cap="none" strike="noStrike">
              <a:solidFill>
                <a:schemeClr val="dk1"/>
              </a:solidFill>
              <a:latin typeface="Calibri"/>
              <a:ea typeface="Calibri"/>
              <a:cs typeface="Calibri"/>
              <a:sym typeface="Calibri"/>
            </a:endParaRPr>
          </a:p>
        </p:txBody>
      </p:sp>
      <p:sp>
        <p:nvSpPr>
          <p:cNvPr id="128" name="Google Shape;128;hb71923e8388a2e9_0_100"/>
          <p:cNvSpPr txBox="1"/>
          <p:nvPr/>
        </p:nvSpPr>
        <p:spPr>
          <a:xfrm>
            <a:off x="6641934" y="351781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29" name="Google Shape;129;hb71923e8388a2e9_0_100"/>
          <p:cNvSpPr txBox="1"/>
          <p:nvPr/>
        </p:nvSpPr>
        <p:spPr>
          <a:xfrm>
            <a:off x="6997525" y="351781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Fotos a oscuras para restar el fondo del sensor</a:t>
            </a:r>
            <a:endParaRPr b="0" i="0" sz="1400" u="none" cap="none" strike="noStrike">
              <a:solidFill>
                <a:schemeClr val="dk1"/>
              </a:solidFill>
              <a:latin typeface="Calibri"/>
              <a:ea typeface="Calibri"/>
              <a:cs typeface="Calibri"/>
              <a:sym typeface="Calibri"/>
            </a:endParaRPr>
          </a:p>
        </p:txBody>
      </p:sp>
      <p:sp>
        <p:nvSpPr>
          <p:cNvPr id="130" name="Google Shape;130;hb71923e8388a2e9_0_100"/>
          <p:cNvSpPr txBox="1"/>
          <p:nvPr/>
        </p:nvSpPr>
        <p:spPr>
          <a:xfrm>
            <a:off x="6997525" y="402579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Repetidas cuando salieron saturadas</a:t>
            </a:r>
            <a:endParaRPr b="0" i="0" sz="1150" u="none" cap="none" strike="noStrike">
              <a:solidFill>
                <a:schemeClr val="dk1"/>
              </a:solidFill>
              <a:latin typeface="Calibri"/>
              <a:ea typeface="Calibri"/>
              <a:cs typeface="Calibri"/>
              <a:sym typeface="Calibri"/>
            </a:endParaRPr>
          </a:p>
        </p:txBody>
      </p:sp>
      <p:sp>
        <p:nvSpPr>
          <p:cNvPr id="131" name="Google Shape;131;hb71923e8388a2e9_0_100"/>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pic>
        <p:nvPicPr>
          <p:cNvPr id="132" name="Google Shape;132;hb71923e8388a2e9_0_100" title="fig_motivo_3_mapa.png"/>
          <p:cNvPicPr preferRelativeResize="0"/>
          <p:nvPr/>
        </p:nvPicPr>
        <p:blipFill>
          <a:blip r:embed="rId3">
            <a:alphaModFix/>
          </a:blip>
          <a:stretch>
            <a:fillRect/>
          </a:stretch>
        </p:blipFill>
        <p:spPr>
          <a:xfrm>
            <a:off x="812775" y="2222371"/>
            <a:ext cx="5714999" cy="227720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37" name="Shape 137"/>
        <p:cNvGrpSpPr/>
        <p:nvPr/>
      </p:nvGrpSpPr>
      <p:grpSpPr>
        <a:xfrm>
          <a:off x="0" y="0"/>
          <a:ext cx="0" cy="0"/>
          <a:chOff x="0" y="0"/>
          <a:chExt cx="0" cy="0"/>
        </a:xfrm>
      </p:grpSpPr>
      <p:sp>
        <p:nvSpPr>
          <p:cNvPr id="138" name="Google Shape;138;hb71923e8388a2e9_0_234"/>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hb71923e8388a2e9_0_234"/>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140" name="Google Shape;140;hb71923e8388a2e9_0_234"/>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141" name="Google Shape;141;hb71923e8388a2e9_0_234"/>
          <p:cNvSpPr txBox="1"/>
          <p:nvPr/>
        </p:nvSpPr>
        <p:spPr>
          <a:xfrm>
            <a:off x="6641934" y="2381190"/>
            <a:ext cx="47370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1" i="0" lang="en-US" sz="1100" u="none" cap="none" strike="noStrike">
                <a:solidFill>
                  <a:srgbClr val="6A7382"/>
                </a:solidFill>
                <a:latin typeface="Calibri"/>
                <a:ea typeface="Calibri"/>
                <a:cs typeface="Calibri"/>
                <a:sym typeface="Calibri"/>
              </a:rPr>
              <a:t>QUÉ SUGIRIERON LOS AGENTES PARA LAS CAPTURAS</a:t>
            </a:r>
            <a:endParaRPr b="0" i="0" sz="1100" u="none" cap="none" strike="noStrike">
              <a:solidFill>
                <a:schemeClr val="dk1"/>
              </a:solidFill>
              <a:latin typeface="Calibri"/>
              <a:ea typeface="Calibri"/>
              <a:cs typeface="Calibri"/>
              <a:sym typeface="Calibri"/>
            </a:endParaRPr>
          </a:p>
        </p:txBody>
      </p:sp>
      <p:sp>
        <p:nvSpPr>
          <p:cNvPr id="142" name="Google Shape;142;hb71923e8388a2e9_0_234"/>
          <p:cNvSpPr txBox="1"/>
          <p:nvPr/>
        </p:nvSpPr>
        <p:spPr>
          <a:xfrm>
            <a:off x="6641934" y="273043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43" name="Google Shape;143;hb71923e8388a2e9_0_234"/>
          <p:cNvSpPr txBox="1"/>
          <p:nvPr/>
        </p:nvSpPr>
        <p:spPr>
          <a:xfrm>
            <a:off x="6997525" y="273043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Varios tiempos por LED: corto en luz directa, largo en luz inclinada</a:t>
            </a:r>
            <a:endParaRPr b="0" i="0" sz="1400" u="none" cap="none" strike="noStrike">
              <a:solidFill>
                <a:schemeClr val="dk1"/>
              </a:solidFill>
              <a:latin typeface="Calibri"/>
              <a:ea typeface="Calibri"/>
              <a:cs typeface="Calibri"/>
              <a:sym typeface="Calibri"/>
            </a:endParaRPr>
          </a:p>
        </p:txBody>
      </p:sp>
      <p:sp>
        <p:nvSpPr>
          <p:cNvPr id="144" name="Google Shape;144;hb71923e8388a2e9_0_234"/>
          <p:cNvSpPr txBox="1"/>
          <p:nvPr/>
        </p:nvSpPr>
        <p:spPr>
          <a:xfrm>
            <a:off x="6997525" y="323841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Pasar de 12 a 131 de 169 LEDs con señal útil (señal/ruido &gt; 3)</a:t>
            </a:r>
            <a:endParaRPr b="0" i="0" sz="1150" u="none" cap="none" strike="noStrike">
              <a:solidFill>
                <a:schemeClr val="dk1"/>
              </a:solidFill>
              <a:latin typeface="Calibri"/>
              <a:ea typeface="Calibri"/>
              <a:cs typeface="Calibri"/>
              <a:sym typeface="Calibri"/>
            </a:endParaRPr>
          </a:p>
        </p:txBody>
      </p:sp>
      <p:sp>
        <p:nvSpPr>
          <p:cNvPr id="145" name="Google Shape;145;hb71923e8388a2e9_0_234"/>
          <p:cNvSpPr txBox="1"/>
          <p:nvPr/>
        </p:nvSpPr>
        <p:spPr>
          <a:xfrm>
            <a:off x="6641934" y="351781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46" name="Google Shape;146;hb71923e8388a2e9_0_234"/>
          <p:cNvSpPr txBox="1"/>
          <p:nvPr/>
        </p:nvSpPr>
        <p:spPr>
          <a:xfrm>
            <a:off x="6997525" y="351781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Fotos a oscuras para restar el fondo del sensor</a:t>
            </a:r>
            <a:endParaRPr b="0" i="0" sz="1400" u="none" cap="none" strike="noStrike">
              <a:solidFill>
                <a:schemeClr val="dk1"/>
              </a:solidFill>
              <a:latin typeface="Calibri"/>
              <a:ea typeface="Calibri"/>
              <a:cs typeface="Calibri"/>
              <a:sym typeface="Calibri"/>
            </a:endParaRPr>
          </a:p>
        </p:txBody>
      </p:sp>
      <p:sp>
        <p:nvSpPr>
          <p:cNvPr id="147" name="Google Shape;147;hb71923e8388a2e9_0_234"/>
          <p:cNvSpPr txBox="1"/>
          <p:nvPr/>
        </p:nvSpPr>
        <p:spPr>
          <a:xfrm>
            <a:off x="6997525" y="402579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Repetidas cuando salieron saturadas</a:t>
            </a:r>
            <a:endParaRPr b="0" i="0" sz="1150" u="none" cap="none" strike="noStrike">
              <a:solidFill>
                <a:schemeClr val="dk1"/>
              </a:solidFill>
              <a:latin typeface="Calibri"/>
              <a:ea typeface="Calibri"/>
              <a:cs typeface="Calibri"/>
              <a:sym typeface="Calibri"/>
            </a:endParaRPr>
          </a:p>
        </p:txBody>
      </p:sp>
      <p:sp>
        <p:nvSpPr>
          <p:cNvPr id="148" name="Google Shape;148;hb71923e8388a2e9_0_234"/>
          <p:cNvSpPr txBox="1"/>
          <p:nvPr/>
        </p:nvSpPr>
        <p:spPr>
          <a:xfrm>
            <a:off x="6641934" y="430519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149" name="Google Shape;149;hb71923e8388a2e9_0_234"/>
          <p:cNvSpPr txBox="1"/>
          <p:nvPr/>
        </p:nvSpPr>
        <p:spPr>
          <a:xfrm>
            <a:off x="6997525" y="430519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El tiempo de cada LED, calculado de la captura anterior</a:t>
            </a:r>
            <a:endParaRPr b="0" i="0" sz="1400" u="none" cap="none" strike="noStrike">
              <a:solidFill>
                <a:schemeClr val="dk1"/>
              </a:solidFill>
              <a:latin typeface="Calibri"/>
              <a:ea typeface="Calibri"/>
              <a:cs typeface="Calibri"/>
              <a:sym typeface="Calibri"/>
            </a:endParaRPr>
          </a:p>
        </p:txBody>
      </p:sp>
      <p:sp>
        <p:nvSpPr>
          <p:cNvPr id="150" name="Google Shape;150;hb71923e8388a2e9_0_234"/>
          <p:cNvSpPr txBox="1"/>
          <p:nvPr/>
        </p:nvSpPr>
        <p:spPr>
          <a:xfrm>
            <a:off x="6997525" y="4813180"/>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Mapa de exposición por LED y por color</a:t>
            </a:r>
            <a:endParaRPr b="0" i="0" sz="1150" u="none" cap="none" strike="noStrike">
              <a:solidFill>
                <a:schemeClr val="dk1"/>
              </a:solidFill>
              <a:latin typeface="Calibri"/>
              <a:ea typeface="Calibri"/>
              <a:cs typeface="Calibri"/>
              <a:sym typeface="Calibri"/>
            </a:endParaRPr>
          </a:p>
        </p:txBody>
      </p:sp>
      <p:sp>
        <p:nvSpPr>
          <p:cNvPr id="151" name="Google Shape;151;hb71923e8388a2e9_0_234"/>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pic>
        <p:nvPicPr>
          <p:cNvPr id="152" name="Google Shape;152;hb71923e8388a2e9_0_234" title="fig_motivo_3_mapa.png"/>
          <p:cNvPicPr preferRelativeResize="0"/>
          <p:nvPr/>
        </p:nvPicPr>
        <p:blipFill>
          <a:blip r:embed="rId3">
            <a:alphaModFix/>
          </a:blip>
          <a:stretch>
            <a:fillRect/>
          </a:stretch>
        </p:blipFill>
        <p:spPr>
          <a:xfrm>
            <a:off x="812775" y="2222371"/>
            <a:ext cx="5714999" cy="227720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57" name="Shape 157"/>
        <p:cNvGrpSpPr/>
        <p:nvPr/>
      </p:nvGrpSpPr>
      <p:grpSpPr>
        <a:xfrm>
          <a:off x="0" y="0"/>
          <a:ext cx="0" cy="0"/>
          <a:chOff x="0" y="0"/>
          <a:chExt cx="0" cy="0"/>
        </a:xfrm>
      </p:grpSpPr>
      <p:sp>
        <p:nvSpPr>
          <p:cNvPr id="158" name="Google Shape;158;hb71923e8388a2e9_0_75"/>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hb71923e8388a2e9_0_75"/>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160" name="Google Shape;160;hb71923e8388a2e9_0_75"/>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161" name="Google Shape;161;hb71923e8388a2e9_0_75"/>
          <p:cNvSpPr txBox="1"/>
          <p:nvPr/>
        </p:nvSpPr>
        <p:spPr>
          <a:xfrm>
            <a:off x="6641934" y="2381190"/>
            <a:ext cx="47370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1" i="0" lang="en-US" sz="1100" u="none" cap="none" strike="noStrike">
                <a:solidFill>
                  <a:srgbClr val="6A7382"/>
                </a:solidFill>
                <a:latin typeface="Calibri"/>
                <a:ea typeface="Calibri"/>
                <a:cs typeface="Calibri"/>
                <a:sym typeface="Calibri"/>
              </a:rPr>
              <a:t>QUÉ SUGIRIERON LOS AGENTES PARA LAS CAPTURAS</a:t>
            </a:r>
            <a:endParaRPr b="0" i="0" sz="1100" u="none" cap="none" strike="noStrike">
              <a:solidFill>
                <a:schemeClr val="dk1"/>
              </a:solidFill>
              <a:latin typeface="Calibri"/>
              <a:ea typeface="Calibri"/>
              <a:cs typeface="Calibri"/>
              <a:sym typeface="Calibri"/>
            </a:endParaRPr>
          </a:p>
        </p:txBody>
      </p:sp>
      <p:sp>
        <p:nvSpPr>
          <p:cNvPr id="162" name="Google Shape;162;hb71923e8388a2e9_0_75"/>
          <p:cNvSpPr txBox="1"/>
          <p:nvPr/>
        </p:nvSpPr>
        <p:spPr>
          <a:xfrm>
            <a:off x="6641934" y="273043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63" name="Google Shape;163;hb71923e8388a2e9_0_75"/>
          <p:cNvSpPr txBox="1"/>
          <p:nvPr/>
        </p:nvSpPr>
        <p:spPr>
          <a:xfrm>
            <a:off x="6997525" y="273043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Varios tiempos por LED: corto en luz directa, largo en luz inclinada</a:t>
            </a:r>
            <a:endParaRPr b="0" i="0" sz="1400" u="none" cap="none" strike="noStrike">
              <a:solidFill>
                <a:schemeClr val="dk1"/>
              </a:solidFill>
              <a:latin typeface="Calibri"/>
              <a:ea typeface="Calibri"/>
              <a:cs typeface="Calibri"/>
              <a:sym typeface="Calibri"/>
            </a:endParaRPr>
          </a:p>
        </p:txBody>
      </p:sp>
      <p:sp>
        <p:nvSpPr>
          <p:cNvPr id="164" name="Google Shape;164;hb71923e8388a2e9_0_75"/>
          <p:cNvSpPr txBox="1"/>
          <p:nvPr/>
        </p:nvSpPr>
        <p:spPr>
          <a:xfrm>
            <a:off x="6997525" y="323841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Pasar de 12 a 131 de 169 LEDs con señal útil (señal/ruido &gt; 3)</a:t>
            </a:r>
            <a:endParaRPr b="0" i="0" sz="1150" u="none" cap="none" strike="noStrike">
              <a:solidFill>
                <a:schemeClr val="dk1"/>
              </a:solidFill>
              <a:latin typeface="Calibri"/>
              <a:ea typeface="Calibri"/>
              <a:cs typeface="Calibri"/>
              <a:sym typeface="Calibri"/>
            </a:endParaRPr>
          </a:p>
        </p:txBody>
      </p:sp>
      <p:sp>
        <p:nvSpPr>
          <p:cNvPr id="165" name="Google Shape;165;hb71923e8388a2e9_0_75"/>
          <p:cNvSpPr txBox="1"/>
          <p:nvPr/>
        </p:nvSpPr>
        <p:spPr>
          <a:xfrm>
            <a:off x="6641934" y="351781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66" name="Google Shape;166;hb71923e8388a2e9_0_75"/>
          <p:cNvSpPr txBox="1"/>
          <p:nvPr/>
        </p:nvSpPr>
        <p:spPr>
          <a:xfrm>
            <a:off x="6997525" y="351781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Fotos a oscuras para restar el fondo del sensor</a:t>
            </a:r>
            <a:endParaRPr b="0" i="0" sz="1400" u="none" cap="none" strike="noStrike">
              <a:solidFill>
                <a:schemeClr val="dk1"/>
              </a:solidFill>
              <a:latin typeface="Calibri"/>
              <a:ea typeface="Calibri"/>
              <a:cs typeface="Calibri"/>
              <a:sym typeface="Calibri"/>
            </a:endParaRPr>
          </a:p>
        </p:txBody>
      </p:sp>
      <p:sp>
        <p:nvSpPr>
          <p:cNvPr id="167" name="Google Shape;167;hb71923e8388a2e9_0_75"/>
          <p:cNvSpPr txBox="1"/>
          <p:nvPr/>
        </p:nvSpPr>
        <p:spPr>
          <a:xfrm>
            <a:off x="6997525" y="402579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Repetidas cuando salieron saturadas</a:t>
            </a:r>
            <a:endParaRPr b="0" i="0" sz="1150" u="none" cap="none" strike="noStrike">
              <a:solidFill>
                <a:schemeClr val="dk1"/>
              </a:solidFill>
              <a:latin typeface="Calibri"/>
              <a:ea typeface="Calibri"/>
              <a:cs typeface="Calibri"/>
              <a:sym typeface="Calibri"/>
            </a:endParaRPr>
          </a:p>
        </p:txBody>
      </p:sp>
      <p:sp>
        <p:nvSpPr>
          <p:cNvPr id="168" name="Google Shape;168;hb71923e8388a2e9_0_75"/>
          <p:cNvSpPr txBox="1"/>
          <p:nvPr/>
        </p:nvSpPr>
        <p:spPr>
          <a:xfrm>
            <a:off x="6641934" y="430519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169" name="Google Shape;169;hb71923e8388a2e9_0_75"/>
          <p:cNvSpPr txBox="1"/>
          <p:nvPr/>
        </p:nvSpPr>
        <p:spPr>
          <a:xfrm>
            <a:off x="6997525" y="430519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El tiempo de cada LED, calculado de la captura anterior</a:t>
            </a:r>
            <a:endParaRPr b="0" i="0" sz="1400" u="none" cap="none" strike="noStrike">
              <a:solidFill>
                <a:schemeClr val="dk1"/>
              </a:solidFill>
              <a:latin typeface="Calibri"/>
              <a:ea typeface="Calibri"/>
              <a:cs typeface="Calibri"/>
              <a:sym typeface="Calibri"/>
            </a:endParaRPr>
          </a:p>
        </p:txBody>
      </p:sp>
      <p:sp>
        <p:nvSpPr>
          <p:cNvPr id="170" name="Google Shape;170;hb71923e8388a2e9_0_75"/>
          <p:cNvSpPr txBox="1"/>
          <p:nvPr/>
        </p:nvSpPr>
        <p:spPr>
          <a:xfrm>
            <a:off x="6997525" y="4813180"/>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Mapa de exposición por LED y por color</a:t>
            </a:r>
            <a:endParaRPr b="0" i="0" sz="1150" u="none" cap="none" strike="noStrike">
              <a:solidFill>
                <a:schemeClr val="dk1"/>
              </a:solidFill>
              <a:latin typeface="Calibri"/>
              <a:ea typeface="Calibri"/>
              <a:cs typeface="Calibri"/>
              <a:sym typeface="Calibri"/>
            </a:endParaRPr>
          </a:p>
        </p:txBody>
      </p:sp>
      <p:sp>
        <p:nvSpPr>
          <p:cNvPr id="171" name="Google Shape;171;hb71923e8388a2e9_0_75"/>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pic>
        <p:nvPicPr>
          <p:cNvPr id="172" name="Google Shape;172;hb71923e8388a2e9_0_75" title="fig_motivo_4_distancia.png"/>
          <p:cNvPicPr preferRelativeResize="0"/>
          <p:nvPr/>
        </p:nvPicPr>
        <p:blipFill>
          <a:blip r:embed="rId3">
            <a:alphaModFix/>
          </a:blip>
          <a:stretch>
            <a:fillRect/>
          </a:stretch>
        </p:blipFill>
        <p:spPr>
          <a:xfrm>
            <a:off x="812775" y="2222371"/>
            <a:ext cx="5715000" cy="303609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77" name="Shape 177"/>
        <p:cNvGrpSpPr/>
        <p:nvPr/>
      </p:nvGrpSpPr>
      <p:grpSpPr>
        <a:xfrm>
          <a:off x="0" y="0"/>
          <a:ext cx="0" cy="0"/>
          <a:chOff x="0" y="0"/>
          <a:chExt cx="0" cy="0"/>
        </a:xfrm>
      </p:grpSpPr>
      <p:sp>
        <p:nvSpPr>
          <p:cNvPr id="178" name="Google Shape;178;hb71923e8388a2e9_0_254"/>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hb71923e8388a2e9_0_254"/>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180" name="Google Shape;180;hb71923e8388a2e9_0_254"/>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181" name="Google Shape;181;hb71923e8388a2e9_0_254"/>
          <p:cNvSpPr txBox="1"/>
          <p:nvPr/>
        </p:nvSpPr>
        <p:spPr>
          <a:xfrm>
            <a:off x="6641934" y="2381190"/>
            <a:ext cx="47370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1" i="0" lang="en-US" sz="1100" u="none" cap="none" strike="noStrike">
                <a:solidFill>
                  <a:srgbClr val="6A7382"/>
                </a:solidFill>
                <a:latin typeface="Calibri"/>
                <a:ea typeface="Calibri"/>
                <a:cs typeface="Calibri"/>
                <a:sym typeface="Calibri"/>
              </a:rPr>
              <a:t>QUÉ SUGIRIERON LOS AGENTES PARA LAS CAPTURAS</a:t>
            </a:r>
            <a:endParaRPr b="0" i="0" sz="1100" u="none" cap="none" strike="noStrike">
              <a:solidFill>
                <a:schemeClr val="dk1"/>
              </a:solidFill>
              <a:latin typeface="Calibri"/>
              <a:ea typeface="Calibri"/>
              <a:cs typeface="Calibri"/>
              <a:sym typeface="Calibri"/>
            </a:endParaRPr>
          </a:p>
        </p:txBody>
      </p:sp>
      <p:sp>
        <p:nvSpPr>
          <p:cNvPr id="182" name="Google Shape;182;hb71923e8388a2e9_0_254"/>
          <p:cNvSpPr txBox="1"/>
          <p:nvPr/>
        </p:nvSpPr>
        <p:spPr>
          <a:xfrm>
            <a:off x="6641934" y="273043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183" name="Google Shape;183;hb71923e8388a2e9_0_254"/>
          <p:cNvSpPr txBox="1"/>
          <p:nvPr/>
        </p:nvSpPr>
        <p:spPr>
          <a:xfrm>
            <a:off x="6997525" y="273043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Varios tiempos por LED: corto en luz directa, largo en luz inclinada</a:t>
            </a:r>
            <a:endParaRPr b="0" i="0" sz="1400" u="none" cap="none" strike="noStrike">
              <a:solidFill>
                <a:schemeClr val="dk1"/>
              </a:solidFill>
              <a:latin typeface="Calibri"/>
              <a:ea typeface="Calibri"/>
              <a:cs typeface="Calibri"/>
              <a:sym typeface="Calibri"/>
            </a:endParaRPr>
          </a:p>
        </p:txBody>
      </p:sp>
      <p:sp>
        <p:nvSpPr>
          <p:cNvPr id="184" name="Google Shape;184;hb71923e8388a2e9_0_254"/>
          <p:cNvSpPr txBox="1"/>
          <p:nvPr/>
        </p:nvSpPr>
        <p:spPr>
          <a:xfrm>
            <a:off x="6997525" y="323841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Pasar de 12 a 131 de 169 LEDs con señal útil (señal/ruido &gt; 3)</a:t>
            </a:r>
            <a:endParaRPr b="0" i="0" sz="1150" u="none" cap="none" strike="noStrike">
              <a:solidFill>
                <a:schemeClr val="dk1"/>
              </a:solidFill>
              <a:latin typeface="Calibri"/>
              <a:ea typeface="Calibri"/>
              <a:cs typeface="Calibri"/>
              <a:sym typeface="Calibri"/>
            </a:endParaRPr>
          </a:p>
        </p:txBody>
      </p:sp>
      <p:sp>
        <p:nvSpPr>
          <p:cNvPr id="185" name="Google Shape;185;hb71923e8388a2e9_0_254"/>
          <p:cNvSpPr txBox="1"/>
          <p:nvPr/>
        </p:nvSpPr>
        <p:spPr>
          <a:xfrm>
            <a:off x="6641934" y="351781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186" name="Google Shape;186;hb71923e8388a2e9_0_254"/>
          <p:cNvSpPr txBox="1"/>
          <p:nvPr/>
        </p:nvSpPr>
        <p:spPr>
          <a:xfrm>
            <a:off x="6997525" y="351781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Fotos a oscuras para restar el fondo del sensor</a:t>
            </a:r>
            <a:endParaRPr b="0" i="0" sz="1400" u="none" cap="none" strike="noStrike">
              <a:solidFill>
                <a:schemeClr val="dk1"/>
              </a:solidFill>
              <a:latin typeface="Calibri"/>
              <a:ea typeface="Calibri"/>
              <a:cs typeface="Calibri"/>
              <a:sym typeface="Calibri"/>
            </a:endParaRPr>
          </a:p>
        </p:txBody>
      </p:sp>
      <p:sp>
        <p:nvSpPr>
          <p:cNvPr id="187" name="Google Shape;187;hb71923e8388a2e9_0_254"/>
          <p:cNvSpPr txBox="1"/>
          <p:nvPr/>
        </p:nvSpPr>
        <p:spPr>
          <a:xfrm>
            <a:off x="6997525" y="402579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Repetidas cuando salieron saturadas</a:t>
            </a:r>
            <a:endParaRPr b="0" i="0" sz="1150" u="none" cap="none" strike="noStrike">
              <a:solidFill>
                <a:schemeClr val="dk1"/>
              </a:solidFill>
              <a:latin typeface="Calibri"/>
              <a:ea typeface="Calibri"/>
              <a:cs typeface="Calibri"/>
              <a:sym typeface="Calibri"/>
            </a:endParaRPr>
          </a:p>
        </p:txBody>
      </p:sp>
      <p:sp>
        <p:nvSpPr>
          <p:cNvPr id="188" name="Google Shape;188;hb71923e8388a2e9_0_254"/>
          <p:cNvSpPr txBox="1"/>
          <p:nvPr/>
        </p:nvSpPr>
        <p:spPr>
          <a:xfrm>
            <a:off x="6641934" y="430519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189" name="Google Shape;189;hb71923e8388a2e9_0_254"/>
          <p:cNvSpPr txBox="1"/>
          <p:nvPr/>
        </p:nvSpPr>
        <p:spPr>
          <a:xfrm>
            <a:off x="6997525" y="430519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El tiempo de cada LED, calculado de la captura anterior</a:t>
            </a:r>
            <a:endParaRPr b="0" i="0" sz="1400" u="none" cap="none" strike="noStrike">
              <a:solidFill>
                <a:schemeClr val="dk1"/>
              </a:solidFill>
              <a:latin typeface="Calibri"/>
              <a:ea typeface="Calibri"/>
              <a:cs typeface="Calibri"/>
              <a:sym typeface="Calibri"/>
            </a:endParaRPr>
          </a:p>
        </p:txBody>
      </p:sp>
      <p:sp>
        <p:nvSpPr>
          <p:cNvPr id="190" name="Google Shape;190;hb71923e8388a2e9_0_254"/>
          <p:cNvSpPr txBox="1"/>
          <p:nvPr/>
        </p:nvSpPr>
        <p:spPr>
          <a:xfrm>
            <a:off x="6997525" y="4813180"/>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Mapa de exposición por LED y por color</a:t>
            </a:r>
            <a:endParaRPr b="0" i="0" sz="1150" u="none" cap="none" strike="noStrike">
              <a:solidFill>
                <a:schemeClr val="dk1"/>
              </a:solidFill>
              <a:latin typeface="Calibri"/>
              <a:ea typeface="Calibri"/>
              <a:cs typeface="Calibri"/>
              <a:sym typeface="Calibri"/>
            </a:endParaRPr>
          </a:p>
        </p:txBody>
      </p:sp>
      <p:sp>
        <p:nvSpPr>
          <p:cNvPr id="191" name="Google Shape;191;hb71923e8388a2e9_0_254"/>
          <p:cNvSpPr txBox="1"/>
          <p:nvPr/>
        </p:nvSpPr>
        <p:spPr>
          <a:xfrm>
            <a:off x="6641934" y="5092573"/>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4</a:t>
            </a:r>
            <a:endParaRPr b="0" i="0" sz="1800" u="none" cap="none" strike="noStrike">
              <a:solidFill>
                <a:schemeClr val="dk1"/>
              </a:solidFill>
              <a:latin typeface="Calibri"/>
              <a:ea typeface="Calibri"/>
              <a:cs typeface="Calibri"/>
              <a:sym typeface="Calibri"/>
            </a:endParaRPr>
          </a:p>
        </p:txBody>
      </p:sp>
      <p:sp>
        <p:nvSpPr>
          <p:cNvPr id="192" name="Google Shape;192;hb71923e8388a2e9_0_254"/>
          <p:cNvSpPr txBox="1"/>
          <p:nvPr/>
        </p:nvSpPr>
        <p:spPr>
          <a:xfrm>
            <a:off x="6997525" y="5092573"/>
            <a:ext cx="4381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Alejar la matriz de 74 a ~98 mm</a:t>
            </a:r>
            <a:endParaRPr b="0" i="0" sz="1400" u="none" cap="none" strike="noStrike">
              <a:solidFill>
                <a:schemeClr val="dk1"/>
              </a:solidFill>
              <a:latin typeface="Calibri"/>
              <a:ea typeface="Calibri"/>
              <a:cs typeface="Calibri"/>
              <a:sym typeface="Calibri"/>
            </a:endParaRPr>
          </a:p>
        </p:txBody>
      </p:sp>
      <p:sp>
        <p:nvSpPr>
          <p:cNvPr id="193" name="Google Shape;193;hb71923e8388a2e9_0_254"/>
          <p:cNvSpPr txBox="1"/>
          <p:nvPr/>
        </p:nvSpPr>
        <p:spPr>
          <a:xfrm>
            <a:off x="6997525" y="5410065"/>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Más solapamiento entre LEDs vecinos: de 31 % a 46 %</a:t>
            </a:r>
            <a:endParaRPr b="0" i="0" sz="1150" u="none" cap="none" strike="noStrike">
              <a:solidFill>
                <a:schemeClr val="dk1"/>
              </a:solidFill>
              <a:latin typeface="Calibri"/>
              <a:ea typeface="Calibri"/>
              <a:cs typeface="Calibri"/>
              <a:sym typeface="Calibri"/>
            </a:endParaRPr>
          </a:p>
        </p:txBody>
      </p:sp>
      <p:sp>
        <p:nvSpPr>
          <p:cNvPr id="194" name="Google Shape;194;hb71923e8388a2e9_0_254"/>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pic>
        <p:nvPicPr>
          <p:cNvPr id="195" name="Google Shape;195;hb71923e8388a2e9_0_254" title="fig_motivo_4_distancia.png"/>
          <p:cNvPicPr preferRelativeResize="0"/>
          <p:nvPr/>
        </p:nvPicPr>
        <p:blipFill>
          <a:blip r:embed="rId3">
            <a:alphaModFix/>
          </a:blip>
          <a:stretch>
            <a:fillRect/>
          </a:stretch>
        </p:blipFill>
        <p:spPr>
          <a:xfrm>
            <a:off x="812775" y="2222371"/>
            <a:ext cx="5715000" cy="303609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00" name="Shape 200"/>
        <p:cNvGrpSpPr/>
        <p:nvPr/>
      </p:nvGrpSpPr>
      <p:grpSpPr>
        <a:xfrm>
          <a:off x="0" y="0"/>
          <a:ext cx="0" cy="0"/>
          <a:chOff x="0" y="0"/>
          <a:chExt cx="0" cy="0"/>
        </a:xfrm>
      </p:grpSpPr>
      <p:sp>
        <p:nvSpPr>
          <p:cNvPr id="201" name="Google Shape;201;hb71923e8388a2e9_0_50"/>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hb71923e8388a2e9_0_50"/>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203" name="Google Shape;203;hb71923e8388a2e9_0_50"/>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204" name="Google Shape;204;hb71923e8388a2e9_0_50"/>
          <p:cNvSpPr txBox="1"/>
          <p:nvPr/>
        </p:nvSpPr>
        <p:spPr>
          <a:xfrm>
            <a:off x="6641934" y="2381190"/>
            <a:ext cx="47370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1" i="0" lang="en-US" sz="1100" u="none" cap="none" strike="noStrike">
                <a:solidFill>
                  <a:srgbClr val="6A7382"/>
                </a:solidFill>
                <a:latin typeface="Calibri"/>
                <a:ea typeface="Calibri"/>
                <a:cs typeface="Calibri"/>
                <a:sym typeface="Calibri"/>
              </a:rPr>
              <a:t>QUÉ SUGIRIERON LOS AGENTES PARA LAS CAPTURAS</a:t>
            </a:r>
            <a:endParaRPr b="0" i="0" sz="1100" u="none" cap="none" strike="noStrike">
              <a:solidFill>
                <a:schemeClr val="dk1"/>
              </a:solidFill>
              <a:latin typeface="Calibri"/>
              <a:ea typeface="Calibri"/>
              <a:cs typeface="Calibri"/>
              <a:sym typeface="Calibri"/>
            </a:endParaRPr>
          </a:p>
        </p:txBody>
      </p:sp>
      <p:sp>
        <p:nvSpPr>
          <p:cNvPr id="205" name="Google Shape;205;hb71923e8388a2e9_0_50"/>
          <p:cNvSpPr txBox="1"/>
          <p:nvPr/>
        </p:nvSpPr>
        <p:spPr>
          <a:xfrm>
            <a:off x="6641934" y="273043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206" name="Google Shape;206;hb71923e8388a2e9_0_50"/>
          <p:cNvSpPr txBox="1"/>
          <p:nvPr/>
        </p:nvSpPr>
        <p:spPr>
          <a:xfrm>
            <a:off x="6997525" y="273043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Varios tiempos por LED: corto en luz directa, largo en luz inclinada</a:t>
            </a:r>
            <a:endParaRPr b="0" i="0" sz="1400" u="none" cap="none" strike="noStrike">
              <a:solidFill>
                <a:schemeClr val="dk1"/>
              </a:solidFill>
              <a:latin typeface="Calibri"/>
              <a:ea typeface="Calibri"/>
              <a:cs typeface="Calibri"/>
              <a:sym typeface="Calibri"/>
            </a:endParaRPr>
          </a:p>
        </p:txBody>
      </p:sp>
      <p:sp>
        <p:nvSpPr>
          <p:cNvPr id="207" name="Google Shape;207;hb71923e8388a2e9_0_50"/>
          <p:cNvSpPr txBox="1"/>
          <p:nvPr/>
        </p:nvSpPr>
        <p:spPr>
          <a:xfrm>
            <a:off x="6997525" y="323841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Pasar de 12 a 131 de 169 LEDs con señal útil (señal/ruido &gt; 3)</a:t>
            </a:r>
            <a:endParaRPr b="0" i="0" sz="1150" u="none" cap="none" strike="noStrike">
              <a:solidFill>
                <a:schemeClr val="dk1"/>
              </a:solidFill>
              <a:latin typeface="Calibri"/>
              <a:ea typeface="Calibri"/>
              <a:cs typeface="Calibri"/>
              <a:sym typeface="Calibri"/>
            </a:endParaRPr>
          </a:p>
        </p:txBody>
      </p:sp>
      <p:sp>
        <p:nvSpPr>
          <p:cNvPr id="208" name="Google Shape;208;hb71923e8388a2e9_0_50"/>
          <p:cNvSpPr txBox="1"/>
          <p:nvPr/>
        </p:nvSpPr>
        <p:spPr>
          <a:xfrm>
            <a:off x="6641934" y="351781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209" name="Google Shape;209;hb71923e8388a2e9_0_50"/>
          <p:cNvSpPr txBox="1"/>
          <p:nvPr/>
        </p:nvSpPr>
        <p:spPr>
          <a:xfrm>
            <a:off x="6997525" y="351781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Fotos a oscuras para restar el fondo del sensor</a:t>
            </a:r>
            <a:endParaRPr b="0" i="0" sz="1400" u="none" cap="none" strike="noStrike">
              <a:solidFill>
                <a:schemeClr val="dk1"/>
              </a:solidFill>
              <a:latin typeface="Calibri"/>
              <a:ea typeface="Calibri"/>
              <a:cs typeface="Calibri"/>
              <a:sym typeface="Calibri"/>
            </a:endParaRPr>
          </a:p>
        </p:txBody>
      </p:sp>
      <p:sp>
        <p:nvSpPr>
          <p:cNvPr id="210" name="Google Shape;210;hb71923e8388a2e9_0_50"/>
          <p:cNvSpPr txBox="1"/>
          <p:nvPr/>
        </p:nvSpPr>
        <p:spPr>
          <a:xfrm>
            <a:off x="6997525" y="402579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Repetidas cuando salieron saturadas</a:t>
            </a:r>
            <a:endParaRPr b="0" i="0" sz="1150" u="none" cap="none" strike="noStrike">
              <a:solidFill>
                <a:schemeClr val="dk1"/>
              </a:solidFill>
              <a:latin typeface="Calibri"/>
              <a:ea typeface="Calibri"/>
              <a:cs typeface="Calibri"/>
              <a:sym typeface="Calibri"/>
            </a:endParaRPr>
          </a:p>
        </p:txBody>
      </p:sp>
      <p:sp>
        <p:nvSpPr>
          <p:cNvPr id="211" name="Google Shape;211;hb71923e8388a2e9_0_50"/>
          <p:cNvSpPr txBox="1"/>
          <p:nvPr/>
        </p:nvSpPr>
        <p:spPr>
          <a:xfrm>
            <a:off x="6641934" y="430519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212" name="Google Shape;212;hb71923e8388a2e9_0_50"/>
          <p:cNvSpPr txBox="1"/>
          <p:nvPr/>
        </p:nvSpPr>
        <p:spPr>
          <a:xfrm>
            <a:off x="6997525" y="430519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El tiempo de cada LED, calculado de la captura anterior</a:t>
            </a:r>
            <a:endParaRPr b="0" i="0" sz="1400" u="none" cap="none" strike="noStrike">
              <a:solidFill>
                <a:schemeClr val="dk1"/>
              </a:solidFill>
              <a:latin typeface="Calibri"/>
              <a:ea typeface="Calibri"/>
              <a:cs typeface="Calibri"/>
              <a:sym typeface="Calibri"/>
            </a:endParaRPr>
          </a:p>
        </p:txBody>
      </p:sp>
      <p:sp>
        <p:nvSpPr>
          <p:cNvPr id="213" name="Google Shape;213;hb71923e8388a2e9_0_50"/>
          <p:cNvSpPr txBox="1"/>
          <p:nvPr/>
        </p:nvSpPr>
        <p:spPr>
          <a:xfrm>
            <a:off x="6997525" y="4813180"/>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Mapa de exposición por LED y por color</a:t>
            </a:r>
            <a:endParaRPr b="0" i="0" sz="1150" u="none" cap="none" strike="noStrike">
              <a:solidFill>
                <a:schemeClr val="dk1"/>
              </a:solidFill>
              <a:latin typeface="Calibri"/>
              <a:ea typeface="Calibri"/>
              <a:cs typeface="Calibri"/>
              <a:sym typeface="Calibri"/>
            </a:endParaRPr>
          </a:p>
        </p:txBody>
      </p:sp>
      <p:sp>
        <p:nvSpPr>
          <p:cNvPr id="214" name="Google Shape;214;hb71923e8388a2e9_0_50"/>
          <p:cNvSpPr txBox="1"/>
          <p:nvPr/>
        </p:nvSpPr>
        <p:spPr>
          <a:xfrm>
            <a:off x="6641934" y="5092573"/>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4</a:t>
            </a:r>
            <a:endParaRPr b="0" i="0" sz="1800" u="none" cap="none" strike="noStrike">
              <a:solidFill>
                <a:schemeClr val="dk1"/>
              </a:solidFill>
              <a:latin typeface="Calibri"/>
              <a:ea typeface="Calibri"/>
              <a:cs typeface="Calibri"/>
              <a:sym typeface="Calibri"/>
            </a:endParaRPr>
          </a:p>
        </p:txBody>
      </p:sp>
      <p:sp>
        <p:nvSpPr>
          <p:cNvPr id="215" name="Google Shape;215;hb71923e8388a2e9_0_50"/>
          <p:cNvSpPr txBox="1"/>
          <p:nvPr/>
        </p:nvSpPr>
        <p:spPr>
          <a:xfrm>
            <a:off x="6997525" y="5092573"/>
            <a:ext cx="4381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Alejar la matriz de 74 a ~98 mm</a:t>
            </a:r>
            <a:endParaRPr b="0" i="0" sz="1400" u="none" cap="none" strike="noStrike">
              <a:solidFill>
                <a:schemeClr val="dk1"/>
              </a:solidFill>
              <a:latin typeface="Calibri"/>
              <a:ea typeface="Calibri"/>
              <a:cs typeface="Calibri"/>
              <a:sym typeface="Calibri"/>
            </a:endParaRPr>
          </a:p>
        </p:txBody>
      </p:sp>
      <p:sp>
        <p:nvSpPr>
          <p:cNvPr id="216" name="Google Shape;216;hb71923e8388a2e9_0_50"/>
          <p:cNvSpPr txBox="1"/>
          <p:nvPr/>
        </p:nvSpPr>
        <p:spPr>
          <a:xfrm>
            <a:off x="6997525" y="5410065"/>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Más solapamiento entre LEDs vecinos: de 31 % a 46 %</a:t>
            </a:r>
            <a:endParaRPr b="0" i="0" sz="1150" u="none" cap="none" strike="noStrike">
              <a:solidFill>
                <a:schemeClr val="dk1"/>
              </a:solidFill>
              <a:latin typeface="Calibri"/>
              <a:ea typeface="Calibri"/>
              <a:cs typeface="Calibri"/>
              <a:sym typeface="Calibri"/>
            </a:endParaRPr>
          </a:p>
        </p:txBody>
      </p:sp>
      <p:sp>
        <p:nvSpPr>
          <p:cNvPr id="217" name="Google Shape;217;hb71923e8388a2e9_0_50"/>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pic>
        <p:nvPicPr>
          <p:cNvPr id="218" name="Google Shape;218;hb71923e8388a2e9_0_50" title="fig_motivo_5_foco.png"/>
          <p:cNvPicPr preferRelativeResize="0"/>
          <p:nvPr/>
        </p:nvPicPr>
        <p:blipFill>
          <a:blip r:embed="rId3">
            <a:alphaModFix/>
          </a:blip>
          <a:stretch>
            <a:fillRect/>
          </a:stretch>
        </p:blipFill>
        <p:spPr>
          <a:xfrm>
            <a:off x="1095499" y="2222371"/>
            <a:ext cx="5149551" cy="375917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23" name="Shape 223"/>
        <p:cNvGrpSpPr/>
        <p:nvPr/>
      </p:nvGrpSpPr>
      <p:grpSpPr>
        <a:xfrm>
          <a:off x="0" y="0"/>
          <a:ext cx="0" cy="0"/>
          <a:chOff x="0" y="0"/>
          <a:chExt cx="0" cy="0"/>
        </a:xfrm>
      </p:grpSpPr>
      <p:sp>
        <p:nvSpPr>
          <p:cNvPr id="224" name="Google Shape;224;hb71923e8388a2e9_0_277"/>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hb71923e8388a2e9_0_277"/>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226" name="Google Shape;226;hb71923e8388a2e9_0_277"/>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sp>
        <p:nvSpPr>
          <p:cNvPr id="227" name="Google Shape;227;hb71923e8388a2e9_0_277"/>
          <p:cNvSpPr txBox="1"/>
          <p:nvPr/>
        </p:nvSpPr>
        <p:spPr>
          <a:xfrm>
            <a:off x="6641934" y="2381190"/>
            <a:ext cx="47370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1" i="0" lang="en-US" sz="1100" u="none" cap="none" strike="noStrike">
                <a:solidFill>
                  <a:srgbClr val="6A7382"/>
                </a:solidFill>
                <a:latin typeface="Calibri"/>
                <a:ea typeface="Calibri"/>
                <a:cs typeface="Calibri"/>
                <a:sym typeface="Calibri"/>
              </a:rPr>
              <a:t>QUÉ SUGIRIERON LOS AGENTES PARA LAS CAPTURAS</a:t>
            </a:r>
            <a:endParaRPr b="0" i="0" sz="1100" u="none" cap="none" strike="noStrike">
              <a:solidFill>
                <a:schemeClr val="dk1"/>
              </a:solidFill>
              <a:latin typeface="Calibri"/>
              <a:ea typeface="Calibri"/>
              <a:cs typeface="Calibri"/>
              <a:sym typeface="Calibri"/>
            </a:endParaRPr>
          </a:p>
        </p:txBody>
      </p:sp>
      <p:sp>
        <p:nvSpPr>
          <p:cNvPr id="228" name="Google Shape;228;hb71923e8388a2e9_0_277"/>
          <p:cNvSpPr txBox="1"/>
          <p:nvPr/>
        </p:nvSpPr>
        <p:spPr>
          <a:xfrm>
            <a:off x="6641934" y="273043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229" name="Google Shape;229;hb71923e8388a2e9_0_277"/>
          <p:cNvSpPr txBox="1"/>
          <p:nvPr/>
        </p:nvSpPr>
        <p:spPr>
          <a:xfrm>
            <a:off x="6997525" y="273043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Varios tiempos por LED: corto en luz directa, largo en luz inclinada</a:t>
            </a:r>
            <a:endParaRPr b="0" i="0" sz="1400" u="none" cap="none" strike="noStrike">
              <a:solidFill>
                <a:schemeClr val="dk1"/>
              </a:solidFill>
              <a:latin typeface="Calibri"/>
              <a:ea typeface="Calibri"/>
              <a:cs typeface="Calibri"/>
              <a:sym typeface="Calibri"/>
            </a:endParaRPr>
          </a:p>
        </p:txBody>
      </p:sp>
      <p:sp>
        <p:nvSpPr>
          <p:cNvPr id="230" name="Google Shape;230;hb71923e8388a2e9_0_277"/>
          <p:cNvSpPr txBox="1"/>
          <p:nvPr/>
        </p:nvSpPr>
        <p:spPr>
          <a:xfrm>
            <a:off x="6997525" y="323841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Pasar de 12 a 131 de 169 LEDs con señal útil (señal/ruido &gt; 3)</a:t>
            </a:r>
            <a:endParaRPr b="0" i="0" sz="1150" u="none" cap="none" strike="noStrike">
              <a:solidFill>
                <a:schemeClr val="dk1"/>
              </a:solidFill>
              <a:latin typeface="Calibri"/>
              <a:ea typeface="Calibri"/>
              <a:cs typeface="Calibri"/>
              <a:sym typeface="Calibri"/>
            </a:endParaRPr>
          </a:p>
        </p:txBody>
      </p:sp>
      <p:sp>
        <p:nvSpPr>
          <p:cNvPr id="231" name="Google Shape;231;hb71923e8388a2e9_0_277"/>
          <p:cNvSpPr txBox="1"/>
          <p:nvPr/>
        </p:nvSpPr>
        <p:spPr>
          <a:xfrm>
            <a:off x="6641934" y="351781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232" name="Google Shape;232;hb71923e8388a2e9_0_277"/>
          <p:cNvSpPr txBox="1"/>
          <p:nvPr/>
        </p:nvSpPr>
        <p:spPr>
          <a:xfrm>
            <a:off x="6997525" y="351781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Fotos a oscuras para restar el fondo del sensor</a:t>
            </a:r>
            <a:endParaRPr b="0" i="0" sz="1400" u="none" cap="none" strike="noStrike">
              <a:solidFill>
                <a:schemeClr val="dk1"/>
              </a:solidFill>
              <a:latin typeface="Calibri"/>
              <a:ea typeface="Calibri"/>
              <a:cs typeface="Calibri"/>
              <a:sym typeface="Calibri"/>
            </a:endParaRPr>
          </a:p>
        </p:txBody>
      </p:sp>
      <p:sp>
        <p:nvSpPr>
          <p:cNvPr id="233" name="Google Shape;233;hb71923e8388a2e9_0_277"/>
          <p:cNvSpPr txBox="1"/>
          <p:nvPr/>
        </p:nvSpPr>
        <p:spPr>
          <a:xfrm>
            <a:off x="6997525" y="402579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Repetidas cuando salieron saturadas</a:t>
            </a:r>
            <a:endParaRPr b="0" i="0" sz="1150" u="none" cap="none" strike="noStrike">
              <a:solidFill>
                <a:schemeClr val="dk1"/>
              </a:solidFill>
              <a:latin typeface="Calibri"/>
              <a:ea typeface="Calibri"/>
              <a:cs typeface="Calibri"/>
              <a:sym typeface="Calibri"/>
            </a:endParaRPr>
          </a:p>
        </p:txBody>
      </p:sp>
      <p:sp>
        <p:nvSpPr>
          <p:cNvPr id="234" name="Google Shape;234;hb71923e8388a2e9_0_277"/>
          <p:cNvSpPr txBox="1"/>
          <p:nvPr/>
        </p:nvSpPr>
        <p:spPr>
          <a:xfrm>
            <a:off x="6641934" y="430519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235" name="Google Shape;235;hb71923e8388a2e9_0_277"/>
          <p:cNvSpPr txBox="1"/>
          <p:nvPr/>
        </p:nvSpPr>
        <p:spPr>
          <a:xfrm>
            <a:off x="6997525" y="430519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El tiempo de cada LED, calculado de la captura anterior</a:t>
            </a:r>
            <a:endParaRPr b="0" i="0" sz="1400" u="none" cap="none" strike="noStrike">
              <a:solidFill>
                <a:schemeClr val="dk1"/>
              </a:solidFill>
              <a:latin typeface="Calibri"/>
              <a:ea typeface="Calibri"/>
              <a:cs typeface="Calibri"/>
              <a:sym typeface="Calibri"/>
            </a:endParaRPr>
          </a:p>
        </p:txBody>
      </p:sp>
      <p:sp>
        <p:nvSpPr>
          <p:cNvPr id="236" name="Google Shape;236;hb71923e8388a2e9_0_277"/>
          <p:cNvSpPr txBox="1"/>
          <p:nvPr/>
        </p:nvSpPr>
        <p:spPr>
          <a:xfrm>
            <a:off x="6997525" y="4813180"/>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Mapa de exposición por LED y por color</a:t>
            </a:r>
            <a:endParaRPr b="0" i="0" sz="1150" u="none" cap="none" strike="noStrike">
              <a:solidFill>
                <a:schemeClr val="dk1"/>
              </a:solidFill>
              <a:latin typeface="Calibri"/>
              <a:ea typeface="Calibri"/>
              <a:cs typeface="Calibri"/>
              <a:sym typeface="Calibri"/>
            </a:endParaRPr>
          </a:p>
        </p:txBody>
      </p:sp>
      <p:sp>
        <p:nvSpPr>
          <p:cNvPr id="237" name="Google Shape;237;hb71923e8388a2e9_0_277"/>
          <p:cNvSpPr txBox="1"/>
          <p:nvPr/>
        </p:nvSpPr>
        <p:spPr>
          <a:xfrm>
            <a:off x="6641934" y="5092573"/>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4</a:t>
            </a:r>
            <a:endParaRPr b="0" i="0" sz="1800" u="none" cap="none" strike="noStrike">
              <a:solidFill>
                <a:schemeClr val="dk1"/>
              </a:solidFill>
              <a:latin typeface="Calibri"/>
              <a:ea typeface="Calibri"/>
              <a:cs typeface="Calibri"/>
              <a:sym typeface="Calibri"/>
            </a:endParaRPr>
          </a:p>
        </p:txBody>
      </p:sp>
      <p:sp>
        <p:nvSpPr>
          <p:cNvPr id="238" name="Google Shape;238;hb71923e8388a2e9_0_277"/>
          <p:cNvSpPr txBox="1"/>
          <p:nvPr/>
        </p:nvSpPr>
        <p:spPr>
          <a:xfrm>
            <a:off x="6997525" y="5092573"/>
            <a:ext cx="4381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Alejar la matriz de 74 a ~98 mm</a:t>
            </a:r>
            <a:endParaRPr b="0" i="0" sz="1400" u="none" cap="none" strike="noStrike">
              <a:solidFill>
                <a:schemeClr val="dk1"/>
              </a:solidFill>
              <a:latin typeface="Calibri"/>
              <a:ea typeface="Calibri"/>
              <a:cs typeface="Calibri"/>
              <a:sym typeface="Calibri"/>
            </a:endParaRPr>
          </a:p>
        </p:txBody>
      </p:sp>
      <p:sp>
        <p:nvSpPr>
          <p:cNvPr id="239" name="Google Shape;239;hb71923e8388a2e9_0_277"/>
          <p:cNvSpPr txBox="1"/>
          <p:nvPr/>
        </p:nvSpPr>
        <p:spPr>
          <a:xfrm>
            <a:off x="6997525" y="5410065"/>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Más solapamiento entre LEDs vecinos: de 31 % a 46 %</a:t>
            </a:r>
            <a:endParaRPr b="0" i="0" sz="1150" u="none" cap="none" strike="noStrike">
              <a:solidFill>
                <a:schemeClr val="dk1"/>
              </a:solidFill>
              <a:latin typeface="Calibri"/>
              <a:ea typeface="Calibri"/>
              <a:cs typeface="Calibri"/>
              <a:sym typeface="Calibri"/>
            </a:endParaRPr>
          </a:p>
        </p:txBody>
      </p:sp>
      <p:sp>
        <p:nvSpPr>
          <p:cNvPr id="240" name="Google Shape;240;hb71923e8388a2e9_0_277"/>
          <p:cNvSpPr txBox="1"/>
          <p:nvPr/>
        </p:nvSpPr>
        <p:spPr>
          <a:xfrm>
            <a:off x="6641934" y="5689458"/>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5</a:t>
            </a:r>
            <a:endParaRPr b="0" i="0" sz="1800" u="none" cap="none" strike="noStrike">
              <a:solidFill>
                <a:schemeClr val="dk1"/>
              </a:solidFill>
              <a:latin typeface="Calibri"/>
              <a:ea typeface="Calibri"/>
              <a:cs typeface="Calibri"/>
              <a:sym typeface="Calibri"/>
            </a:endParaRPr>
          </a:p>
        </p:txBody>
      </p:sp>
      <p:sp>
        <p:nvSpPr>
          <p:cNvPr id="241" name="Google Shape;241;hb71923e8388a2e9_0_277"/>
          <p:cNvSpPr txBox="1"/>
          <p:nvPr/>
        </p:nvSpPr>
        <p:spPr>
          <a:xfrm>
            <a:off x="6997525" y="5689458"/>
            <a:ext cx="4381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Cada color en su propio foco</a:t>
            </a:r>
            <a:endParaRPr b="0" i="0" sz="1400" u="none" cap="none" strike="noStrike">
              <a:solidFill>
                <a:schemeClr val="dk1"/>
              </a:solidFill>
              <a:latin typeface="Calibri"/>
              <a:ea typeface="Calibri"/>
              <a:cs typeface="Calibri"/>
              <a:sym typeface="Calibri"/>
            </a:endParaRPr>
          </a:p>
        </p:txBody>
      </p:sp>
      <p:sp>
        <p:nvSpPr>
          <p:cNvPr id="242" name="Google Shape;242;hb71923e8388a2e9_0_277"/>
          <p:cNvSpPr txBox="1"/>
          <p:nvPr/>
        </p:nvSpPr>
        <p:spPr>
          <a:xfrm>
            <a:off x="6997525" y="6006950"/>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Con un solo foco, solo el color enfocado se parecía a la muestra</a:t>
            </a:r>
            <a:endParaRPr b="0" i="0" sz="1150" u="none" cap="none" strike="noStrike">
              <a:solidFill>
                <a:schemeClr val="dk1"/>
              </a:solidFill>
              <a:latin typeface="Calibri"/>
              <a:ea typeface="Calibri"/>
              <a:cs typeface="Calibri"/>
              <a:sym typeface="Calibri"/>
            </a:endParaRPr>
          </a:p>
        </p:txBody>
      </p:sp>
      <p:sp>
        <p:nvSpPr>
          <p:cNvPr id="243" name="Google Shape;243;hb71923e8388a2e9_0_277"/>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pic>
        <p:nvPicPr>
          <p:cNvPr id="244" name="Google Shape;244;hb71923e8388a2e9_0_277" title="fig_motivo_5_foco.png"/>
          <p:cNvPicPr preferRelativeResize="0"/>
          <p:nvPr/>
        </p:nvPicPr>
        <p:blipFill>
          <a:blip r:embed="rId3">
            <a:alphaModFix/>
          </a:blip>
          <a:stretch>
            <a:fillRect/>
          </a:stretch>
        </p:blipFill>
        <p:spPr>
          <a:xfrm>
            <a:off x="1095499" y="2222371"/>
            <a:ext cx="5149551" cy="375917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49" name="Shape 249"/>
        <p:cNvGrpSpPr/>
        <p:nvPr/>
      </p:nvGrpSpPr>
      <p:grpSpPr>
        <a:xfrm>
          <a:off x="0" y="0"/>
          <a:ext cx="0" cy="0"/>
          <a:chOff x="0" y="0"/>
          <a:chExt cx="0" cy="0"/>
        </a:xfrm>
      </p:grpSpPr>
      <p:sp>
        <p:nvSpPr>
          <p:cNvPr id="250" name="Google Shape;250;hb71923e8388a2e9_0_25"/>
          <p:cNvSpPr/>
          <p:nvPr/>
        </p:nvSpPr>
        <p:spPr>
          <a:xfrm>
            <a:off x="812780" y="711182"/>
            <a:ext cx="3035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hb71923e8388a2e9_0_25"/>
          <p:cNvSpPr txBox="1"/>
          <p:nvPr/>
        </p:nvSpPr>
        <p:spPr>
          <a:xfrm>
            <a:off x="812780" y="711182"/>
            <a:ext cx="3035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RESULTADO PRINCIPAL</a:t>
            </a:r>
            <a:endParaRPr b="0" i="0" sz="1300" u="none" cap="none" strike="noStrike">
              <a:solidFill>
                <a:schemeClr val="dk1"/>
              </a:solidFill>
              <a:latin typeface="Calibri"/>
              <a:ea typeface="Calibri"/>
              <a:cs typeface="Calibri"/>
              <a:sym typeface="Calibri"/>
            </a:endParaRPr>
          </a:p>
        </p:txBody>
      </p:sp>
      <p:sp>
        <p:nvSpPr>
          <p:cNvPr id="252" name="Google Shape;252;hb71923e8388a2e9_0_25"/>
          <p:cNvSpPr txBox="1"/>
          <p:nvPr/>
        </p:nvSpPr>
        <p:spPr>
          <a:xfrm>
            <a:off x="812780" y="1142971"/>
            <a:ext cx="10566000" cy="1079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Reconstrucción con imágenes tomadas en el laboratorio en 3 canales RGB</a:t>
            </a:r>
            <a:endParaRPr b="0" i="0" sz="3300" u="none" cap="none" strike="noStrike">
              <a:solidFill>
                <a:schemeClr val="dk1"/>
              </a:solidFill>
              <a:latin typeface="Calibri"/>
              <a:ea typeface="Calibri"/>
              <a:cs typeface="Calibri"/>
              <a:sym typeface="Calibri"/>
            </a:endParaRPr>
          </a:p>
        </p:txBody>
      </p:sp>
      <p:pic>
        <p:nvPicPr>
          <p:cNvPr descr="/home/chanoscopio/Documents/LucasC/reproducible-research-template/report/informe/img/fig_rgb_2809b_es.png" id="253" name="Google Shape;253;hb71923e8388a2e9_0_25"/>
          <p:cNvPicPr preferRelativeResize="0"/>
          <p:nvPr/>
        </p:nvPicPr>
        <p:blipFill rotWithShape="1">
          <a:blip r:embed="rId3">
            <a:alphaModFix/>
          </a:blip>
          <a:srcRect b="0" l="0" r="0" t="0"/>
          <a:stretch/>
        </p:blipFill>
        <p:spPr>
          <a:xfrm>
            <a:off x="910667" y="2222366"/>
            <a:ext cx="5519194" cy="3651159"/>
          </a:xfrm>
          <a:prstGeom prst="rect">
            <a:avLst/>
          </a:prstGeom>
          <a:noFill/>
          <a:ln>
            <a:noFill/>
          </a:ln>
        </p:spPr>
      </p:pic>
      <p:sp>
        <p:nvSpPr>
          <p:cNvPr id="254" name="Google Shape;254;hb71923e8388a2e9_0_25"/>
          <p:cNvSpPr txBox="1"/>
          <p:nvPr/>
        </p:nvSpPr>
        <p:spPr>
          <a:xfrm>
            <a:off x="6641934" y="2381190"/>
            <a:ext cx="4737000" cy="254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1" i="0" lang="en-US" sz="1100" u="none" cap="none" strike="noStrike">
                <a:solidFill>
                  <a:srgbClr val="6A7382"/>
                </a:solidFill>
                <a:latin typeface="Calibri"/>
                <a:ea typeface="Calibri"/>
                <a:cs typeface="Calibri"/>
                <a:sym typeface="Calibri"/>
              </a:rPr>
              <a:t>QUÉ SUGIRIERON LOS AGENTES PARA LAS CAPTURAS</a:t>
            </a:r>
            <a:endParaRPr b="0" i="0" sz="1100" u="none" cap="none" strike="noStrike">
              <a:solidFill>
                <a:schemeClr val="dk1"/>
              </a:solidFill>
              <a:latin typeface="Calibri"/>
              <a:ea typeface="Calibri"/>
              <a:cs typeface="Calibri"/>
              <a:sym typeface="Calibri"/>
            </a:endParaRPr>
          </a:p>
        </p:txBody>
      </p:sp>
      <p:sp>
        <p:nvSpPr>
          <p:cNvPr id="255" name="Google Shape;255;hb71923e8388a2e9_0_25"/>
          <p:cNvSpPr txBox="1"/>
          <p:nvPr/>
        </p:nvSpPr>
        <p:spPr>
          <a:xfrm>
            <a:off x="6641934" y="273043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1</a:t>
            </a:r>
            <a:endParaRPr b="0" i="0" sz="1800" u="none" cap="none" strike="noStrike">
              <a:solidFill>
                <a:schemeClr val="dk1"/>
              </a:solidFill>
              <a:latin typeface="Calibri"/>
              <a:ea typeface="Calibri"/>
              <a:cs typeface="Calibri"/>
              <a:sym typeface="Calibri"/>
            </a:endParaRPr>
          </a:p>
        </p:txBody>
      </p:sp>
      <p:sp>
        <p:nvSpPr>
          <p:cNvPr id="256" name="Google Shape;256;hb71923e8388a2e9_0_25"/>
          <p:cNvSpPr txBox="1"/>
          <p:nvPr/>
        </p:nvSpPr>
        <p:spPr>
          <a:xfrm>
            <a:off x="6997525" y="273043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Varios tiempos por LED: corto en luz directa, largo en luz inclinada</a:t>
            </a:r>
            <a:endParaRPr b="0" i="0" sz="1400" u="none" cap="none" strike="noStrike">
              <a:solidFill>
                <a:schemeClr val="dk1"/>
              </a:solidFill>
              <a:latin typeface="Calibri"/>
              <a:ea typeface="Calibri"/>
              <a:cs typeface="Calibri"/>
              <a:sym typeface="Calibri"/>
            </a:endParaRPr>
          </a:p>
        </p:txBody>
      </p:sp>
      <p:sp>
        <p:nvSpPr>
          <p:cNvPr id="257" name="Google Shape;257;hb71923e8388a2e9_0_25"/>
          <p:cNvSpPr txBox="1"/>
          <p:nvPr/>
        </p:nvSpPr>
        <p:spPr>
          <a:xfrm>
            <a:off x="6997525" y="323841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Pasar de 12 a 131 de 169 LEDs con señal útil (señal/ruido &gt; 3)</a:t>
            </a:r>
            <a:endParaRPr b="0" i="0" sz="1150" u="none" cap="none" strike="noStrike">
              <a:solidFill>
                <a:schemeClr val="dk1"/>
              </a:solidFill>
              <a:latin typeface="Calibri"/>
              <a:ea typeface="Calibri"/>
              <a:cs typeface="Calibri"/>
              <a:sym typeface="Calibri"/>
            </a:endParaRPr>
          </a:p>
        </p:txBody>
      </p:sp>
      <p:sp>
        <p:nvSpPr>
          <p:cNvPr id="258" name="Google Shape;258;hb71923e8388a2e9_0_25"/>
          <p:cNvSpPr txBox="1"/>
          <p:nvPr/>
        </p:nvSpPr>
        <p:spPr>
          <a:xfrm>
            <a:off x="6641934" y="351781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2</a:t>
            </a:r>
            <a:endParaRPr b="0" i="0" sz="1800" u="none" cap="none" strike="noStrike">
              <a:solidFill>
                <a:schemeClr val="dk1"/>
              </a:solidFill>
              <a:latin typeface="Calibri"/>
              <a:ea typeface="Calibri"/>
              <a:cs typeface="Calibri"/>
              <a:sym typeface="Calibri"/>
            </a:endParaRPr>
          </a:p>
        </p:txBody>
      </p:sp>
      <p:sp>
        <p:nvSpPr>
          <p:cNvPr id="259" name="Google Shape;259;hb71923e8388a2e9_0_25"/>
          <p:cNvSpPr txBox="1"/>
          <p:nvPr/>
        </p:nvSpPr>
        <p:spPr>
          <a:xfrm>
            <a:off x="6997525" y="351781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Fotos a oscuras para restar el fondo del sensor</a:t>
            </a:r>
            <a:endParaRPr b="0" i="0" sz="1400" u="none" cap="none" strike="noStrike">
              <a:solidFill>
                <a:schemeClr val="dk1"/>
              </a:solidFill>
              <a:latin typeface="Calibri"/>
              <a:ea typeface="Calibri"/>
              <a:cs typeface="Calibri"/>
              <a:sym typeface="Calibri"/>
            </a:endParaRPr>
          </a:p>
        </p:txBody>
      </p:sp>
      <p:sp>
        <p:nvSpPr>
          <p:cNvPr id="260" name="Google Shape;260;hb71923e8388a2e9_0_25"/>
          <p:cNvSpPr txBox="1"/>
          <p:nvPr/>
        </p:nvSpPr>
        <p:spPr>
          <a:xfrm>
            <a:off x="6997525" y="4025799"/>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Repetidas cuando salieron saturadas</a:t>
            </a:r>
            <a:endParaRPr b="0" i="0" sz="1150" u="none" cap="none" strike="noStrike">
              <a:solidFill>
                <a:schemeClr val="dk1"/>
              </a:solidFill>
              <a:latin typeface="Calibri"/>
              <a:ea typeface="Calibri"/>
              <a:cs typeface="Calibri"/>
              <a:sym typeface="Calibri"/>
            </a:endParaRPr>
          </a:p>
        </p:txBody>
      </p:sp>
      <p:sp>
        <p:nvSpPr>
          <p:cNvPr id="261" name="Google Shape;261;hb71923e8388a2e9_0_25"/>
          <p:cNvSpPr txBox="1"/>
          <p:nvPr/>
        </p:nvSpPr>
        <p:spPr>
          <a:xfrm>
            <a:off x="6641934" y="4305192"/>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3</a:t>
            </a:r>
            <a:endParaRPr b="0" i="0" sz="1800" u="none" cap="none" strike="noStrike">
              <a:solidFill>
                <a:schemeClr val="dk1"/>
              </a:solidFill>
              <a:latin typeface="Calibri"/>
              <a:ea typeface="Calibri"/>
              <a:cs typeface="Calibri"/>
              <a:sym typeface="Calibri"/>
            </a:endParaRPr>
          </a:p>
        </p:txBody>
      </p:sp>
      <p:sp>
        <p:nvSpPr>
          <p:cNvPr id="262" name="Google Shape;262;hb71923e8388a2e9_0_25"/>
          <p:cNvSpPr txBox="1"/>
          <p:nvPr/>
        </p:nvSpPr>
        <p:spPr>
          <a:xfrm>
            <a:off x="6997525" y="4305192"/>
            <a:ext cx="4381500" cy="495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El tiempo de cada LED, calculado de la captura anterior</a:t>
            </a:r>
            <a:endParaRPr b="0" i="0" sz="1400" u="none" cap="none" strike="noStrike">
              <a:solidFill>
                <a:schemeClr val="dk1"/>
              </a:solidFill>
              <a:latin typeface="Calibri"/>
              <a:ea typeface="Calibri"/>
              <a:cs typeface="Calibri"/>
              <a:sym typeface="Calibri"/>
            </a:endParaRPr>
          </a:p>
        </p:txBody>
      </p:sp>
      <p:sp>
        <p:nvSpPr>
          <p:cNvPr id="263" name="Google Shape;263;hb71923e8388a2e9_0_25"/>
          <p:cNvSpPr txBox="1"/>
          <p:nvPr/>
        </p:nvSpPr>
        <p:spPr>
          <a:xfrm>
            <a:off x="6997525" y="4813180"/>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Mapa de exposición por LED y por color</a:t>
            </a:r>
            <a:endParaRPr b="0" i="0" sz="1150" u="none" cap="none" strike="noStrike">
              <a:solidFill>
                <a:schemeClr val="dk1"/>
              </a:solidFill>
              <a:latin typeface="Calibri"/>
              <a:ea typeface="Calibri"/>
              <a:cs typeface="Calibri"/>
              <a:sym typeface="Calibri"/>
            </a:endParaRPr>
          </a:p>
        </p:txBody>
      </p:sp>
      <p:sp>
        <p:nvSpPr>
          <p:cNvPr id="264" name="Google Shape;264;hb71923e8388a2e9_0_25"/>
          <p:cNvSpPr txBox="1"/>
          <p:nvPr/>
        </p:nvSpPr>
        <p:spPr>
          <a:xfrm>
            <a:off x="6641934" y="5092573"/>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4</a:t>
            </a:r>
            <a:endParaRPr b="0" i="0" sz="1800" u="none" cap="none" strike="noStrike">
              <a:solidFill>
                <a:schemeClr val="dk1"/>
              </a:solidFill>
              <a:latin typeface="Calibri"/>
              <a:ea typeface="Calibri"/>
              <a:cs typeface="Calibri"/>
              <a:sym typeface="Calibri"/>
            </a:endParaRPr>
          </a:p>
        </p:txBody>
      </p:sp>
      <p:sp>
        <p:nvSpPr>
          <p:cNvPr id="265" name="Google Shape;265;hb71923e8388a2e9_0_25"/>
          <p:cNvSpPr txBox="1"/>
          <p:nvPr/>
        </p:nvSpPr>
        <p:spPr>
          <a:xfrm>
            <a:off x="6997525" y="5092573"/>
            <a:ext cx="4381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Alejar la matriz de 74 a ~98 mm</a:t>
            </a:r>
            <a:endParaRPr b="0" i="0" sz="1400" u="none" cap="none" strike="noStrike">
              <a:solidFill>
                <a:schemeClr val="dk1"/>
              </a:solidFill>
              <a:latin typeface="Calibri"/>
              <a:ea typeface="Calibri"/>
              <a:cs typeface="Calibri"/>
              <a:sym typeface="Calibri"/>
            </a:endParaRPr>
          </a:p>
        </p:txBody>
      </p:sp>
      <p:sp>
        <p:nvSpPr>
          <p:cNvPr id="266" name="Google Shape;266;hb71923e8388a2e9_0_25"/>
          <p:cNvSpPr txBox="1"/>
          <p:nvPr/>
        </p:nvSpPr>
        <p:spPr>
          <a:xfrm>
            <a:off x="6997525" y="5410065"/>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Más solapamiento entre LEDs vecinos: de 31 % a 46 %</a:t>
            </a:r>
            <a:endParaRPr b="0" i="0" sz="1150" u="none" cap="none" strike="noStrike">
              <a:solidFill>
                <a:schemeClr val="dk1"/>
              </a:solidFill>
              <a:latin typeface="Calibri"/>
              <a:ea typeface="Calibri"/>
              <a:cs typeface="Calibri"/>
              <a:sym typeface="Calibri"/>
            </a:endParaRPr>
          </a:p>
        </p:txBody>
      </p:sp>
      <p:sp>
        <p:nvSpPr>
          <p:cNvPr id="267" name="Google Shape;267;hb71923e8388a2e9_0_25"/>
          <p:cNvSpPr txBox="1"/>
          <p:nvPr/>
        </p:nvSpPr>
        <p:spPr>
          <a:xfrm>
            <a:off x="6641934" y="5689458"/>
            <a:ext cx="2541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800"/>
              <a:buFont typeface="Cambria"/>
              <a:buNone/>
            </a:pPr>
            <a:r>
              <a:rPr b="1" i="0" lang="en-US" sz="1800" u="none" cap="none" strike="noStrike">
                <a:solidFill>
                  <a:srgbClr val="2F6FB0"/>
                </a:solidFill>
                <a:latin typeface="Cambria"/>
                <a:ea typeface="Cambria"/>
                <a:cs typeface="Cambria"/>
                <a:sym typeface="Cambria"/>
              </a:rPr>
              <a:t>5</a:t>
            </a:r>
            <a:endParaRPr b="0" i="0" sz="1800" u="none" cap="none" strike="noStrike">
              <a:solidFill>
                <a:schemeClr val="dk1"/>
              </a:solidFill>
              <a:latin typeface="Calibri"/>
              <a:ea typeface="Calibri"/>
              <a:cs typeface="Calibri"/>
              <a:sym typeface="Calibri"/>
            </a:endParaRPr>
          </a:p>
        </p:txBody>
      </p:sp>
      <p:sp>
        <p:nvSpPr>
          <p:cNvPr id="268" name="Google Shape;268;hb71923e8388a2e9_0_25"/>
          <p:cNvSpPr txBox="1"/>
          <p:nvPr/>
        </p:nvSpPr>
        <p:spPr>
          <a:xfrm>
            <a:off x="6997525" y="5689458"/>
            <a:ext cx="43815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Cada color en su propio foco</a:t>
            </a:r>
            <a:endParaRPr b="0" i="0" sz="1400" u="none" cap="none" strike="noStrike">
              <a:solidFill>
                <a:schemeClr val="dk1"/>
              </a:solidFill>
              <a:latin typeface="Calibri"/>
              <a:ea typeface="Calibri"/>
              <a:cs typeface="Calibri"/>
              <a:sym typeface="Calibri"/>
            </a:endParaRPr>
          </a:p>
        </p:txBody>
      </p:sp>
      <p:sp>
        <p:nvSpPr>
          <p:cNvPr id="269" name="Google Shape;269;hb71923e8388a2e9_0_25"/>
          <p:cNvSpPr txBox="1"/>
          <p:nvPr/>
        </p:nvSpPr>
        <p:spPr>
          <a:xfrm>
            <a:off x="6997525" y="6006950"/>
            <a:ext cx="43815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50"/>
              <a:buFont typeface="Calibri"/>
              <a:buNone/>
            </a:pPr>
            <a:r>
              <a:rPr b="0" i="0" lang="en-US" sz="1150" u="none" cap="none" strike="noStrike">
                <a:solidFill>
                  <a:srgbClr val="6A7382"/>
                </a:solidFill>
                <a:latin typeface="Calibri"/>
                <a:ea typeface="Calibri"/>
                <a:cs typeface="Calibri"/>
                <a:sym typeface="Calibri"/>
              </a:rPr>
              <a:t>Con un solo foco, solo el color enfocado se parecía a la muestra</a:t>
            </a:r>
            <a:endParaRPr b="0" i="0" sz="1150" u="none" cap="none" strike="noStrike">
              <a:solidFill>
                <a:schemeClr val="dk1"/>
              </a:solidFill>
              <a:latin typeface="Calibri"/>
              <a:ea typeface="Calibri"/>
              <a:cs typeface="Calibri"/>
              <a:sym typeface="Calibri"/>
            </a:endParaRPr>
          </a:p>
        </p:txBody>
      </p:sp>
      <p:sp>
        <p:nvSpPr>
          <p:cNvPr id="270" name="Google Shape;270;hb71923e8388a2e9_0_25"/>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3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75" name="Shape 275"/>
        <p:cNvGrpSpPr/>
        <p:nvPr/>
      </p:nvGrpSpPr>
      <p:grpSpPr>
        <a:xfrm>
          <a:off x="0" y="0"/>
          <a:ext cx="0" cy="0"/>
          <a:chOff x="0" y="0"/>
          <a:chExt cx="0" cy="0"/>
        </a:xfrm>
      </p:grpSpPr>
      <p:sp>
        <p:nvSpPr>
          <p:cNvPr id="276" name="Google Shape;276;hb71923e8388a2e9_0_402"/>
          <p:cNvSpPr/>
          <p:nvPr/>
        </p:nvSpPr>
        <p:spPr>
          <a:xfrm>
            <a:off x="812780" y="711182"/>
            <a:ext cx="1778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hb71923e8388a2e9_0_402"/>
          <p:cNvSpPr txBox="1"/>
          <p:nvPr/>
        </p:nvSpPr>
        <p:spPr>
          <a:xfrm>
            <a:off x="812780" y="711182"/>
            <a:ext cx="1778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VALIDACIÓN</a:t>
            </a:r>
            <a:endParaRPr b="0" i="0" sz="1300" u="none" cap="none" strike="noStrike">
              <a:solidFill>
                <a:schemeClr val="dk1"/>
              </a:solidFill>
              <a:latin typeface="Calibri"/>
              <a:ea typeface="Calibri"/>
              <a:cs typeface="Calibri"/>
              <a:sym typeface="Calibri"/>
            </a:endParaRPr>
          </a:p>
        </p:txBody>
      </p:sp>
      <p:sp>
        <p:nvSpPr>
          <p:cNvPr id="278" name="Google Shape;278;hb71923e8388a2e9_0_402"/>
          <p:cNvSpPr txBox="1"/>
          <p:nvPr/>
        </p:nvSpPr>
        <p:spPr>
          <a:xfrm>
            <a:off x="812780" y="1142971"/>
            <a:ext cx="10566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¿Cómo decidimos si confiar?</a:t>
            </a:r>
            <a:endParaRPr b="0" i="0" sz="3300" u="none" cap="none" strike="noStrike">
              <a:solidFill>
                <a:schemeClr val="dk1"/>
              </a:solidFill>
              <a:latin typeface="Calibri"/>
              <a:ea typeface="Calibri"/>
              <a:cs typeface="Calibri"/>
              <a:sym typeface="Calibri"/>
            </a:endParaRPr>
          </a:p>
        </p:txBody>
      </p:sp>
      <p:sp>
        <p:nvSpPr>
          <p:cNvPr id="279" name="Google Shape;279;hb71923e8388a2e9_0_402"/>
          <p:cNvSpPr/>
          <p:nvPr/>
        </p:nvSpPr>
        <p:spPr>
          <a:xfrm>
            <a:off x="5892653" y="1841454"/>
            <a:ext cx="5486400" cy="1206600"/>
          </a:xfrm>
          <a:prstGeom prst="roundRect">
            <a:avLst>
              <a:gd fmla="val 9095"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hb71923e8388a2e9_0_402"/>
          <p:cNvSpPr/>
          <p:nvPr/>
        </p:nvSpPr>
        <p:spPr>
          <a:xfrm>
            <a:off x="5892653" y="1879553"/>
            <a:ext cx="57000" cy="1130400"/>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hb71923e8388a2e9_0_402"/>
          <p:cNvSpPr txBox="1"/>
          <p:nvPr/>
        </p:nvSpPr>
        <p:spPr>
          <a:xfrm>
            <a:off x="6070448" y="1943051"/>
            <a:ext cx="2541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mbria"/>
              <a:buNone/>
            </a:pPr>
            <a:r>
              <a:rPr b="1" i="0" lang="en-US" sz="1700" u="none" cap="none" strike="noStrike">
                <a:solidFill>
                  <a:srgbClr val="2F6FB0"/>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282" name="Google Shape;282;hb71923e8388a2e9_0_402"/>
          <p:cNvSpPr txBox="1"/>
          <p:nvPr/>
        </p:nvSpPr>
        <p:spPr>
          <a:xfrm>
            <a:off x="6324442" y="1955751"/>
            <a:ext cx="37464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¿Funciona donde conocemos la respuesta?</a:t>
            </a:r>
            <a:endParaRPr b="0" i="0" sz="1250" u="none" cap="none" strike="noStrike">
              <a:solidFill>
                <a:schemeClr val="dk1"/>
              </a:solidFill>
              <a:latin typeface="Calibri"/>
              <a:ea typeface="Calibri"/>
              <a:cs typeface="Calibri"/>
              <a:sym typeface="Calibri"/>
            </a:endParaRPr>
          </a:p>
        </p:txBody>
      </p:sp>
      <p:sp>
        <p:nvSpPr>
          <p:cNvPr id="283" name="Google Shape;283;hb71923e8388a2e9_0_402"/>
          <p:cNvSpPr txBox="1"/>
          <p:nvPr/>
        </p:nvSpPr>
        <p:spPr>
          <a:xfrm>
            <a:off x="10096248" y="1955751"/>
            <a:ext cx="1143000" cy="254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F6FB0"/>
              </a:buClr>
              <a:buSzPts val="1350"/>
              <a:buFont typeface="Calibri"/>
              <a:buNone/>
            </a:pPr>
            <a:r>
              <a:rPr b="1" i="0" lang="en-US" sz="1350" u="none" cap="none" strike="noStrike">
                <a:solidFill>
                  <a:srgbClr val="2F6FB0"/>
                </a:solidFill>
                <a:latin typeface="Calibri"/>
                <a:ea typeface="Calibri"/>
                <a:cs typeface="Calibri"/>
                <a:sym typeface="Calibri"/>
              </a:rPr>
              <a:t>Funciona</a:t>
            </a:r>
            <a:endParaRPr b="0" i="0" sz="1350" u="none" cap="none" strike="noStrike">
              <a:solidFill>
                <a:schemeClr val="dk1"/>
              </a:solidFill>
              <a:latin typeface="Calibri"/>
              <a:ea typeface="Calibri"/>
              <a:cs typeface="Calibri"/>
              <a:sym typeface="Calibri"/>
            </a:endParaRPr>
          </a:p>
        </p:txBody>
      </p:sp>
      <p:sp>
        <p:nvSpPr>
          <p:cNvPr id="284" name="Google Shape;284;hb71923e8388a2e9_0_402"/>
          <p:cNvSpPr txBox="1"/>
          <p:nvPr/>
        </p:nvSpPr>
        <p:spPr>
          <a:xfrm>
            <a:off x="6070448" y="2463738"/>
            <a:ext cx="518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Simulación: amplitud 0,99</a:t>
            </a:r>
            <a:r>
              <a:rPr lang="en-US" sz="1150">
                <a:solidFill>
                  <a:srgbClr val="14213D"/>
                </a:solidFill>
                <a:latin typeface="Calibri"/>
                <a:ea typeface="Calibri"/>
                <a:cs typeface="Calibri"/>
                <a:sym typeface="Calibri"/>
              </a:rPr>
              <a:t>7</a:t>
            </a:r>
            <a:r>
              <a:rPr b="0" i="0" lang="en-US" sz="1150" u="none" cap="none" strike="noStrike">
                <a:solidFill>
                  <a:srgbClr val="14213D"/>
                </a:solidFill>
                <a:latin typeface="Calibri"/>
                <a:ea typeface="Calibri"/>
                <a:cs typeface="Calibri"/>
                <a:sym typeface="Calibri"/>
              </a:rPr>
              <a:t> · fase 0,</a:t>
            </a:r>
            <a:r>
              <a:rPr lang="en-US" sz="1150">
                <a:solidFill>
                  <a:srgbClr val="14213D"/>
                </a:solidFill>
                <a:latin typeface="Calibri"/>
                <a:ea typeface="Calibri"/>
                <a:cs typeface="Calibri"/>
                <a:sym typeface="Calibri"/>
              </a:rPr>
              <a:t>64</a:t>
            </a:r>
            <a:r>
              <a:rPr b="0" i="0" lang="en-US" sz="1150" u="none" cap="none" strike="noStrike">
                <a:solidFill>
                  <a:srgbClr val="14213D"/>
                </a:solidFill>
                <a:latin typeface="Calibri"/>
                <a:ea typeface="Calibri"/>
                <a:cs typeface="Calibri"/>
                <a:sym typeface="Calibri"/>
              </a:rPr>
              <a:t> con la matriz a 75 mm</a:t>
            </a:r>
            <a:endParaRPr b="0" i="0" sz="1150" u="none" cap="none" strike="noStrike">
              <a:solidFill>
                <a:schemeClr val="dk1"/>
              </a:solidFill>
              <a:latin typeface="Calibri"/>
              <a:ea typeface="Calibri"/>
              <a:cs typeface="Calibri"/>
              <a:sym typeface="Calibri"/>
            </a:endParaRPr>
          </a:p>
        </p:txBody>
      </p:sp>
      <p:sp>
        <p:nvSpPr>
          <p:cNvPr id="285" name="Google Shape;285;hb71923e8388a2e9_0_402"/>
          <p:cNvSpPr txBox="1"/>
          <p:nvPr/>
        </p:nvSpPr>
        <p:spPr>
          <a:xfrm>
            <a:off x="6070448" y="2717732"/>
            <a:ext cx="51816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Fase 0,97 a 100 mm (más solapamiento). 1 = igual a la muestra inventada</a:t>
            </a:r>
            <a:endParaRPr b="0" i="0" sz="1100" u="none" cap="none" strike="noStrike">
              <a:solidFill>
                <a:schemeClr val="dk1"/>
              </a:solidFill>
              <a:latin typeface="Calibri"/>
              <a:ea typeface="Calibri"/>
              <a:cs typeface="Calibri"/>
              <a:sym typeface="Calibri"/>
            </a:endParaRPr>
          </a:p>
        </p:txBody>
      </p:sp>
      <p:sp>
        <p:nvSpPr>
          <p:cNvPr id="286" name="Google Shape;286;hb71923e8388a2e9_0_402"/>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4 / 6</a:t>
            </a:r>
            <a:endParaRPr b="0" i="0" sz="1200" u="none" cap="none" strike="noStrike">
              <a:solidFill>
                <a:schemeClr val="dk1"/>
              </a:solidFill>
              <a:latin typeface="Calibri"/>
              <a:ea typeface="Calibri"/>
              <a:cs typeface="Calibri"/>
              <a:sym typeface="Calibri"/>
            </a:endParaRPr>
          </a:p>
        </p:txBody>
      </p:sp>
      <p:pic>
        <p:nvPicPr>
          <p:cNvPr id="287" name="Google Shape;287;hb71923e8388a2e9_0_402" title="fig_valid_1_simulacion.png"/>
          <p:cNvPicPr preferRelativeResize="0"/>
          <p:nvPr/>
        </p:nvPicPr>
        <p:blipFill>
          <a:blip r:embed="rId3">
            <a:alphaModFix/>
          </a:blip>
          <a:stretch>
            <a:fillRect/>
          </a:stretch>
        </p:blipFill>
        <p:spPr>
          <a:xfrm>
            <a:off x="812826" y="1986726"/>
            <a:ext cx="4825801" cy="175084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92" name="Shape 292"/>
        <p:cNvGrpSpPr/>
        <p:nvPr/>
      </p:nvGrpSpPr>
      <p:grpSpPr>
        <a:xfrm>
          <a:off x="0" y="0"/>
          <a:ext cx="0" cy="0"/>
          <a:chOff x="0" y="0"/>
          <a:chExt cx="0" cy="0"/>
        </a:xfrm>
      </p:grpSpPr>
      <p:sp>
        <p:nvSpPr>
          <p:cNvPr id="293" name="Google Shape;293;hb71923e8388a2e9_0_368"/>
          <p:cNvSpPr/>
          <p:nvPr/>
        </p:nvSpPr>
        <p:spPr>
          <a:xfrm>
            <a:off x="812780" y="711182"/>
            <a:ext cx="1778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hb71923e8388a2e9_0_368"/>
          <p:cNvSpPr txBox="1"/>
          <p:nvPr/>
        </p:nvSpPr>
        <p:spPr>
          <a:xfrm>
            <a:off x="812780" y="711182"/>
            <a:ext cx="1778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VALIDACIÓN</a:t>
            </a:r>
            <a:endParaRPr b="0" i="0" sz="1300" u="none" cap="none" strike="noStrike">
              <a:solidFill>
                <a:schemeClr val="dk1"/>
              </a:solidFill>
              <a:latin typeface="Calibri"/>
              <a:ea typeface="Calibri"/>
              <a:cs typeface="Calibri"/>
              <a:sym typeface="Calibri"/>
            </a:endParaRPr>
          </a:p>
        </p:txBody>
      </p:sp>
      <p:sp>
        <p:nvSpPr>
          <p:cNvPr id="295" name="Google Shape;295;hb71923e8388a2e9_0_368"/>
          <p:cNvSpPr txBox="1"/>
          <p:nvPr/>
        </p:nvSpPr>
        <p:spPr>
          <a:xfrm>
            <a:off x="812780" y="1142971"/>
            <a:ext cx="10566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¿Cómo decidimos si confiar?</a:t>
            </a:r>
            <a:endParaRPr b="0" i="0" sz="3300" u="none" cap="none" strike="noStrike">
              <a:solidFill>
                <a:schemeClr val="dk1"/>
              </a:solidFill>
              <a:latin typeface="Calibri"/>
              <a:ea typeface="Calibri"/>
              <a:cs typeface="Calibri"/>
              <a:sym typeface="Calibri"/>
            </a:endParaRPr>
          </a:p>
        </p:txBody>
      </p:sp>
      <p:sp>
        <p:nvSpPr>
          <p:cNvPr id="296" name="Google Shape;296;hb71923e8388a2e9_0_368"/>
          <p:cNvSpPr/>
          <p:nvPr/>
        </p:nvSpPr>
        <p:spPr>
          <a:xfrm>
            <a:off x="5892653" y="1841454"/>
            <a:ext cx="5486400" cy="1206600"/>
          </a:xfrm>
          <a:prstGeom prst="roundRect">
            <a:avLst>
              <a:gd fmla="val 9095"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hb71923e8388a2e9_0_368"/>
          <p:cNvSpPr/>
          <p:nvPr/>
        </p:nvSpPr>
        <p:spPr>
          <a:xfrm>
            <a:off x="5892653" y="1879553"/>
            <a:ext cx="57000" cy="1130400"/>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hb71923e8388a2e9_0_368"/>
          <p:cNvSpPr txBox="1"/>
          <p:nvPr/>
        </p:nvSpPr>
        <p:spPr>
          <a:xfrm>
            <a:off x="6070448" y="1943051"/>
            <a:ext cx="2541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mbria"/>
              <a:buNone/>
            </a:pPr>
            <a:r>
              <a:rPr b="1" i="0" lang="en-US" sz="1700" u="none" cap="none" strike="noStrike">
                <a:solidFill>
                  <a:srgbClr val="2F6FB0"/>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299" name="Google Shape;299;hb71923e8388a2e9_0_368"/>
          <p:cNvSpPr txBox="1"/>
          <p:nvPr/>
        </p:nvSpPr>
        <p:spPr>
          <a:xfrm>
            <a:off x="6324442" y="1955751"/>
            <a:ext cx="37464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¿Funciona donde conocemos la respuesta?</a:t>
            </a:r>
            <a:endParaRPr b="0" i="0" sz="1250" u="none" cap="none" strike="noStrike">
              <a:solidFill>
                <a:schemeClr val="dk1"/>
              </a:solidFill>
              <a:latin typeface="Calibri"/>
              <a:ea typeface="Calibri"/>
              <a:cs typeface="Calibri"/>
              <a:sym typeface="Calibri"/>
            </a:endParaRPr>
          </a:p>
        </p:txBody>
      </p:sp>
      <p:sp>
        <p:nvSpPr>
          <p:cNvPr id="300" name="Google Shape;300;hb71923e8388a2e9_0_368"/>
          <p:cNvSpPr txBox="1"/>
          <p:nvPr/>
        </p:nvSpPr>
        <p:spPr>
          <a:xfrm>
            <a:off x="10096248" y="1955751"/>
            <a:ext cx="1143000" cy="254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F6FB0"/>
              </a:buClr>
              <a:buSzPts val="1350"/>
              <a:buFont typeface="Calibri"/>
              <a:buNone/>
            </a:pPr>
            <a:r>
              <a:rPr b="1" i="0" lang="en-US" sz="1350" u="none" cap="none" strike="noStrike">
                <a:solidFill>
                  <a:srgbClr val="2F6FB0"/>
                </a:solidFill>
                <a:latin typeface="Calibri"/>
                <a:ea typeface="Calibri"/>
                <a:cs typeface="Calibri"/>
                <a:sym typeface="Calibri"/>
              </a:rPr>
              <a:t>Funciona</a:t>
            </a:r>
            <a:endParaRPr b="0" i="0" sz="1350" u="none" cap="none" strike="noStrike">
              <a:solidFill>
                <a:schemeClr val="dk1"/>
              </a:solidFill>
              <a:latin typeface="Calibri"/>
              <a:ea typeface="Calibri"/>
              <a:cs typeface="Calibri"/>
              <a:sym typeface="Calibri"/>
            </a:endParaRPr>
          </a:p>
        </p:txBody>
      </p:sp>
      <p:sp>
        <p:nvSpPr>
          <p:cNvPr id="301" name="Google Shape;301;hb71923e8388a2e9_0_368"/>
          <p:cNvSpPr txBox="1"/>
          <p:nvPr/>
        </p:nvSpPr>
        <p:spPr>
          <a:xfrm>
            <a:off x="6070448" y="2463738"/>
            <a:ext cx="518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Simulación: amplitud 0,997 · fase 0,64 con la matriz a 75 mm</a:t>
            </a:r>
            <a:endParaRPr b="0" i="0" sz="1150" u="none" cap="none" strike="noStrike">
              <a:solidFill>
                <a:schemeClr val="dk1"/>
              </a:solidFill>
              <a:latin typeface="Calibri"/>
              <a:ea typeface="Calibri"/>
              <a:cs typeface="Calibri"/>
              <a:sym typeface="Calibri"/>
            </a:endParaRPr>
          </a:p>
        </p:txBody>
      </p:sp>
      <p:sp>
        <p:nvSpPr>
          <p:cNvPr id="302" name="Google Shape;302;hb71923e8388a2e9_0_368"/>
          <p:cNvSpPr txBox="1"/>
          <p:nvPr/>
        </p:nvSpPr>
        <p:spPr>
          <a:xfrm>
            <a:off x="6070448" y="2717732"/>
            <a:ext cx="51816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Fase 0,97 a 100 mm (más solapamiento). 1 = igual a la muestra inventada</a:t>
            </a:r>
            <a:endParaRPr b="0" i="0" sz="1100" u="none" cap="none" strike="noStrike">
              <a:solidFill>
                <a:schemeClr val="dk1"/>
              </a:solidFill>
              <a:latin typeface="Calibri"/>
              <a:ea typeface="Calibri"/>
              <a:cs typeface="Calibri"/>
              <a:sym typeface="Calibri"/>
            </a:endParaRPr>
          </a:p>
        </p:txBody>
      </p:sp>
      <p:sp>
        <p:nvSpPr>
          <p:cNvPr id="303" name="Google Shape;303;hb71923e8388a2e9_0_368"/>
          <p:cNvSpPr/>
          <p:nvPr/>
        </p:nvSpPr>
        <p:spPr>
          <a:xfrm>
            <a:off x="5892653" y="3124122"/>
            <a:ext cx="5486400" cy="1269900"/>
          </a:xfrm>
          <a:prstGeom prst="roundRect">
            <a:avLst>
              <a:gd fmla="val 8640"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hb71923e8388a2e9_0_368"/>
          <p:cNvSpPr/>
          <p:nvPr/>
        </p:nvSpPr>
        <p:spPr>
          <a:xfrm>
            <a:off x="5892653" y="3162221"/>
            <a:ext cx="57000" cy="1193700"/>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hb71923e8388a2e9_0_368"/>
          <p:cNvSpPr txBox="1"/>
          <p:nvPr/>
        </p:nvSpPr>
        <p:spPr>
          <a:xfrm>
            <a:off x="6070448" y="3225719"/>
            <a:ext cx="2541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mbria"/>
              <a:buNone/>
            </a:pPr>
            <a:r>
              <a:rPr b="1" i="0" lang="en-US" sz="1700" u="none" cap="none" strike="noStrike">
                <a:solidFill>
                  <a:srgbClr val="2F6FB0"/>
                </a:solidFill>
                <a:latin typeface="Cambria"/>
                <a:ea typeface="Cambria"/>
                <a:cs typeface="Cambria"/>
                <a:sym typeface="Cambria"/>
              </a:rPr>
              <a:t>2</a:t>
            </a:r>
            <a:endParaRPr b="0" i="0" sz="1700" u="none" cap="none" strike="noStrike">
              <a:solidFill>
                <a:schemeClr val="dk1"/>
              </a:solidFill>
              <a:latin typeface="Calibri"/>
              <a:ea typeface="Calibri"/>
              <a:cs typeface="Calibri"/>
              <a:sym typeface="Calibri"/>
            </a:endParaRPr>
          </a:p>
        </p:txBody>
      </p:sp>
      <p:sp>
        <p:nvSpPr>
          <p:cNvPr id="306" name="Google Shape;306;hb71923e8388a2e9_0_368"/>
          <p:cNvSpPr txBox="1"/>
          <p:nvPr/>
        </p:nvSpPr>
        <p:spPr>
          <a:xfrm>
            <a:off x="6324442" y="3238419"/>
            <a:ext cx="37464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¿Predice las fotos que no usó?</a:t>
            </a:r>
            <a:endParaRPr b="0" i="0" sz="1250" u="none" cap="none" strike="noStrike">
              <a:solidFill>
                <a:schemeClr val="dk1"/>
              </a:solidFill>
              <a:latin typeface="Calibri"/>
              <a:ea typeface="Calibri"/>
              <a:cs typeface="Calibri"/>
              <a:sym typeface="Calibri"/>
            </a:endParaRPr>
          </a:p>
        </p:txBody>
      </p:sp>
      <p:sp>
        <p:nvSpPr>
          <p:cNvPr id="307" name="Google Shape;307;hb71923e8388a2e9_0_368"/>
          <p:cNvSpPr txBox="1"/>
          <p:nvPr/>
        </p:nvSpPr>
        <p:spPr>
          <a:xfrm>
            <a:off x="10096248" y="3238419"/>
            <a:ext cx="1143000" cy="254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F6FB0"/>
              </a:buClr>
              <a:buSzPts val="1350"/>
              <a:buFont typeface="Calibri"/>
              <a:buNone/>
            </a:pPr>
            <a:r>
              <a:rPr b="1" i="0" lang="en-US" sz="1350" u="none" cap="none" strike="noStrike">
                <a:solidFill>
                  <a:srgbClr val="2F6FB0"/>
                </a:solidFill>
                <a:latin typeface="Calibri"/>
                <a:ea typeface="Calibri"/>
                <a:cs typeface="Calibri"/>
                <a:sym typeface="Calibri"/>
              </a:rPr>
              <a:t>Pasa</a:t>
            </a:r>
            <a:endParaRPr b="0" i="0" sz="1350" u="none" cap="none" strike="noStrike">
              <a:solidFill>
                <a:schemeClr val="dk1"/>
              </a:solidFill>
              <a:latin typeface="Calibri"/>
              <a:ea typeface="Calibri"/>
              <a:cs typeface="Calibri"/>
              <a:sym typeface="Calibri"/>
            </a:endParaRPr>
          </a:p>
        </p:txBody>
      </p:sp>
      <p:sp>
        <p:nvSpPr>
          <p:cNvPr id="308" name="Google Shape;308;hb71923e8388a2e9_0_368"/>
          <p:cNvSpPr txBox="1"/>
          <p:nvPr/>
        </p:nvSpPr>
        <p:spPr>
          <a:xfrm>
            <a:off x="6070448" y="3746406"/>
            <a:ext cx="518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Error 0,46–0,62 (0 = perfecto; sin reconstruir: 0,98)</a:t>
            </a:r>
            <a:endParaRPr b="0" i="0" sz="1150" u="none" cap="none" strike="noStrike">
              <a:solidFill>
                <a:schemeClr val="dk1"/>
              </a:solidFill>
              <a:latin typeface="Calibri"/>
              <a:ea typeface="Calibri"/>
              <a:cs typeface="Calibri"/>
              <a:sym typeface="Calibri"/>
            </a:endParaRPr>
          </a:p>
        </p:txBody>
      </p:sp>
      <p:sp>
        <p:nvSpPr>
          <p:cNvPr id="309" name="Google Shape;309;hb71923e8388a2e9_0_368"/>
          <p:cNvSpPr txBox="1"/>
          <p:nvPr/>
        </p:nvSpPr>
        <p:spPr>
          <a:xfrm>
            <a:off x="6070448" y="4000400"/>
            <a:ext cx="5181600" cy="36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Se apartan LEDs, se reconstruye sin ellos y se compara la foto predicha con la medida</a:t>
            </a:r>
            <a:endParaRPr b="0" i="0" sz="1100" u="none" cap="none" strike="noStrike">
              <a:solidFill>
                <a:schemeClr val="dk1"/>
              </a:solidFill>
              <a:latin typeface="Calibri"/>
              <a:ea typeface="Calibri"/>
              <a:cs typeface="Calibri"/>
              <a:sym typeface="Calibri"/>
            </a:endParaRPr>
          </a:p>
        </p:txBody>
      </p:sp>
      <p:sp>
        <p:nvSpPr>
          <p:cNvPr id="310" name="Google Shape;310;hb71923e8388a2e9_0_368"/>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4 / 6</a:t>
            </a:r>
            <a:endParaRPr b="0" i="0" sz="1200" u="none" cap="none" strike="noStrike">
              <a:solidFill>
                <a:schemeClr val="dk1"/>
              </a:solidFill>
              <a:latin typeface="Calibri"/>
              <a:ea typeface="Calibri"/>
              <a:cs typeface="Calibri"/>
              <a:sym typeface="Calibri"/>
            </a:endParaRPr>
          </a:p>
        </p:txBody>
      </p:sp>
      <p:pic>
        <p:nvPicPr>
          <p:cNvPr id="312" name="Google Shape;312;hb71923e8388a2e9_0_368" title="fig_valid_2_prediccion.png"/>
          <p:cNvPicPr preferRelativeResize="0"/>
          <p:nvPr/>
        </p:nvPicPr>
        <p:blipFill>
          <a:blip r:embed="rId4">
            <a:alphaModFix/>
          </a:blip>
          <a:stretch>
            <a:fillRect/>
          </a:stretch>
        </p:blipFill>
        <p:spPr>
          <a:xfrm>
            <a:off x="812775" y="1994712"/>
            <a:ext cx="4825801" cy="175084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17" name="Shape 317"/>
        <p:cNvGrpSpPr/>
        <p:nvPr/>
      </p:nvGrpSpPr>
      <p:grpSpPr>
        <a:xfrm>
          <a:off x="0" y="0"/>
          <a:ext cx="0" cy="0"/>
          <a:chOff x="0" y="0"/>
          <a:chExt cx="0" cy="0"/>
        </a:xfrm>
      </p:grpSpPr>
      <p:sp>
        <p:nvSpPr>
          <p:cNvPr id="318" name="Google Shape;318;p4"/>
          <p:cNvSpPr/>
          <p:nvPr/>
        </p:nvSpPr>
        <p:spPr>
          <a:xfrm>
            <a:off x="812780" y="711182"/>
            <a:ext cx="1777956" cy="330192"/>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
          <p:cNvSpPr txBox="1"/>
          <p:nvPr/>
        </p:nvSpPr>
        <p:spPr>
          <a:xfrm>
            <a:off x="812780" y="711182"/>
            <a:ext cx="1777956"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VALIDACIÓN</a:t>
            </a:r>
            <a:endParaRPr b="0" i="0" sz="1300" u="none" cap="none" strike="noStrike">
              <a:solidFill>
                <a:schemeClr val="dk1"/>
              </a:solidFill>
              <a:latin typeface="Calibri"/>
              <a:ea typeface="Calibri"/>
              <a:cs typeface="Calibri"/>
              <a:sym typeface="Calibri"/>
            </a:endParaRPr>
          </a:p>
        </p:txBody>
      </p:sp>
      <p:sp>
        <p:nvSpPr>
          <p:cNvPr id="320" name="Google Shape;320;p4"/>
          <p:cNvSpPr txBox="1"/>
          <p:nvPr/>
        </p:nvSpPr>
        <p:spPr>
          <a:xfrm>
            <a:off x="812780" y="1142971"/>
            <a:ext cx="10566136" cy="5714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¿Cómo decidimos si confiar?</a:t>
            </a:r>
            <a:endParaRPr b="0" i="0" sz="3300" u="none" cap="none" strike="noStrike">
              <a:solidFill>
                <a:schemeClr val="dk1"/>
              </a:solidFill>
              <a:latin typeface="Calibri"/>
              <a:ea typeface="Calibri"/>
              <a:cs typeface="Calibri"/>
              <a:sym typeface="Calibri"/>
            </a:endParaRPr>
          </a:p>
        </p:txBody>
      </p:sp>
      <p:sp>
        <p:nvSpPr>
          <p:cNvPr id="321" name="Google Shape;321;p4"/>
          <p:cNvSpPr/>
          <p:nvPr/>
        </p:nvSpPr>
        <p:spPr>
          <a:xfrm>
            <a:off x="5892653" y="1841454"/>
            <a:ext cx="5486263" cy="1206470"/>
          </a:xfrm>
          <a:prstGeom prst="roundRect">
            <a:avLst>
              <a:gd fmla="val 9095"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
          <p:cNvSpPr/>
          <p:nvPr/>
        </p:nvSpPr>
        <p:spPr>
          <a:xfrm>
            <a:off x="5892653" y="1879553"/>
            <a:ext cx="57149" cy="1130272"/>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4"/>
          <p:cNvSpPr txBox="1"/>
          <p:nvPr/>
        </p:nvSpPr>
        <p:spPr>
          <a:xfrm>
            <a:off x="6070448" y="1943051"/>
            <a:ext cx="253994"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mbria"/>
              <a:buNone/>
            </a:pPr>
            <a:r>
              <a:rPr b="1" i="0" lang="en-US" sz="1700" u="none" cap="none" strike="noStrike">
                <a:solidFill>
                  <a:srgbClr val="2F6FB0"/>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324" name="Google Shape;324;p4"/>
          <p:cNvSpPr txBox="1"/>
          <p:nvPr/>
        </p:nvSpPr>
        <p:spPr>
          <a:xfrm>
            <a:off x="6324442" y="1955751"/>
            <a:ext cx="3746406" cy="4825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¿Funciona donde conocemos la respuesta?</a:t>
            </a:r>
            <a:endParaRPr b="0" i="0" sz="1250" u="none" cap="none" strike="noStrike">
              <a:solidFill>
                <a:schemeClr val="dk1"/>
              </a:solidFill>
              <a:latin typeface="Calibri"/>
              <a:ea typeface="Calibri"/>
              <a:cs typeface="Calibri"/>
              <a:sym typeface="Calibri"/>
            </a:endParaRPr>
          </a:p>
        </p:txBody>
      </p:sp>
      <p:sp>
        <p:nvSpPr>
          <p:cNvPr id="325" name="Google Shape;325;p4"/>
          <p:cNvSpPr txBox="1"/>
          <p:nvPr/>
        </p:nvSpPr>
        <p:spPr>
          <a:xfrm>
            <a:off x="10096248" y="1955751"/>
            <a:ext cx="1142971" cy="253994"/>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F6FB0"/>
              </a:buClr>
              <a:buSzPts val="1350"/>
              <a:buFont typeface="Calibri"/>
              <a:buNone/>
            </a:pPr>
            <a:r>
              <a:rPr b="1" i="0" lang="en-US" sz="1350" u="none" cap="none" strike="noStrike">
                <a:solidFill>
                  <a:srgbClr val="2F6FB0"/>
                </a:solidFill>
                <a:latin typeface="Calibri"/>
                <a:ea typeface="Calibri"/>
                <a:cs typeface="Calibri"/>
                <a:sym typeface="Calibri"/>
              </a:rPr>
              <a:t>Funciona</a:t>
            </a:r>
            <a:endParaRPr b="0" i="0" sz="1350" u="none" cap="none" strike="noStrike">
              <a:solidFill>
                <a:schemeClr val="dk1"/>
              </a:solidFill>
              <a:latin typeface="Calibri"/>
              <a:ea typeface="Calibri"/>
              <a:cs typeface="Calibri"/>
              <a:sym typeface="Calibri"/>
            </a:endParaRPr>
          </a:p>
        </p:txBody>
      </p:sp>
      <p:sp>
        <p:nvSpPr>
          <p:cNvPr id="326" name="Google Shape;326;p4"/>
          <p:cNvSpPr txBox="1"/>
          <p:nvPr/>
        </p:nvSpPr>
        <p:spPr>
          <a:xfrm>
            <a:off x="6070448" y="2463738"/>
            <a:ext cx="5181470" cy="2285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Simulación: amplitud 0,997 · fase 0,64 con la matriz a 75 mm</a:t>
            </a:r>
            <a:endParaRPr b="0" i="0" sz="1150" u="none" cap="none" strike="noStrike">
              <a:solidFill>
                <a:schemeClr val="dk1"/>
              </a:solidFill>
              <a:latin typeface="Calibri"/>
              <a:ea typeface="Calibri"/>
              <a:cs typeface="Calibri"/>
              <a:sym typeface="Calibri"/>
            </a:endParaRPr>
          </a:p>
        </p:txBody>
      </p:sp>
      <p:sp>
        <p:nvSpPr>
          <p:cNvPr id="327" name="Google Shape;327;p4"/>
          <p:cNvSpPr txBox="1"/>
          <p:nvPr/>
        </p:nvSpPr>
        <p:spPr>
          <a:xfrm>
            <a:off x="6070448" y="2717732"/>
            <a:ext cx="5181470" cy="304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Fase 0,97 a 100 mm (más solapamiento). 1 = igual a la muestra inventada</a:t>
            </a:r>
            <a:endParaRPr b="0" i="0" sz="1100" u="none" cap="none" strike="noStrike">
              <a:solidFill>
                <a:schemeClr val="dk1"/>
              </a:solidFill>
              <a:latin typeface="Calibri"/>
              <a:ea typeface="Calibri"/>
              <a:cs typeface="Calibri"/>
              <a:sym typeface="Calibri"/>
            </a:endParaRPr>
          </a:p>
        </p:txBody>
      </p:sp>
      <p:sp>
        <p:nvSpPr>
          <p:cNvPr id="328" name="Google Shape;328;p4"/>
          <p:cNvSpPr/>
          <p:nvPr/>
        </p:nvSpPr>
        <p:spPr>
          <a:xfrm>
            <a:off x="5892653" y="3124122"/>
            <a:ext cx="5486263" cy="1269968"/>
          </a:xfrm>
          <a:prstGeom prst="roundRect">
            <a:avLst>
              <a:gd fmla="val 8640"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4"/>
          <p:cNvSpPr/>
          <p:nvPr/>
        </p:nvSpPr>
        <p:spPr>
          <a:xfrm>
            <a:off x="5892653" y="3162221"/>
            <a:ext cx="57149" cy="1193770"/>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4"/>
          <p:cNvSpPr txBox="1"/>
          <p:nvPr/>
        </p:nvSpPr>
        <p:spPr>
          <a:xfrm>
            <a:off x="6070448" y="3225719"/>
            <a:ext cx="253994"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mbria"/>
              <a:buNone/>
            </a:pPr>
            <a:r>
              <a:rPr b="1" i="0" lang="en-US" sz="1700" u="none" cap="none" strike="noStrike">
                <a:solidFill>
                  <a:srgbClr val="2F6FB0"/>
                </a:solidFill>
                <a:latin typeface="Cambria"/>
                <a:ea typeface="Cambria"/>
                <a:cs typeface="Cambria"/>
                <a:sym typeface="Cambria"/>
              </a:rPr>
              <a:t>2</a:t>
            </a:r>
            <a:endParaRPr b="0" i="0" sz="1700" u="none" cap="none" strike="noStrike">
              <a:solidFill>
                <a:schemeClr val="dk1"/>
              </a:solidFill>
              <a:latin typeface="Calibri"/>
              <a:ea typeface="Calibri"/>
              <a:cs typeface="Calibri"/>
              <a:sym typeface="Calibri"/>
            </a:endParaRPr>
          </a:p>
        </p:txBody>
      </p:sp>
      <p:sp>
        <p:nvSpPr>
          <p:cNvPr id="331" name="Google Shape;331;p4"/>
          <p:cNvSpPr txBox="1"/>
          <p:nvPr/>
        </p:nvSpPr>
        <p:spPr>
          <a:xfrm>
            <a:off x="6324442" y="3238419"/>
            <a:ext cx="3746406" cy="4825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¿Predice las fotos que no usó?</a:t>
            </a:r>
            <a:endParaRPr b="0" i="0" sz="1250" u="none" cap="none" strike="noStrike">
              <a:solidFill>
                <a:schemeClr val="dk1"/>
              </a:solidFill>
              <a:latin typeface="Calibri"/>
              <a:ea typeface="Calibri"/>
              <a:cs typeface="Calibri"/>
              <a:sym typeface="Calibri"/>
            </a:endParaRPr>
          </a:p>
        </p:txBody>
      </p:sp>
      <p:sp>
        <p:nvSpPr>
          <p:cNvPr id="332" name="Google Shape;332;p4"/>
          <p:cNvSpPr txBox="1"/>
          <p:nvPr/>
        </p:nvSpPr>
        <p:spPr>
          <a:xfrm>
            <a:off x="10096248" y="3238419"/>
            <a:ext cx="1142971" cy="253994"/>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F6FB0"/>
              </a:buClr>
              <a:buSzPts val="1350"/>
              <a:buFont typeface="Calibri"/>
              <a:buNone/>
            </a:pPr>
            <a:r>
              <a:rPr b="1" i="0" lang="en-US" sz="1350" u="none" cap="none" strike="noStrike">
                <a:solidFill>
                  <a:srgbClr val="2F6FB0"/>
                </a:solidFill>
                <a:latin typeface="Calibri"/>
                <a:ea typeface="Calibri"/>
                <a:cs typeface="Calibri"/>
                <a:sym typeface="Calibri"/>
              </a:rPr>
              <a:t>Pasa</a:t>
            </a:r>
            <a:endParaRPr b="0" i="0" sz="1350" u="none" cap="none" strike="noStrike">
              <a:solidFill>
                <a:schemeClr val="dk1"/>
              </a:solidFill>
              <a:latin typeface="Calibri"/>
              <a:ea typeface="Calibri"/>
              <a:cs typeface="Calibri"/>
              <a:sym typeface="Calibri"/>
            </a:endParaRPr>
          </a:p>
        </p:txBody>
      </p:sp>
      <p:sp>
        <p:nvSpPr>
          <p:cNvPr id="333" name="Google Shape;333;p4"/>
          <p:cNvSpPr txBox="1"/>
          <p:nvPr/>
        </p:nvSpPr>
        <p:spPr>
          <a:xfrm>
            <a:off x="6070448" y="3746406"/>
            <a:ext cx="5181470" cy="2285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Error 0,46–0,62 (0 = perfecto; sin reconstruir: 0,98)</a:t>
            </a:r>
            <a:endParaRPr b="0" i="0" sz="1150" u="none" cap="none" strike="noStrike">
              <a:solidFill>
                <a:schemeClr val="dk1"/>
              </a:solidFill>
              <a:latin typeface="Calibri"/>
              <a:ea typeface="Calibri"/>
              <a:cs typeface="Calibri"/>
              <a:sym typeface="Calibri"/>
            </a:endParaRPr>
          </a:p>
        </p:txBody>
      </p:sp>
      <p:sp>
        <p:nvSpPr>
          <p:cNvPr id="334" name="Google Shape;334;p4"/>
          <p:cNvSpPr txBox="1"/>
          <p:nvPr/>
        </p:nvSpPr>
        <p:spPr>
          <a:xfrm>
            <a:off x="6070448" y="4000400"/>
            <a:ext cx="5181470" cy="36829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Se apartan LEDs, se reconstruye sin ellos y se compara la foto predicha con la medida</a:t>
            </a:r>
            <a:endParaRPr b="0" i="0" sz="1100" u="none" cap="none" strike="noStrike">
              <a:solidFill>
                <a:schemeClr val="dk1"/>
              </a:solidFill>
              <a:latin typeface="Calibri"/>
              <a:ea typeface="Calibri"/>
              <a:cs typeface="Calibri"/>
              <a:sym typeface="Calibri"/>
            </a:endParaRPr>
          </a:p>
        </p:txBody>
      </p:sp>
      <p:sp>
        <p:nvSpPr>
          <p:cNvPr id="335" name="Google Shape;335;p4"/>
          <p:cNvSpPr/>
          <p:nvPr/>
        </p:nvSpPr>
        <p:spPr>
          <a:xfrm>
            <a:off x="5892653" y="4470288"/>
            <a:ext cx="5486263" cy="1333467"/>
          </a:xfrm>
          <a:prstGeom prst="roundRect">
            <a:avLst>
              <a:gd fmla="val 8229"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4"/>
          <p:cNvSpPr/>
          <p:nvPr/>
        </p:nvSpPr>
        <p:spPr>
          <a:xfrm>
            <a:off x="5892653" y="4508387"/>
            <a:ext cx="57149" cy="1257269"/>
          </a:xfrm>
          <a:prstGeom prst="rect">
            <a:avLst/>
          </a:prstGeom>
          <a:solidFill>
            <a:srgbClr val="D9692B"/>
          </a:solidFill>
          <a:ln cap="flat" cmpd="sng" w="1270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4"/>
          <p:cNvSpPr txBox="1"/>
          <p:nvPr/>
        </p:nvSpPr>
        <p:spPr>
          <a:xfrm>
            <a:off x="6070448" y="4571886"/>
            <a:ext cx="253994"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1700"/>
              <a:buFont typeface="Cambria"/>
              <a:buNone/>
            </a:pPr>
            <a:r>
              <a:rPr b="1" i="0" lang="en-US" sz="1700" u="none" cap="none" strike="noStrike">
                <a:solidFill>
                  <a:srgbClr val="D9692B"/>
                </a:solidFill>
                <a:latin typeface="Cambria"/>
                <a:ea typeface="Cambria"/>
                <a:cs typeface="Cambria"/>
                <a:sym typeface="Cambria"/>
              </a:rPr>
              <a:t>3</a:t>
            </a:r>
            <a:endParaRPr b="0" i="0" sz="1700" u="none" cap="none" strike="noStrike">
              <a:solidFill>
                <a:schemeClr val="dk1"/>
              </a:solidFill>
              <a:latin typeface="Calibri"/>
              <a:ea typeface="Calibri"/>
              <a:cs typeface="Calibri"/>
              <a:sym typeface="Calibri"/>
            </a:endParaRPr>
          </a:p>
        </p:txBody>
      </p:sp>
      <p:sp>
        <p:nvSpPr>
          <p:cNvPr id="338" name="Google Shape;338;p4"/>
          <p:cNvSpPr txBox="1"/>
          <p:nvPr/>
        </p:nvSpPr>
        <p:spPr>
          <a:xfrm>
            <a:off x="6324442" y="4584585"/>
            <a:ext cx="3746406" cy="4825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¿Dos reconstrucciones independientes ven el mismo detalle fino?</a:t>
            </a:r>
            <a:endParaRPr b="0" i="0" sz="1250" u="none" cap="none" strike="noStrike">
              <a:solidFill>
                <a:schemeClr val="dk1"/>
              </a:solidFill>
              <a:latin typeface="Calibri"/>
              <a:ea typeface="Calibri"/>
              <a:cs typeface="Calibri"/>
              <a:sym typeface="Calibri"/>
            </a:endParaRPr>
          </a:p>
        </p:txBody>
      </p:sp>
      <p:sp>
        <p:nvSpPr>
          <p:cNvPr id="339" name="Google Shape;339;p4"/>
          <p:cNvSpPr txBox="1"/>
          <p:nvPr/>
        </p:nvSpPr>
        <p:spPr>
          <a:xfrm>
            <a:off x="10096248" y="4584585"/>
            <a:ext cx="1142971" cy="253994"/>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D9692B"/>
              </a:buClr>
              <a:buSzPts val="1350"/>
              <a:buFont typeface="Calibri"/>
              <a:buNone/>
            </a:pPr>
            <a:r>
              <a:rPr b="1" i="0" lang="en-US" sz="1350" u="none" cap="none" strike="noStrike">
                <a:solidFill>
                  <a:srgbClr val="D9692B"/>
                </a:solidFill>
                <a:latin typeface="Calibri"/>
                <a:ea typeface="Calibri"/>
                <a:cs typeface="Calibri"/>
                <a:sym typeface="Calibri"/>
              </a:rPr>
              <a:t>No alcanza</a:t>
            </a:r>
            <a:endParaRPr b="0" i="0" sz="1350" u="none" cap="none" strike="noStrike">
              <a:solidFill>
                <a:schemeClr val="dk1"/>
              </a:solidFill>
              <a:latin typeface="Calibri"/>
              <a:ea typeface="Calibri"/>
              <a:cs typeface="Calibri"/>
              <a:sym typeface="Calibri"/>
            </a:endParaRPr>
          </a:p>
        </p:txBody>
      </p:sp>
      <p:sp>
        <p:nvSpPr>
          <p:cNvPr id="340" name="Google Shape;340;p4"/>
          <p:cNvSpPr txBox="1"/>
          <p:nvPr/>
        </p:nvSpPr>
        <p:spPr>
          <a:xfrm>
            <a:off x="6070448" y="5092573"/>
            <a:ext cx="5181470" cy="2285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0,043–0,099 (1 = idénticas): de 5 a 14 veces el azar; umbral 0,143</a:t>
            </a:r>
            <a:endParaRPr b="0" i="0" sz="1150" u="none" cap="none" strike="noStrike">
              <a:solidFill>
                <a:schemeClr val="dk1"/>
              </a:solidFill>
              <a:latin typeface="Calibri"/>
              <a:ea typeface="Calibri"/>
              <a:cs typeface="Calibri"/>
              <a:sym typeface="Calibri"/>
            </a:endParaRPr>
          </a:p>
        </p:txBody>
      </p:sp>
      <p:sp>
        <p:nvSpPr>
          <p:cNvPr id="341" name="Google Shape;341;p4"/>
          <p:cNvSpPr txBox="1"/>
          <p:nvPr/>
        </p:nvSpPr>
        <p:spPr>
          <a:xfrm>
            <a:off x="6070448" y="5346566"/>
            <a:ext cx="5181470" cy="43178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Cada una con la mitad de los LEDs; se compara el detalle más fino que el objetivo</a:t>
            </a:r>
            <a:endParaRPr b="0" i="0" sz="1100" u="none" cap="none" strike="noStrike">
              <a:solidFill>
                <a:schemeClr val="dk1"/>
              </a:solidFill>
              <a:latin typeface="Calibri"/>
              <a:ea typeface="Calibri"/>
              <a:cs typeface="Calibri"/>
              <a:sym typeface="Calibri"/>
            </a:endParaRPr>
          </a:p>
        </p:txBody>
      </p:sp>
      <p:sp>
        <p:nvSpPr>
          <p:cNvPr id="342" name="Google Shape;342;p4"/>
          <p:cNvSpPr txBox="1"/>
          <p:nvPr/>
        </p:nvSpPr>
        <p:spPr>
          <a:xfrm>
            <a:off x="5892653" y="5905352"/>
            <a:ext cx="5486263" cy="2285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50"/>
              <a:buFont typeface="Calibri"/>
              <a:buNone/>
            </a:pPr>
            <a:r>
              <a:rPr b="0" i="0" lang="en-US" sz="1250" u="none" cap="none" strike="noStrike">
                <a:solidFill>
                  <a:srgbClr val="6A7382"/>
                </a:solidFill>
                <a:latin typeface="Calibri"/>
                <a:ea typeface="Calibri"/>
                <a:cs typeface="Calibri"/>
                <a:sym typeface="Calibri"/>
              </a:rPr>
              <a:t>Criterios y umbrales escritos </a:t>
            </a:r>
            <a:r>
              <a:rPr b="1" i="0" lang="en-US" sz="1250" u="none" cap="none" strike="noStrike">
                <a:solidFill>
                  <a:srgbClr val="6A7382"/>
                </a:solidFill>
                <a:latin typeface="Calibri"/>
                <a:ea typeface="Calibri"/>
                <a:cs typeface="Calibri"/>
                <a:sym typeface="Calibri"/>
              </a:rPr>
              <a:t>antes</a:t>
            </a:r>
            <a:r>
              <a:rPr b="0" i="0" lang="en-US" sz="1250" u="none" cap="none" strike="noStrike">
                <a:solidFill>
                  <a:srgbClr val="6A7382"/>
                </a:solidFill>
                <a:latin typeface="Calibri"/>
                <a:ea typeface="Calibri"/>
                <a:cs typeface="Calibri"/>
                <a:sym typeface="Calibri"/>
              </a:rPr>
              <a:t> de mirar los datos reales.</a:t>
            </a:r>
            <a:endParaRPr b="0" i="0" sz="1250" u="none" cap="none" strike="noStrike">
              <a:solidFill>
                <a:schemeClr val="dk1"/>
              </a:solidFill>
              <a:latin typeface="Calibri"/>
              <a:ea typeface="Calibri"/>
              <a:cs typeface="Calibri"/>
              <a:sym typeface="Calibri"/>
            </a:endParaRPr>
          </a:p>
        </p:txBody>
      </p:sp>
      <p:sp>
        <p:nvSpPr>
          <p:cNvPr id="343" name="Google Shape;343;p4"/>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4 / 6</a:t>
            </a:r>
            <a:endParaRPr b="0" i="0" sz="1200" u="none" cap="none" strike="noStrike">
              <a:solidFill>
                <a:schemeClr val="dk1"/>
              </a:solidFill>
              <a:latin typeface="Calibri"/>
              <a:ea typeface="Calibri"/>
              <a:cs typeface="Calibri"/>
              <a:sym typeface="Calibri"/>
            </a:endParaRPr>
          </a:p>
        </p:txBody>
      </p:sp>
      <p:pic>
        <p:nvPicPr>
          <p:cNvPr id="344" name="Google Shape;344;p4" title="fig_valid_3_mitades.png"/>
          <p:cNvPicPr preferRelativeResize="0"/>
          <p:nvPr/>
        </p:nvPicPr>
        <p:blipFill>
          <a:blip r:embed="rId3">
            <a:alphaModFix/>
          </a:blip>
          <a:stretch>
            <a:fillRect/>
          </a:stretch>
        </p:blipFill>
        <p:spPr>
          <a:xfrm>
            <a:off x="812788" y="1994688"/>
            <a:ext cx="4825876" cy="17508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49" name="Shape 349"/>
        <p:cNvGrpSpPr/>
        <p:nvPr/>
      </p:nvGrpSpPr>
      <p:grpSpPr>
        <a:xfrm>
          <a:off x="0" y="0"/>
          <a:ext cx="0" cy="0"/>
          <a:chOff x="0" y="0"/>
          <a:chExt cx="0" cy="0"/>
        </a:xfrm>
      </p:grpSpPr>
      <p:sp>
        <p:nvSpPr>
          <p:cNvPr id="350" name="Google Shape;350;hb71923e8388a2e9_0_335"/>
          <p:cNvSpPr/>
          <p:nvPr/>
        </p:nvSpPr>
        <p:spPr>
          <a:xfrm>
            <a:off x="812780" y="711182"/>
            <a:ext cx="1778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hb71923e8388a2e9_0_335"/>
          <p:cNvSpPr txBox="1"/>
          <p:nvPr/>
        </p:nvSpPr>
        <p:spPr>
          <a:xfrm>
            <a:off x="812780" y="711182"/>
            <a:ext cx="1778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VALIDACIÓN</a:t>
            </a:r>
            <a:endParaRPr b="0" i="0" sz="1300" u="none" cap="none" strike="noStrike">
              <a:solidFill>
                <a:schemeClr val="dk1"/>
              </a:solidFill>
              <a:latin typeface="Calibri"/>
              <a:ea typeface="Calibri"/>
              <a:cs typeface="Calibri"/>
              <a:sym typeface="Calibri"/>
            </a:endParaRPr>
          </a:p>
        </p:txBody>
      </p:sp>
      <p:sp>
        <p:nvSpPr>
          <p:cNvPr id="352" name="Google Shape;352;hb71923e8388a2e9_0_335"/>
          <p:cNvSpPr txBox="1"/>
          <p:nvPr/>
        </p:nvSpPr>
        <p:spPr>
          <a:xfrm>
            <a:off x="812780" y="1142971"/>
            <a:ext cx="10566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¿Cómo decidimos si confiar?</a:t>
            </a:r>
            <a:endParaRPr b="0" i="0" sz="3300" u="none" cap="none" strike="noStrike">
              <a:solidFill>
                <a:schemeClr val="dk1"/>
              </a:solidFill>
              <a:latin typeface="Calibri"/>
              <a:ea typeface="Calibri"/>
              <a:cs typeface="Calibri"/>
              <a:sym typeface="Calibri"/>
            </a:endParaRPr>
          </a:p>
        </p:txBody>
      </p:sp>
      <p:pic>
        <p:nvPicPr>
          <p:cNvPr descr="/home/chanoscopio/Documents/LucasC/reproducible-research-template/report/informe/img/fig_fase_2809b.png" id="353" name="Google Shape;353;hb71923e8388a2e9_0_335"/>
          <p:cNvPicPr preferRelativeResize="0"/>
          <p:nvPr/>
        </p:nvPicPr>
        <p:blipFill rotWithShape="1">
          <a:blip r:embed="rId3">
            <a:alphaModFix/>
          </a:blip>
          <a:srcRect b="0" l="0" r="0" t="0"/>
          <a:stretch/>
        </p:blipFill>
        <p:spPr>
          <a:xfrm>
            <a:off x="815270" y="1904952"/>
            <a:ext cx="4820900" cy="2235145"/>
          </a:xfrm>
          <a:prstGeom prst="rect">
            <a:avLst/>
          </a:prstGeom>
          <a:noFill/>
          <a:ln>
            <a:noFill/>
          </a:ln>
        </p:spPr>
      </p:pic>
      <p:sp>
        <p:nvSpPr>
          <p:cNvPr id="354" name="Google Shape;354;hb71923e8388a2e9_0_335"/>
          <p:cNvSpPr/>
          <p:nvPr/>
        </p:nvSpPr>
        <p:spPr>
          <a:xfrm>
            <a:off x="5892653" y="1841454"/>
            <a:ext cx="5486400" cy="1206600"/>
          </a:xfrm>
          <a:prstGeom prst="roundRect">
            <a:avLst>
              <a:gd fmla="val 9095"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hb71923e8388a2e9_0_335"/>
          <p:cNvSpPr/>
          <p:nvPr/>
        </p:nvSpPr>
        <p:spPr>
          <a:xfrm>
            <a:off x="5892653" y="1879553"/>
            <a:ext cx="57000" cy="1130400"/>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hb71923e8388a2e9_0_335"/>
          <p:cNvSpPr txBox="1"/>
          <p:nvPr/>
        </p:nvSpPr>
        <p:spPr>
          <a:xfrm>
            <a:off x="6070448" y="1943051"/>
            <a:ext cx="2541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mbria"/>
              <a:buNone/>
            </a:pPr>
            <a:r>
              <a:rPr b="1" i="0" lang="en-US" sz="1700" u="none" cap="none" strike="noStrike">
                <a:solidFill>
                  <a:srgbClr val="2F6FB0"/>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357" name="Google Shape;357;hb71923e8388a2e9_0_335"/>
          <p:cNvSpPr txBox="1"/>
          <p:nvPr/>
        </p:nvSpPr>
        <p:spPr>
          <a:xfrm>
            <a:off x="6324442" y="1955751"/>
            <a:ext cx="37464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¿Funciona donde conocemos la respuesta?</a:t>
            </a:r>
            <a:endParaRPr b="0" i="0" sz="1250" u="none" cap="none" strike="noStrike">
              <a:solidFill>
                <a:schemeClr val="dk1"/>
              </a:solidFill>
              <a:latin typeface="Calibri"/>
              <a:ea typeface="Calibri"/>
              <a:cs typeface="Calibri"/>
              <a:sym typeface="Calibri"/>
            </a:endParaRPr>
          </a:p>
        </p:txBody>
      </p:sp>
      <p:sp>
        <p:nvSpPr>
          <p:cNvPr id="358" name="Google Shape;358;hb71923e8388a2e9_0_335"/>
          <p:cNvSpPr txBox="1"/>
          <p:nvPr/>
        </p:nvSpPr>
        <p:spPr>
          <a:xfrm>
            <a:off x="10096248" y="1955751"/>
            <a:ext cx="1143000" cy="254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F6FB0"/>
              </a:buClr>
              <a:buSzPts val="1350"/>
              <a:buFont typeface="Calibri"/>
              <a:buNone/>
            </a:pPr>
            <a:r>
              <a:rPr b="1" i="0" lang="en-US" sz="1350" u="none" cap="none" strike="noStrike">
                <a:solidFill>
                  <a:srgbClr val="2F6FB0"/>
                </a:solidFill>
                <a:latin typeface="Calibri"/>
                <a:ea typeface="Calibri"/>
                <a:cs typeface="Calibri"/>
                <a:sym typeface="Calibri"/>
              </a:rPr>
              <a:t>Funciona</a:t>
            </a:r>
            <a:endParaRPr b="0" i="0" sz="1350" u="none" cap="none" strike="noStrike">
              <a:solidFill>
                <a:schemeClr val="dk1"/>
              </a:solidFill>
              <a:latin typeface="Calibri"/>
              <a:ea typeface="Calibri"/>
              <a:cs typeface="Calibri"/>
              <a:sym typeface="Calibri"/>
            </a:endParaRPr>
          </a:p>
        </p:txBody>
      </p:sp>
      <p:sp>
        <p:nvSpPr>
          <p:cNvPr id="359" name="Google Shape;359;hb71923e8388a2e9_0_335"/>
          <p:cNvSpPr txBox="1"/>
          <p:nvPr/>
        </p:nvSpPr>
        <p:spPr>
          <a:xfrm>
            <a:off x="6070448" y="2463738"/>
            <a:ext cx="518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Simulación: amplitud 0,997 · fase 0,64 con la matriz a 75 mm</a:t>
            </a:r>
            <a:endParaRPr b="0" i="0" sz="1150" u="none" cap="none" strike="noStrike">
              <a:solidFill>
                <a:schemeClr val="dk1"/>
              </a:solidFill>
              <a:latin typeface="Calibri"/>
              <a:ea typeface="Calibri"/>
              <a:cs typeface="Calibri"/>
              <a:sym typeface="Calibri"/>
            </a:endParaRPr>
          </a:p>
        </p:txBody>
      </p:sp>
      <p:sp>
        <p:nvSpPr>
          <p:cNvPr id="360" name="Google Shape;360;hb71923e8388a2e9_0_335"/>
          <p:cNvSpPr txBox="1"/>
          <p:nvPr/>
        </p:nvSpPr>
        <p:spPr>
          <a:xfrm>
            <a:off x="6070448" y="2717732"/>
            <a:ext cx="51816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Fase 0,97 a 100 mm (más solapamiento). 1 = igual a la muestra inventada</a:t>
            </a:r>
            <a:endParaRPr b="0" i="0" sz="1100" u="none" cap="none" strike="noStrike">
              <a:solidFill>
                <a:schemeClr val="dk1"/>
              </a:solidFill>
              <a:latin typeface="Calibri"/>
              <a:ea typeface="Calibri"/>
              <a:cs typeface="Calibri"/>
              <a:sym typeface="Calibri"/>
            </a:endParaRPr>
          </a:p>
        </p:txBody>
      </p:sp>
      <p:sp>
        <p:nvSpPr>
          <p:cNvPr id="361" name="Google Shape;361;hb71923e8388a2e9_0_335"/>
          <p:cNvSpPr/>
          <p:nvPr/>
        </p:nvSpPr>
        <p:spPr>
          <a:xfrm>
            <a:off x="5892653" y="3124122"/>
            <a:ext cx="5486400" cy="1269900"/>
          </a:xfrm>
          <a:prstGeom prst="roundRect">
            <a:avLst>
              <a:gd fmla="val 8640"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hb71923e8388a2e9_0_335"/>
          <p:cNvSpPr/>
          <p:nvPr/>
        </p:nvSpPr>
        <p:spPr>
          <a:xfrm>
            <a:off x="5892653" y="3162221"/>
            <a:ext cx="57000" cy="1193700"/>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hb71923e8388a2e9_0_335"/>
          <p:cNvSpPr txBox="1"/>
          <p:nvPr/>
        </p:nvSpPr>
        <p:spPr>
          <a:xfrm>
            <a:off x="6070448" y="3225719"/>
            <a:ext cx="2541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mbria"/>
              <a:buNone/>
            </a:pPr>
            <a:r>
              <a:rPr b="1" i="0" lang="en-US" sz="1700" u="none" cap="none" strike="noStrike">
                <a:solidFill>
                  <a:srgbClr val="2F6FB0"/>
                </a:solidFill>
                <a:latin typeface="Cambria"/>
                <a:ea typeface="Cambria"/>
                <a:cs typeface="Cambria"/>
                <a:sym typeface="Cambria"/>
              </a:rPr>
              <a:t>2</a:t>
            </a:r>
            <a:endParaRPr b="0" i="0" sz="1700" u="none" cap="none" strike="noStrike">
              <a:solidFill>
                <a:schemeClr val="dk1"/>
              </a:solidFill>
              <a:latin typeface="Calibri"/>
              <a:ea typeface="Calibri"/>
              <a:cs typeface="Calibri"/>
              <a:sym typeface="Calibri"/>
            </a:endParaRPr>
          </a:p>
        </p:txBody>
      </p:sp>
      <p:sp>
        <p:nvSpPr>
          <p:cNvPr id="364" name="Google Shape;364;hb71923e8388a2e9_0_335"/>
          <p:cNvSpPr txBox="1"/>
          <p:nvPr/>
        </p:nvSpPr>
        <p:spPr>
          <a:xfrm>
            <a:off x="6324442" y="3238419"/>
            <a:ext cx="37464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¿Predice las fotos que no usó?</a:t>
            </a:r>
            <a:endParaRPr b="0" i="0" sz="1250" u="none" cap="none" strike="noStrike">
              <a:solidFill>
                <a:schemeClr val="dk1"/>
              </a:solidFill>
              <a:latin typeface="Calibri"/>
              <a:ea typeface="Calibri"/>
              <a:cs typeface="Calibri"/>
              <a:sym typeface="Calibri"/>
            </a:endParaRPr>
          </a:p>
        </p:txBody>
      </p:sp>
      <p:sp>
        <p:nvSpPr>
          <p:cNvPr id="365" name="Google Shape;365;hb71923e8388a2e9_0_335"/>
          <p:cNvSpPr txBox="1"/>
          <p:nvPr/>
        </p:nvSpPr>
        <p:spPr>
          <a:xfrm>
            <a:off x="10096248" y="3238419"/>
            <a:ext cx="1143000" cy="254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F6FB0"/>
              </a:buClr>
              <a:buSzPts val="1350"/>
              <a:buFont typeface="Calibri"/>
              <a:buNone/>
            </a:pPr>
            <a:r>
              <a:rPr b="1" i="0" lang="en-US" sz="1350" u="none" cap="none" strike="noStrike">
                <a:solidFill>
                  <a:srgbClr val="2F6FB0"/>
                </a:solidFill>
                <a:latin typeface="Calibri"/>
                <a:ea typeface="Calibri"/>
                <a:cs typeface="Calibri"/>
                <a:sym typeface="Calibri"/>
              </a:rPr>
              <a:t>Pasa</a:t>
            </a:r>
            <a:endParaRPr b="0" i="0" sz="1350" u="none" cap="none" strike="noStrike">
              <a:solidFill>
                <a:schemeClr val="dk1"/>
              </a:solidFill>
              <a:latin typeface="Calibri"/>
              <a:ea typeface="Calibri"/>
              <a:cs typeface="Calibri"/>
              <a:sym typeface="Calibri"/>
            </a:endParaRPr>
          </a:p>
        </p:txBody>
      </p:sp>
      <p:sp>
        <p:nvSpPr>
          <p:cNvPr id="366" name="Google Shape;366;hb71923e8388a2e9_0_335"/>
          <p:cNvSpPr txBox="1"/>
          <p:nvPr/>
        </p:nvSpPr>
        <p:spPr>
          <a:xfrm>
            <a:off x="6070448" y="3746406"/>
            <a:ext cx="518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Error 0,46–0,62 (0 = perfecto; sin reconstruir: 0,98)</a:t>
            </a:r>
            <a:endParaRPr b="0" i="0" sz="1150" u="none" cap="none" strike="noStrike">
              <a:solidFill>
                <a:schemeClr val="dk1"/>
              </a:solidFill>
              <a:latin typeface="Calibri"/>
              <a:ea typeface="Calibri"/>
              <a:cs typeface="Calibri"/>
              <a:sym typeface="Calibri"/>
            </a:endParaRPr>
          </a:p>
        </p:txBody>
      </p:sp>
      <p:sp>
        <p:nvSpPr>
          <p:cNvPr id="367" name="Google Shape;367;hb71923e8388a2e9_0_335"/>
          <p:cNvSpPr txBox="1"/>
          <p:nvPr/>
        </p:nvSpPr>
        <p:spPr>
          <a:xfrm>
            <a:off x="6070448" y="4000400"/>
            <a:ext cx="5181600" cy="36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Se apartan LEDs, se reconstruye sin ellos y se compara la foto predicha con la medida</a:t>
            </a:r>
            <a:endParaRPr b="0" i="0" sz="1100" u="none" cap="none" strike="noStrike">
              <a:solidFill>
                <a:schemeClr val="dk1"/>
              </a:solidFill>
              <a:latin typeface="Calibri"/>
              <a:ea typeface="Calibri"/>
              <a:cs typeface="Calibri"/>
              <a:sym typeface="Calibri"/>
            </a:endParaRPr>
          </a:p>
        </p:txBody>
      </p:sp>
      <p:sp>
        <p:nvSpPr>
          <p:cNvPr id="368" name="Google Shape;368;hb71923e8388a2e9_0_335"/>
          <p:cNvSpPr/>
          <p:nvPr/>
        </p:nvSpPr>
        <p:spPr>
          <a:xfrm>
            <a:off x="5892653" y="4470288"/>
            <a:ext cx="5486400" cy="1333500"/>
          </a:xfrm>
          <a:prstGeom prst="roundRect">
            <a:avLst>
              <a:gd fmla="val 8229"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hb71923e8388a2e9_0_335"/>
          <p:cNvSpPr/>
          <p:nvPr/>
        </p:nvSpPr>
        <p:spPr>
          <a:xfrm>
            <a:off x="5892653" y="4508387"/>
            <a:ext cx="57000" cy="1257300"/>
          </a:xfrm>
          <a:prstGeom prst="rect">
            <a:avLst/>
          </a:prstGeom>
          <a:solidFill>
            <a:srgbClr val="D9692B"/>
          </a:solidFill>
          <a:ln cap="flat" cmpd="sng" w="1270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hb71923e8388a2e9_0_335"/>
          <p:cNvSpPr txBox="1"/>
          <p:nvPr/>
        </p:nvSpPr>
        <p:spPr>
          <a:xfrm>
            <a:off x="6070448" y="4571886"/>
            <a:ext cx="2541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1700"/>
              <a:buFont typeface="Cambria"/>
              <a:buNone/>
            </a:pPr>
            <a:r>
              <a:rPr b="1" i="0" lang="en-US" sz="1700" u="none" cap="none" strike="noStrike">
                <a:solidFill>
                  <a:srgbClr val="D9692B"/>
                </a:solidFill>
                <a:latin typeface="Cambria"/>
                <a:ea typeface="Cambria"/>
                <a:cs typeface="Cambria"/>
                <a:sym typeface="Cambria"/>
              </a:rPr>
              <a:t>3</a:t>
            </a:r>
            <a:endParaRPr b="0" i="0" sz="1700" u="none" cap="none" strike="noStrike">
              <a:solidFill>
                <a:schemeClr val="dk1"/>
              </a:solidFill>
              <a:latin typeface="Calibri"/>
              <a:ea typeface="Calibri"/>
              <a:cs typeface="Calibri"/>
              <a:sym typeface="Calibri"/>
            </a:endParaRPr>
          </a:p>
        </p:txBody>
      </p:sp>
      <p:sp>
        <p:nvSpPr>
          <p:cNvPr id="371" name="Google Shape;371;hb71923e8388a2e9_0_335"/>
          <p:cNvSpPr txBox="1"/>
          <p:nvPr/>
        </p:nvSpPr>
        <p:spPr>
          <a:xfrm>
            <a:off x="6324442" y="4584585"/>
            <a:ext cx="37464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¿Dos reconstrucciones independientes ven el mismo detalle fino?</a:t>
            </a:r>
            <a:endParaRPr b="0" i="0" sz="1250" u="none" cap="none" strike="noStrike">
              <a:solidFill>
                <a:schemeClr val="dk1"/>
              </a:solidFill>
              <a:latin typeface="Calibri"/>
              <a:ea typeface="Calibri"/>
              <a:cs typeface="Calibri"/>
              <a:sym typeface="Calibri"/>
            </a:endParaRPr>
          </a:p>
        </p:txBody>
      </p:sp>
      <p:sp>
        <p:nvSpPr>
          <p:cNvPr id="372" name="Google Shape;372;hb71923e8388a2e9_0_335"/>
          <p:cNvSpPr txBox="1"/>
          <p:nvPr/>
        </p:nvSpPr>
        <p:spPr>
          <a:xfrm>
            <a:off x="10096248" y="4584585"/>
            <a:ext cx="1143000" cy="254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D9692B"/>
              </a:buClr>
              <a:buSzPts val="1350"/>
              <a:buFont typeface="Calibri"/>
              <a:buNone/>
            </a:pPr>
            <a:r>
              <a:rPr b="1" i="0" lang="en-US" sz="1350" u="none" cap="none" strike="noStrike">
                <a:solidFill>
                  <a:srgbClr val="D9692B"/>
                </a:solidFill>
                <a:latin typeface="Calibri"/>
                <a:ea typeface="Calibri"/>
                <a:cs typeface="Calibri"/>
                <a:sym typeface="Calibri"/>
              </a:rPr>
              <a:t>No alcanza</a:t>
            </a:r>
            <a:endParaRPr b="0" i="0" sz="1350" u="none" cap="none" strike="noStrike">
              <a:solidFill>
                <a:schemeClr val="dk1"/>
              </a:solidFill>
              <a:latin typeface="Calibri"/>
              <a:ea typeface="Calibri"/>
              <a:cs typeface="Calibri"/>
              <a:sym typeface="Calibri"/>
            </a:endParaRPr>
          </a:p>
        </p:txBody>
      </p:sp>
      <p:sp>
        <p:nvSpPr>
          <p:cNvPr id="373" name="Google Shape;373;hb71923e8388a2e9_0_335"/>
          <p:cNvSpPr txBox="1"/>
          <p:nvPr/>
        </p:nvSpPr>
        <p:spPr>
          <a:xfrm>
            <a:off x="6070448" y="5092573"/>
            <a:ext cx="518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0,043–0,099 (1 = idénticas): de 5 a 14 veces el azar; umbral 0,143</a:t>
            </a:r>
            <a:endParaRPr b="0" i="0" sz="1150" u="none" cap="none" strike="noStrike">
              <a:solidFill>
                <a:schemeClr val="dk1"/>
              </a:solidFill>
              <a:latin typeface="Calibri"/>
              <a:ea typeface="Calibri"/>
              <a:cs typeface="Calibri"/>
              <a:sym typeface="Calibri"/>
            </a:endParaRPr>
          </a:p>
        </p:txBody>
      </p:sp>
      <p:sp>
        <p:nvSpPr>
          <p:cNvPr id="374" name="Google Shape;374;hb71923e8388a2e9_0_335"/>
          <p:cNvSpPr txBox="1"/>
          <p:nvPr/>
        </p:nvSpPr>
        <p:spPr>
          <a:xfrm>
            <a:off x="6070448" y="5346566"/>
            <a:ext cx="5181600" cy="43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Cada una con la mitad de los LEDs; se compara el detalle más fino que el objetivo</a:t>
            </a:r>
            <a:endParaRPr b="0" i="0" sz="1100" u="none" cap="none" strike="noStrike">
              <a:solidFill>
                <a:schemeClr val="dk1"/>
              </a:solidFill>
              <a:latin typeface="Calibri"/>
              <a:ea typeface="Calibri"/>
              <a:cs typeface="Calibri"/>
              <a:sym typeface="Calibri"/>
            </a:endParaRPr>
          </a:p>
        </p:txBody>
      </p:sp>
      <p:sp>
        <p:nvSpPr>
          <p:cNvPr id="375" name="Google Shape;375;hb71923e8388a2e9_0_335"/>
          <p:cNvSpPr txBox="1"/>
          <p:nvPr/>
        </p:nvSpPr>
        <p:spPr>
          <a:xfrm>
            <a:off x="5892653" y="5905352"/>
            <a:ext cx="54864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50"/>
              <a:buFont typeface="Calibri"/>
              <a:buNone/>
            </a:pPr>
            <a:r>
              <a:rPr b="0" i="0" lang="en-US" sz="1250" u="none" cap="none" strike="noStrike">
                <a:solidFill>
                  <a:srgbClr val="6A7382"/>
                </a:solidFill>
                <a:latin typeface="Calibri"/>
                <a:ea typeface="Calibri"/>
                <a:cs typeface="Calibri"/>
                <a:sym typeface="Calibri"/>
              </a:rPr>
              <a:t>Criterios y umbrales escritos </a:t>
            </a:r>
            <a:r>
              <a:rPr b="1" i="0" lang="en-US" sz="1250" u="none" cap="none" strike="noStrike">
                <a:solidFill>
                  <a:srgbClr val="6A7382"/>
                </a:solidFill>
                <a:latin typeface="Calibri"/>
                <a:ea typeface="Calibri"/>
                <a:cs typeface="Calibri"/>
                <a:sym typeface="Calibri"/>
              </a:rPr>
              <a:t>antes</a:t>
            </a:r>
            <a:r>
              <a:rPr b="0" i="0" lang="en-US" sz="1250" u="none" cap="none" strike="noStrike">
                <a:solidFill>
                  <a:srgbClr val="6A7382"/>
                </a:solidFill>
                <a:latin typeface="Calibri"/>
                <a:ea typeface="Calibri"/>
                <a:cs typeface="Calibri"/>
                <a:sym typeface="Calibri"/>
              </a:rPr>
              <a:t> de mirar los datos reales.</a:t>
            </a:r>
            <a:endParaRPr b="0" i="0" sz="1250" u="none" cap="none" strike="noStrike">
              <a:solidFill>
                <a:schemeClr val="dk1"/>
              </a:solidFill>
              <a:latin typeface="Calibri"/>
              <a:ea typeface="Calibri"/>
              <a:cs typeface="Calibri"/>
              <a:sym typeface="Calibri"/>
            </a:endParaRPr>
          </a:p>
        </p:txBody>
      </p:sp>
      <p:sp>
        <p:nvSpPr>
          <p:cNvPr id="376" name="Google Shape;376;hb71923e8388a2e9_0_335"/>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4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81" name="Shape 381"/>
        <p:cNvGrpSpPr/>
        <p:nvPr/>
      </p:nvGrpSpPr>
      <p:grpSpPr>
        <a:xfrm>
          <a:off x="0" y="0"/>
          <a:ext cx="0" cy="0"/>
          <a:chOff x="0" y="0"/>
          <a:chExt cx="0" cy="0"/>
        </a:xfrm>
      </p:grpSpPr>
      <p:sp>
        <p:nvSpPr>
          <p:cNvPr id="382" name="Google Shape;382;hb16857675266d5a_0_0"/>
          <p:cNvSpPr/>
          <p:nvPr/>
        </p:nvSpPr>
        <p:spPr>
          <a:xfrm>
            <a:off x="812780" y="711182"/>
            <a:ext cx="1778100" cy="330300"/>
          </a:xfrm>
          <a:prstGeom prst="roundRect">
            <a:avLst>
              <a:gd fmla="val 55386" name="adj"/>
            </a:avLst>
          </a:prstGeom>
          <a:solidFill>
            <a:srgbClr val="FBFBF8"/>
          </a:solidFill>
          <a:ln cap="flat" cmpd="sng" w="1905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hb16857675266d5a_0_0"/>
          <p:cNvSpPr txBox="1"/>
          <p:nvPr/>
        </p:nvSpPr>
        <p:spPr>
          <a:xfrm>
            <a:off x="812780" y="711182"/>
            <a:ext cx="17781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F6FB0"/>
              </a:buClr>
              <a:buSzPts val="1300"/>
              <a:buFont typeface="Calibri"/>
              <a:buNone/>
            </a:pPr>
            <a:r>
              <a:rPr b="1" i="0" lang="en-US" sz="1300" u="none" cap="none" strike="noStrike">
                <a:solidFill>
                  <a:srgbClr val="2F6FB0"/>
                </a:solidFill>
                <a:latin typeface="Calibri"/>
                <a:ea typeface="Calibri"/>
                <a:cs typeface="Calibri"/>
                <a:sym typeface="Calibri"/>
              </a:rPr>
              <a:t>VALIDACIÓN</a:t>
            </a:r>
            <a:endParaRPr b="0" i="0" sz="1300" u="none" cap="none" strike="noStrike">
              <a:solidFill>
                <a:schemeClr val="dk1"/>
              </a:solidFill>
              <a:latin typeface="Calibri"/>
              <a:ea typeface="Calibri"/>
              <a:cs typeface="Calibri"/>
              <a:sym typeface="Calibri"/>
            </a:endParaRPr>
          </a:p>
        </p:txBody>
      </p:sp>
      <p:sp>
        <p:nvSpPr>
          <p:cNvPr id="384" name="Google Shape;384;hb16857675266d5a_0_0"/>
          <p:cNvSpPr txBox="1"/>
          <p:nvPr/>
        </p:nvSpPr>
        <p:spPr>
          <a:xfrm>
            <a:off x="812780" y="1142971"/>
            <a:ext cx="10566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¿Cómo decidimos si confiar?</a:t>
            </a:r>
            <a:endParaRPr b="0" i="0" sz="3300" u="none" cap="none" strike="noStrike">
              <a:solidFill>
                <a:schemeClr val="dk1"/>
              </a:solidFill>
              <a:latin typeface="Calibri"/>
              <a:ea typeface="Calibri"/>
              <a:cs typeface="Calibri"/>
              <a:sym typeface="Calibri"/>
            </a:endParaRPr>
          </a:p>
        </p:txBody>
      </p:sp>
      <p:pic>
        <p:nvPicPr>
          <p:cNvPr descr="/home/chanoscopio/Documents/LucasC/reproducible-research-template/report/informe/img/fig_fase_2809b.png" id="385" name="Google Shape;385;hb16857675266d5a_0_0"/>
          <p:cNvPicPr preferRelativeResize="0"/>
          <p:nvPr/>
        </p:nvPicPr>
        <p:blipFill rotWithShape="1">
          <a:blip r:embed="rId3">
            <a:alphaModFix/>
          </a:blip>
          <a:srcRect b="0" l="0" r="0" t="0"/>
          <a:stretch/>
        </p:blipFill>
        <p:spPr>
          <a:xfrm>
            <a:off x="815270" y="1904952"/>
            <a:ext cx="4820900" cy="2235145"/>
          </a:xfrm>
          <a:prstGeom prst="rect">
            <a:avLst/>
          </a:prstGeom>
          <a:noFill/>
          <a:ln>
            <a:noFill/>
          </a:ln>
        </p:spPr>
      </p:pic>
      <p:sp>
        <p:nvSpPr>
          <p:cNvPr id="386" name="Google Shape;386;hb16857675266d5a_0_0"/>
          <p:cNvSpPr/>
          <p:nvPr/>
        </p:nvSpPr>
        <p:spPr>
          <a:xfrm>
            <a:off x="812780" y="4317892"/>
            <a:ext cx="4825800" cy="1079400"/>
          </a:xfrm>
          <a:prstGeom prst="roundRect">
            <a:avLst>
              <a:gd fmla="val 8471" name="adj"/>
            </a:avLst>
          </a:prstGeom>
          <a:solidFill>
            <a:srgbClr val="F6D9C6"/>
          </a:solidFill>
          <a:ln cap="flat" cmpd="sng" w="12700">
            <a:solidFill>
              <a:srgbClr val="F6D9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hb16857675266d5a_0_0"/>
          <p:cNvSpPr txBox="1"/>
          <p:nvPr/>
        </p:nvSpPr>
        <p:spPr>
          <a:xfrm>
            <a:off x="990575" y="4317892"/>
            <a:ext cx="4470300" cy="1079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213D"/>
              </a:buClr>
              <a:buSzPts val="1450"/>
              <a:buFont typeface="Calibri"/>
              <a:buNone/>
            </a:pPr>
            <a:r>
              <a:rPr b="0" i="0" lang="en-US" sz="1450" u="none" cap="none" strike="noStrike">
                <a:solidFill>
                  <a:srgbClr val="14213D"/>
                </a:solidFill>
                <a:latin typeface="Calibri"/>
                <a:ea typeface="Calibri"/>
                <a:cs typeface="Calibri"/>
                <a:sym typeface="Calibri"/>
              </a:rPr>
              <a:t>Recuperamos la </a:t>
            </a:r>
            <a:r>
              <a:rPr b="1" i="0" lang="en-US" sz="1450" u="none" cap="none" strike="noStrike">
                <a:solidFill>
                  <a:srgbClr val="14213D"/>
                </a:solidFill>
                <a:latin typeface="Calibri"/>
                <a:ea typeface="Calibri"/>
                <a:cs typeface="Calibri"/>
                <a:sym typeface="Calibri"/>
              </a:rPr>
              <a:t>fase</a:t>
            </a:r>
            <a:r>
              <a:rPr b="0" i="0" lang="en-US" sz="1450" u="none" cap="none" strike="noStrike">
                <a:solidFill>
                  <a:srgbClr val="14213D"/>
                </a:solidFill>
                <a:latin typeface="Calibri"/>
                <a:ea typeface="Calibri"/>
                <a:cs typeface="Calibri"/>
                <a:sym typeface="Calibri"/>
              </a:rPr>
              <a:t> de la muestra real (la reconstrucción predice fotos que no usó). </a:t>
            </a:r>
            <a:r>
              <a:rPr b="1" i="0" lang="en-US" sz="1450" u="none" cap="none" strike="noStrike">
                <a:solidFill>
                  <a:srgbClr val="14213D"/>
                </a:solidFill>
                <a:latin typeface="Calibri"/>
                <a:ea typeface="Calibri"/>
                <a:cs typeface="Calibri"/>
                <a:sym typeface="Calibri"/>
              </a:rPr>
              <a:t>Ganar resolución todavía no está demostrado.</a:t>
            </a:r>
            <a:endParaRPr b="0" i="0" sz="1450" u="none" cap="none" strike="noStrike">
              <a:solidFill>
                <a:schemeClr val="dk1"/>
              </a:solidFill>
              <a:latin typeface="Calibri"/>
              <a:ea typeface="Calibri"/>
              <a:cs typeface="Calibri"/>
              <a:sym typeface="Calibri"/>
            </a:endParaRPr>
          </a:p>
        </p:txBody>
      </p:sp>
      <p:sp>
        <p:nvSpPr>
          <p:cNvPr id="388" name="Google Shape;388;hb16857675266d5a_0_0"/>
          <p:cNvSpPr/>
          <p:nvPr/>
        </p:nvSpPr>
        <p:spPr>
          <a:xfrm>
            <a:off x="5892653" y="1841454"/>
            <a:ext cx="5486400" cy="1206600"/>
          </a:xfrm>
          <a:prstGeom prst="roundRect">
            <a:avLst>
              <a:gd fmla="val 9095"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hb16857675266d5a_0_0"/>
          <p:cNvSpPr/>
          <p:nvPr/>
        </p:nvSpPr>
        <p:spPr>
          <a:xfrm>
            <a:off x="5892653" y="1879553"/>
            <a:ext cx="57000" cy="1130400"/>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hb16857675266d5a_0_0"/>
          <p:cNvSpPr txBox="1"/>
          <p:nvPr/>
        </p:nvSpPr>
        <p:spPr>
          <a:xfrm>
            <a:off x="6070448" y="1943051"/>
            <a:ext cx="2541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mbria"/>
              <a:buNone/>
            </a:pPr>
            <a:r>
              <a:rPr b="1" i="0" lang="en-US" sz="1700" u="none" cap="none" strike="noStrike">
                <a:solidFill>
                  <a:srgbClr val="2F6FB0"/>
                </a:solidFill>
                <a:latin typeface="Cambria"/>
                <a:ea typeface="Cambria"/>
                <a:cs typeface="Cambria"/>
                <a:sym typeface="Cambria"/>
              </a:rPr>
              <a:t>1</a:t>
            </a:r>
            <a:endParaRPr b="0" i="0" sz="1700" u="none" cap="none" strike="noStrike">
              <a:solidFill>
                <a:schemeClr val="dk1"/>
              </a:solidFill>
              <a:latin typeface="Calibri"/>
              <a:ea typeface="Calibri"/>
              <a:cs typeface="Calibri"/>
              <a:sym typeface="Calibri"/>
            </a:endParaRPr>
          </a:p>
        </p:txBody>
      </p:sp>
      <p:sp>
        <p:nvSpPr>
          <p:cNvPr id="391" name="Google Shape;391;hb16857675266d5a_0_0"/>
          <p:cNvSpPr txBox="1"/>
          <p:nvPr/>
        </p:nvSpPr>
        <p:spPr>
          <a:xfrm>
            <a:off x="6324442" y="1955751"/>
            <a:ext cx="37464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¿Funciona donde conocemos la respuesta?</a:t>
            </a:r>
            <a:endParaRPr b="0" i="0" sz="1250" u="none" cap="none" strike="noStrike">
              <a:solidFill>
                <a:schemeClr val="dk1"/>
              </a:solidFill>
              <a:latin typeface="Calibri"/>
              <a:ea typeface="Calibri"/>
              <a:cs typeface="Calibri"/>
              <a:sym typeface="Calibri"/>
            </a:endParaRPr>
          </a:p>
        </p:txBody>
      </p:sp>
      <p:sp>
        <p:nvSpPr>
          <p:cNvPr id="392" name="Google Shape;392;hb16857675266d5a_0_0"/>
          <p:cNvSpPr txBox="1"/>
          <p:nvPr/>
        </p:nvSpPr>
        <p:spPr>
          <a:xfrm>
            <a:off x="10096248" y="1955751"/>
            <a:ext cx="1143000" cy="254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F6FB0"/>
              </a:buClr>
              <a:buSzPts val="1350"/>
              <a:buFont typeface="Calibri"/>
              <a:buNone/>
            </a:pPr>
            <a:r>
              <a:rPr b="1" i="0" lang="en-US" sz="1350" u="none" cap="none" strike="noStrike">
                <a:solidFill>
                  <a:srgbClr val="2F6FB0"/>
                </a:solidFill>
                <a:latin typeface="Calibri"/>
                <a:ea typeface="Calibri"/>
                <a:cs typeface="Calibri"/>
                <a:sym typeface="Calibri"/>
              </a:rPr>
              <a:t>Funciona</a:t>
            </a:r>
            <a:endParaRPr b="0" i="0" sz="1350" u="none" cap="none" strike="noStrike">
              <a:solidFill>
                <a:schemeClr val="dk1"/>
              </a:solidFill>
              <a:latin typeface="Calibri"/>
              <a:ea typeface="Calibri"/>
              <a:cs typeface="Calibri"/>
              <a:sym typeface="Calibri"/>
            </a:endParaRPr>
          </a:p>
        </p:txBody>
      </p:sp>
      <p:sp>
        <p:nvSpPr>
          <p:cNvPr id="393" name="Google Shape;393;hb16857675266d5a_0_0"/>
          <p:cNvSpPr txBox="1"/>
          <p:nvPr/>
        </p:nvSpPr>
        <p:spPr>
          <a:xfrm>
            <a:off x="6070448" y="2463738"/>
            <a:ext cx="518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Simulación: amplitud 0,997 · fase 0,64 con la matriz a 75 mm</a:t>
            </a:r>
            <a:endParaRPr b="0" i="0" sz="1150" u="none" cap="none" strike="noStrike">
              <a:solidFill>
                <a:schemeClr val="dk1"/>
              </a:solidFill>
              <a:latin typeface="Calibri"/>
              <a:ea typeface="Calibri"/>
              <a:cs typeface="Calibri"/>
              <a:sym typeface="Calibri"/>
            </a:endParaRPr>
          </a:p>
        </p:txBody>
      </p:sp>
      <p:sp>
        <p:nvSpPr>
          <p:cNvPr id="394" name="Google Shape;394;hb16857675266d5a_0_0"/>
          <p:cNvSpPr txBox="1"/>
          <p:nvPr/>
        </p:nvSpPr>
        <p:spPr>
          <a:xfrm>
            <a:off x="6070448" y="2717732"/>
            <a:ext cx="5181600" cy="304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Fase 0,97 a 100 mm (más solapamiento). 1 = igual a la muestra inventada</a:t>
            </a:r>
            <a:endParaRPr b="0" i="0" sz="1100" u="none" cap="none" strike="noStrike">
              <a:solidFill>
                <a:schemeClr val="dk1"/>
              </a:solidFill>
              <a:latin typeface="Calibri"/>
              <a:ea typeface="Calibri"/>
              <a:cs typeface="Calibri"/>
              <a:sym typeface="Calibri"/>
            </a:endParaRPr>
          </a:p>
        </p:txBody>
      </p:sp>
      <p:sp>
        <p:nvSpPr>
          <p:cNvPr id="395" name="Google Shape;395;hb16857675266d5a_0_0"/>
          <p:cNvSpPr/>
          <p:nvPr/>
        </p:nvSpPr>
        <p:spPr>
          <a:xfrm>
            <a:off x="5892653" y="3124122"/>
            <a:ext cx="5486400" cy="1269900"/>
          </a:xfrm>
          <a:prstGeom prst="roundRect">
            <a:avLst>
              <a:gd fmla="val 8640"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hb16857675266d5a_0_0"/>
          <p:cNvSpPr/>
          <p:nvPr/>
        </p:nvSpPr>
        <p:spPr>
          <a:xfrm>
            <a:off x="5892653" y="3162221"/>
            <a:ext cx="57000" cy="1193700"/>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hb16857675266d5a_0_0"/>
          <p:cNvSpPr txBox="1"/>
          <p:nvPr/>
        </p:nvSpPr>
        <p:spPr>
          <a:xfrm>
            <a:off x="6070448" y="3225719"/>
            <a:ext cx="2541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mbria"/>
              <a:buNone/>
            </a:pPr>
            <a:r>
              <a:rPr b="1" i="0" lang="en-US" sz="1700" u="none" cap="none" strike="noStrike">
                <a:solidFill>
                  <a:srgbClr val="2F6FB0"/>
                </a:solidFill>
                <a:latin typeface="Cambria"/>
                <a:ea typeface="Cambria"/>
                <a:cs typeface="Cambria"/>
                <a:sym typeface="Cambria"/>
              </a:rPr>
              <a:t>2</a:t>
            </a:r>
            <a:endParaRPr b="0" i="0" sz="1700" u="none" cap="none" strike="noStrike">
              <a:solidFill>
                <a:schemeClr val="dk1"/>
              </a:solidFill>
              <a:latin typeface="Calibri"/>
              <a:ea typeface="Calibri"/>
              <a:cs typeface="Calibri"/>
              <a:sym typeface="Calibri"/>
            </a:endParaRPr>
          </a:p>
        </p:txBody>
      </p:sp>
      <p:sp>
        <p:nvSpPr>
          <p:cNvPr id="398" name="Google Shape;398;hb16857675266d5a_0_0"/>
          <p:cNvSpPr txBox="1"/>
          <p:nvPr/>
        </p:nvSpPr>
        <p:spPr>
          <a:xfrm>
            <a:off x="6324442" y="3238419"/>
            <a:ext cx="37464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¿Predice las fotos que no usó?</a:t>
            </a:r>
            <a:endParaRPr b="0" i="0" sz="1250" u="none" cap="none" strike="noStrike">
              <a:solidFill>
                <a:schemeClr val="dk1"/>
              </a:solidFill>
              <a:latin typeface="Calibri"/>
              <a:ea typeface="Calibri"/>
              <a:cs typeface="Calibri"/>
              <a:sym typeface="Calibri"/>
            </a:endParaRPr>
          </a:p>
        </p:txBody>
      </p:sp>
      <p:sp>
        <p:nvSpPr>
          <p:cNvPr id="399" name="Google Shape;399;hb16857675266d5a_0_0"/>
          <p:cNvSpPr txBox="1"/>
          <p:nvPr/>
        </p:nvSpPr>
        <p:spPr>
          <a:xfrm>
            <a:off x="10096248" y="3238419"/>
            <a:ext cx="1143000" cy="254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2F6FB0"/>
              </a:buClr>
              <a:buSzPts val="1350"/>
              <a:buFont typeface="Calibri"/>
              <a:buNone/>
            </a:pPr>
            <a:r>
              <a:rPr b="1" i="0" lang="en-US" sz="1350" u="none" cap="none" strike="noStrike">
                <a:solidFill>
                  <a:srgbClr val="2F6FB0"/>
                </a:solidFill>
                <a:latin typeface="Calibri"/>
                <a:ea typeface="Calibri"/>
                <a:cs typeface="Calibri"/>
                <a:sym typeface="Calibri"/>
              </a:rPr>
              <a:t>Pasa</a:t>
            </a:r>
            <a:endParaRPr b="0" i="0" sz="1350" u="none" cap="none" strike="noStrike">
              <a:solidFill>
                <a:schemeClr val="dk1"/>
              </a:solidFill>
              <a:latin typeface="Calibri"/>
              <a:ea typeface="Calibri"/>
              <a:cs typeface="Calibri"/>
              <a:sym typeface="Calibri"/>
            </a:endParaRPr>
          </a:p>
        </p:txBody>
      </p:sp>
      <p:sp>
        <p:nvSpPr>
          <p:cNvPr id="400" name="Google Shape;400;hb16857675266d5a_0_0"/>
          <p:cNvSpPr txBox="1"/>
          <p:nvPr/>
        </p:nvSpPr>
        <p:spPr>
          <a:xfrm>
            <a:off x="6070448" y="3746406"/>
            <a:ext cx="518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Error 0,46–0,62 (0 = perfecto; sin reconstruir: 0,98)</a:t>
            </a:r>
            <a:endParaRPr b="0" i="0" sz="1150" u="none" cap="none" strike="noStrike">
              <a:solidFill>
                <a:schemeClr val="dk1"/>
              </a:solidFill>
              <a:latin typeface="Calibri"/>
              <a:ea typeface="Calibri"/>
              <a:cs typeface="Calibri"/>
              <a:sym typeface="Calibri"/>
            </a:endParaRPr>
          </a:p>
        </p:txBody>
      </p:sp>
      <p:sp>
        <p:nvSpPr>
          <p:cNvPr id="401" name="Google Shape;401;hb16857675266d5a_0_0"/>
          <p:cNvSpPr txBox="1"/>
          <p:nvPr/>
        </p:nvSpPr>
        <p:spPr>
          <a:xfrm>
            <a:off x="6070448" y="4000400"/>
            <a:ext cx="5181600" cy="368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Se apartan LEDs, se reconstruye sin ellos y se compara la foto predicha con la medida</a:t>
            </a:r>
            <a:endParaRPr b="0" i="0" sz="1100" u="none" cap="none" strike="noStrike">
              <a:solidFill>
                <a:schemeClr val="dk1"/>
              </a:solidFill>
              <a:latin typeface="Calibri"/>
              <a:ea typeface="Calibri"/>
              <a:cs typeface="Calibri"/>
              <a:sym typeface="Calibri"/>
            </a:endParaRPr>
          </a:p>
        </p:txBody>
      </p:sp>
      <p:sp>
        <p:nvSpPr>
          <p:cNvPr id="402" name="Google Shape;402;hb16857675266d5a_0_0"/>
          <p:cNvSpPr/>
          <p:nvPr/>
        </p:nvSpPr>
        <p:spPr>
          <a:xfrm>
            <a:off x="5892653" y="4470288"/>
            <a:ext cx="5486400" cy="1333500"/>
          </a:xfrm>
          <a:prstGeom prst="roundRect">
            <a:avLst>
              <a:gd fmla="val 8229"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hb16857675266d5a_0_0"/>
          <p:cNvSpPr/>
          <p:nvPr/>
        </p:nvSpPr>
        <p:spPr>
          <a:xfrm>
            <a:off x="5892653" y="4508387"/>
            <a:ext cx="57000" cy="1257300"/>
          </a:xfrm>
          <a:prstGeom prst="rect">
            <a:avLst/>
          </a:prstGeom>
          <a:solidFill>
            <a:srgbClr val="D9692B"/>
          </a:solidFill>
          <a:ln cap="flat" cmpd="sng" w="1270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hb16857675266d5a_0_0"/>
          <p:cNvSpPr txBox="1"/>
          <p:nvPr/>
        </p:nvSpPr>
        <p:spPr>
          <a:xfrm>
            <a:off x="6070448" y="4571886"/>
            <a:ext cx="2541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1700"/>
              <a:buFont typeface="Cambria"/>
              <a:buNone/>
            </a:pPr>
            <a:r>
              <a:rPr b="1" i="0" lang="en-US" sz="1700" u="none" cap="none" strike="noStrike">
                <a:solidFill>
                  <a:srgbClr val="D9692B"/>
                </a:solidFill>
                <a:latin typeface="Cambria"/>
                <a:ea typeface="Cambria"/>
                <a:cs typeface="Cambria"/>
                <a:sym typeface="Cambria"/>
              </a:rPr>
              <a:t>3</a:t>
            </a:r>
            <a:endParaRPr b="0" i="0" sz="1700" u="none" cap="none" strike="noStrike">
              <a:solidFill>
                <a:schemeClr val="dk1"/>
              </a:solidFill>
              <a:latin typeface="Calibri"/>
              <a:ea typeface="Calibri"/>
              <a:cs typeface="Calibri"/>
              <a:sym typeface="Calibri"/>
            </a:endParaRPr>
          </a:p>
        </p:txBody>
      </p:sp>
      <p:sp>
        <p:nvSpPr>
          <p:cNvPr id="405" name="Google Shape;405;hb16857675266d5a_0_0"/>
          <p:cNvSpPr txBox="1"/>
          <p:nvPr/>
        </p:nvSpPr>
        <p:spPr>
          <a:xfrm>
            <a:off x="6324442" y="4584585"/>
            <a:ext cx="37464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250"/>
              <a:buFont typeface="Calibri"/>
              <a:buNone/>
            </a:pPr>
            <a:r>
              <a:rPr b="1" i="0" lang="en-US" sz="1250" u="none" cap="none" strike="noStrike">
                <a:solidFill>
                  <a:srgbClr val="14213D"/>
                </a:solidFill>
                <a:latin typeface="Calibri"/>
                <a:ea typeface="Calibri"/>
                <a:cs typeface="Calibri"/>
                <a:sym typeface="Calibri"/>
              </a:rPr>
              <a:t>¿Dos reconstrucciones independientes ven el mismo detalle fino?</a:t>
            </a:r>
            <a:endParaRPr b="0" i="0" sz="1250" u="none" cap="none" strike="noStrike">
              <a:solidFill>
                <a:schemeClr val="dk1"/>
              </a:solidFill>
              <a:latin typeface="Calibri"/>
              <a:ea typeface="Calibri"/>
              <a:cs typeface="Calibri"/>
              <a:sym typeface="Calibri"/>
            </a:endParaRPr>
          </a:p>
        </p:txBody>
      </p:sp>
      <p:sp>
        <p:nvSpPr>
          <p:cNvPr id="406" name="Google Shape;406;hb16857675266d5a_0_0"/>
          <p:cNvSpPr txBox="1"/>
          <p:nvPr/>
        </p:nvSpPr>
        <p:spPr>
          <a:xfrm>
            <a:off x="10096248" y="4584585"/>
            <a:ext cx="1143000" cy="254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D9692B"/>
              </a:buClr>
              <a:buSzPts val="1350"/>
              <a:buFont typeface="Calibri"/>
              <a:buNone/>
            </a:pPr>
            <a:r>
              <a:rPr b="1" i="0" lang="en-US" sz="1350" u="none" cap="none" strike="noStrike">
                <a:solidFill>
                  <a:srgbClr val="D9692B"/>
                </a:solidFill>
                <a:latin typeface="Calibri"/>
                <a:ea typeface="Calibri"/>
                <a:cs typeface="Calibri"/>
                <a:sym typeface="Calibri"/>
              </a:rPr>
              <a:t>No alcanza</a:t>
            </a:r>
            <a:endParaRPr b="0" i="0" sz="1350" u="none" cap="none" strike="noStrike">
              <a:solidFill>
                <a:schemeClr val="dk1"/>
              </a:solidFill>
              <a:latin typeface="Calibri"/>
              <a:ea typeface="Calibri"/>
              <a:cs typeface="Calibri"/>
              <a:sym typeface="Calibri"/>
            </a:endParaRPr>
          </a:p>
        </p:txBody>
      </p:sp>
      <p:sp>
        <p:nvSpPr>
          <p:cNvPr id="407" name="Google Shape;407;hb16857675266d5a_0_0"/>
          <p:cNvSpPr txBox="1"/>
          <p:nvPr/>
        </p:nvSpPr>
        <p:spPr>
          <a:xfrm>
            <a:off x="6070448" y="5092573"/>
            <a:ext cx="518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150"/>
              <a:buFont typeface="Calibri"/>
              <a:buNone/>
            </a:pPr>
            <a:r>
              <a:rPr b="0" i="0" lang="en-US" sz="1150" u="none" cap="none" strike="noStrike">
                <a:solidFill>
                  <a:srgbClr val="14213D"/>
                </a:solidFill>
                <a:latin typeface="Calibri"/>
                <a:ea typeface="Calibri"/>
                <a:cs typeface="Calibri"/>
                <a:sym typeface="Calibri"/>
              </a:rPr>
              <a:t>0,043–0,099 (1 = idénticas): de 5 a 14 veces el azar; umbral 0,143</a:t>
            </a:r>
            <a:endParaRPr b="0" i="0" sz="1150" u="none" cap="none" strike="noStrike">
              <a:solidFill>
                <a:schemeClr val="dk1"/>
              </a:solidFill>
              <a:latin typeface="Calibri"/>
              <a:ea typeface="Calibri"/>
              <a:cs typeface="Calibri"/>
              <a:sym typeface="Calibri"/>
            </a:endParaRPr>
          </a:p>
        </p:txBody>
      </p:sp>
      <p:sp>
        <p:nvSpPr>
          <p:cNvPr id="408" name="Google Shape;408;hb16857675266d5a_0_0"/>
          <p:cNvSpPr txBox="1"/>
          <p:nvPr/>
        </p:nvSpPr>
        <p:spPr>
          <a:xfrm>
            <a:off x="6070448" y="5346566"/>
            <a:ext cx="5181600" cy="431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100"/>
              <a:buFont typeface="Calibri"/>
              <a:buNone/>
            </a:pPr>
            <a:r>
              <a:rPr b="0" i="0" lang="en-US" sz="1100" u="none" cap="none" strike="noStrike">
                <a:solidFill>
                  <a:srgbClr val="6A7382"/>
                </a:solidFill>
                <a:latin typeface="Calibri"/>
                <a:ea typeface="Calibri"/>
                <a:cs typeface="Calibri"/>
                <a:sym typeface="Calibri"/>
              </a:rPr>
              <a:t>Cada una con la mitad de los LEDs; se compara el detalle más fino que el objetivo</a:t>
            </a:r>
            <a:endParaRPr b="0" i="0" sz="1100" u="none" cap="none" strike="noStrike">
              <a:solidFill>
                <a:schemeClr val="dk1"/>
              </a:solidFill>
              <a:latin typeface="Calibri"/>
              <a:ea typeface="Calibri"/>
              <a:cs typeface="Calibri"/>
              <a:sym typeface="Calibri"/>
            </a:endParaRPr>
          </a:p>
        </p:txBody>
      </p:sp>
      <p:sp>
        <p:nvSpPr>
          <p:cNvPr id="409" name="Google Shape;409;hb16857675266d5a_0_0"/>
          <p:cNvSpPr txBox="1"/>
          <p:nvPr/>
        </p:nvSpPr>
        <p:spPr>
          <a:xfrm>
            <a:off x="5892653" y="5905352"/>
            <a:ext cx="54864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50"/>
              <a:buFont typeface="Calibri"/>
              <a:buNone/>
            </a:pPr>
            <a:r>
              <a:rPr b="0" i="0" lang="en-US" sz="1250" u="none" cap="none" strike="noStrike">
                <a:solidFill>
                  <a:srgbClr val="6A7382"/>
                </a:solidFill>
                <a:latin typeface="Calibri"/>
                <a:ea typeface="Calibri"/>
                <a:cs typeface="Calibri"/>
                <a:sym typeface="Calibri"/>
              </a:rPr>
              <a:t>Criterios y umbrales escritos </a:t>
            </a:r>
            <a:r>
              <a:rPr b="1" i="0" lang="en-US" sz="1250" u="none" cap="none" strike="noStrike">
                <a:solidFill>
                  <a:srgbClr val="6A7382"/>
                </a:solidFill>
                <a:latin typeface="Calibri"/>
                <a:ea typeface="Calibri"/>
                <a:cs typeface="Calibri"/>
                <a:sym typeface="Calibri"/>
              </a:rPr>
              <a:t>antes</a:t>
            </a:r>
            <a:r>
              <a:rPr b="0" i="0" lang="en-US" sz="1250" u="none" cap="none" strike="noStrike">
                <a:solidFill>
                  <a:srgbClr val="6A7382"/>
                </a:solidFill>
                <a:latin typeface="Calibri"/>
                <a:ea typeface="Calibri"/>
                <a:cs typeface="Calibri"/>
                <a:sym typeface="Calibri"/>
              </a:rPr>
              <a:t> de mirar los datos reales.</a:t>
            </a:r>
            <a:endParaRPr b="0" i="0" sz="1250" u="none" cap="none" strike="noStrike">
              <a:solidFill>
                <a:schemeClr val="dk1"/>
              </a:solidFill>
              <a:latin typeface="Calibri"/>
              <a:ea typeface="Calibri"/>
              <a:cs typeface="Calibri"/>
              <a:sym typeface="Calibri"/>
            </a:endParaRPr>
          </a:p>
        </p:txBody>
      </p:sp>
      <p:sp>
        <p:nvSpPr>
          <p:cNvPr id="410" name="Google Shape;410;hb16857675266d5a_0_0"/>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4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415" name="Shape 415"/>
        <p:cNvGrpSpPr/>
        <p:nvPr/>
      </p:nvGrpSpPr>
      <p:grpSpPr>
        <a:xfrm>
          <a:off x="0" y="0"/>
          <a:ext cx="0" cy="0"/>
          <a:chOff x="0" y="0"/>
          <a:chExt cx="0" cy="0"/>
        </a:xfrm>
      </p:grpSpPr>
      <p:sp>
        <p:nvSpPr>
          <p:cNvPr id="416" name="Google Shape;416;p5"/>
          <p:cNvSpPr/>
          <p:nvPr/>
        </p:nvSpPr>
        <p:spPr>
          <a:xfrm>
            <a:off x="812780" y="711182"/>
            <a:ext cx="3873403" cy="330192"/>
          </a:xfrm>
          <a:prstGeom prst="roundRect">
            <a:avLst>
              <a:gd fmla="val 55386" name="adj"/>
            </a:avLst>
          </a:prstGeom>
          <a:solidFill>
            <a:srgbClr val="FBFBF8"/>
          </a:solidFill>
          <a:ln cap="flat" cmpd="sng" w="1905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
          <p:cNvSpPr txBox="1"/>
          <p:nvPr/>
        </p:nvSpPr>
        <p:spPr>
          <a:xfrm>
            <a:off x="812780" y="711182"/>
            <a:ext cx="3873403"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692B"/>
              </a:buClr>
              <a:buSzPts val="1300"/>
              <a:buFont typeface="Calibri"/>
              <a:buNone/>
            </a:pPr>
            <a:r>
              <a:rPr b="1" i="0" lang="en-US" sz="1300" u="none" cap="none" strike="noStrike">
                <a:solidFill>
                  <a:srgbClr val="D9692B"/>
                </a:solidFill>
                <a:latin typeface="Calibri"/>
                <a:ea typeface="Calibri"/>
                <a:cs typeface="Calibri"/>
                <a:sym typeface="Calibri"/>
              </a:rPr>
              <a:t>EXPERIENCIA / APRENDIZAJE</a:t>
            </a:r>
            <a:endParaRPr b="0" i="0" sz="1300" u="none" cap="none" strike="noStrike">
              <a:solidFill>
                <a:schemeClr val="dk1"/>
              </a:solidFill>
              <a:latin typeface="Calibri"/>
              <a:ea typeface="Calibri"/>
              <a:cs typeface="Calibri"/>
              <a:sym typeface="Calibri"/>
            </a:endParaRPr>
          </a:p>
        </p:txBody>
      </p:sp>
      <p:sp>
        <p:nvSpPr>
          <p:cNvPr id="418" name="Google Shape;418;p5"/>
          <p:cNvSpPr txBox="1"/>
          <p:nvPr/>
        </p:nvSpPr>
        <p:spPr>
          <a:xfrm>
            <a:off x="812780" y="1142971"/>
            <a:ext cx="10566136" cy="5714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Pasar todas las pruebas no alcanza</a:t>
            </a:r>
            <a:endParaRPr b="0" i="0" sz="3300" u="none" cap="none" strike="noStrike">
              <a:solidFill>
                <a:schemeClr val="dk1"/>
              </a:solidFill>
              <a:latin typeface="Calibri"/>
              <a:ea typeface="Calibri"/>
              <a:cs typeface="Calibri"/>
              <a:sym typeface="Calibri"/>
            </a:endParaRPr>
          </a:p>
        </p:txBody>
      </p:sp>
      <p:pic>
        <p:nvPicPr>
          <p:cNvPr descr="/home/chanoscopio/Documents/LucasC/reproducible-research-template/report/informe/img/fig_congelado.png" id="419" name="Google Shape;419;p5"/>
          <p:cNvPicPr preferRelativeResize="0"/>
          <p:nvPr/>
        </p:nvPicPr>
        <p:blipFill rotWithShape="1">
          <a:blip r:embed="rId3">
            <a:alphaModFix/>
          </a:blip>
          <a:srcRect b="0" l="0" r="0" t="0"/>
          <a:stretch/>
        </p:blipFill>
        <p:spPr>
          <a:xfrm>
            <a:off x="816684" y="1904948"/>
            <a:ext cx="10383924" cy="3920616"/>
          </a:xfrm>
          <a:prstGeom prst="rect">
            <a:avLst/>
          </a:prstGeom>
          <a:noFill/>
          <a:ln>
            <a:noFill/>
          </a:ln>
        </p:spPr>
      </p:pic>
      <p:sp>
        <p:nvSpPr>
          <p:cNvPr id="420" name="Google Shape;420;p5"/>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5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425" name="Shape 425"/>
        <p:cNvGrpSpPr/>
        <p:nvPr/>
      </p:nvGrpSpPr>
      <p:grpSpPr>
        <a:xfrm>
          <a:off x="0" y="0"/>
          <a:ext cx="0" cy="0"/>
          <a:chOff x="0" y="0"/>
          <a:chExt cx="0" cy="0"/>
        </a:xfrm>
      </p:grpSpPr>
      <p:sp>
        <p:nvSpPr>
          <p:cNvPr id="426" name="Google Shape;426;hb16857675266d5a_0_145"/>
          <p:cNvSpPr/>
          <p:nvPr/>
        </p:nvSpPr>
        <p:spPr>
          <a:xfrm>
            <a:off x="812780" y="711182"/>
            <a:ext cx="3873300" cy="330300"/>
          </a:xfrm>
          <a:prstGeom prst="roundRect">
            <a:avLst>
              <a:gd fmla="val 55386" name="adj"/>
            </a:avLst>
          </a:prstGeom>
          <a:solidFill>
            <a:srgbClr val="FBFBF8"/>
          </a:solidFill>
          <a:ln cap="flat" cmpd="sng" w="1905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hb16857675266d5a_0_145"/>
          <p:cNvSpPr txBox="1"/>
          <p:nvPr/>
        </p:nvSpPr>
        <p:spPr>
          <a:xfrm>
            <a:off x="812780" y="711182"/>
            <a:ext cx="38733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692B"/>
              </a:buClr>
              <a:buSzPts val="1300"/>
              <a:buFont typeface="Calibri"/>
              <a:buNone/>
            </a:pPr>
            <a:r>
              <a:rPr b="1" i="0" lang="en-US" sz="1300" u="none" cap="none" strike="noStrike">
                <a:solidFill>
                  <a:srgbClr val="D9692B"/>
                </a:solidFill>
                <a:latin typeface="Calibri"/>
                <a:ea typeface="Calibri"/>
                <a:cs typeface="Calibri"/>
                <a:sym typeface="Calibri"/>
              </a:rPr>
              <a:t>EXPERIENCIA / APRENDIZAJE</a:t>
            </a:r>
            <a:endParaRPr b="0" i="0" sz="1300" u="none" cap="none" strike="noStrike">
              <a:solidFill>
                <a:schemeClr val="dk1"/>
              </a:solidFill>
              <a:latin typeface="Calibri"/>
              <a:ea typeface="Calibri"/>
              <a:cs typeface="Calibri"/>
              <a:sym typeface="Calibri"/>
            </a:endParaRPr>
          </a:p>
        </p:txBody>
      </p:sp>
      <p:sp>
        <p:nvSpPr>
          <p:cNvPr id="428" name="Google Shape;428;hb16857675266d5a_0_145"/>
          <p:cNvSpPr txBox="1"/>
          <p:nvPr/>
        </p:nvSpPr>
        <p:spPr>
          <a:xfrm>
            <a:off x="812780" y="1142971"/>
            <a:ext cx="10566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Pasar todas las pruebas no alcanza</a:t>
            </a:r>
            <a:endParaRPr b="0" i="0" sz="3300" u="none" cap="none" strike="noStrike">
              <a:solidFill>
                <a:schemeClr val="dk1"/>
              </a:solidFill>
              <a:latin typeface="Calibri"/>
              <a:ea typeface="Calibri"/>
              <a:cs typeface="Calibri"/>
              <a:sym typeface="Calibri"/>
            </a:endParaRPr>
          </a:p>
        </p:txBody>
      </p:sp>
      <p:pic>
        <p:nvPicPr>
          <p:cNvPr descr="/home/chanoscopio/Documents/LucasC/reproducible-research-template/report/informe/img/fig_congelado.png" id="429" name="Google Shape;429;hb16857675266d5a_0_145"/>
          <p:cNvPicPr preferRelativeResize="0"/>
          <p:nvPr/>
        </p:nvPicPr>
        <p:blipFill rotWithShape="1">
          <a:blip r:embed="rId3">
            <a:alphaModFix/>
          </a:blip>
          <a:srcRect b="0" l="0" r="0" t="0"/>
          <a:stretch/>
        </p:blipFill>
        <p:spPr>
          <a:xfrm>
            <a:off x="816667" y="1904952"/>
            <a:ext cx="4818103" cy="1819152"/>
          </a:xfrm>
          <a:prstGeom prst="rect">
            <a:avLst/>
          </a:prstGeom>
          <a:noFill/>
          <a:ln>
            <a:noFill/>
          </a:ln>
        </p:spPr>
      </p:pic>
      <p:sp>
        <p:nvSpPr>
          <p:cNvPr id="430" name="Google Shape;430;hb16857675266d5a_0_145"/>
          <p:cNvSpPr txBox="1"/>
          <p:nvPr/>
        </p:nvSpPr>
        <p:spPr>
          <a:xfrm>
            <a:off x="5918052" y="1841454"/>
            <a:ext cx="54609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El programa mejora la imagen de a poco: compara las fotos que predice con las medidas y la corrige un poco en cada vuelta.</a:t>
            </a:r>
            <a:endParaRPr b="0" i="0" sz="1350" u="none" cap="none" strike="noStrike">
              <a:solidFill>
                <a:schemeClr val="dk1"/>
              </a:solidFill>
              <a:latin typeface="Calibri"/>
              <a:ea typeface="Calibri"/>
              <a:cs typeface="Calibri"/>
              <a:sym typeface="Calibri"/>
            </a:endParaRPr>
          </a:p>
        </p:txBody>
      </p:sp>
      <p:sp>
        <p:nvSpPr>
          <p:cNvPr id="431" name="Google Shape;431;hb16857675266d5a_0_145"/>
          <p:cNvSpPr txBox="1"/>
          <p:nvPr/>
        </p:nvSpPr>
        <p:spPr>
          <a:xfrm>
            <a:off x="5918052" y="2444689"/>
            <a:ext cx="54609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Esas correcciones eran </a:t>
            </a:r>
            <a:r>
              <a:rPr b="1" i="0" lang="en-US" sz="1350" u="none" cap="none" strike="noStrike">
                <a:solidFill>
                  <a:srgbClr val="3D4A5C"/>
                </a:solidFill>
                <a:latin typeface="Calibri"/>
                <a:ea typeface="Calibri"/>
                <a:cs typeface="Calibri"/>
                <a:sym typeface="Calibri"/>
              </a:rPr>
              <a:t>~8.000 veces</a:t>
            </a:r>
            <a:r>
              <a:rPr b="0" i="0" lang="en-US" sz="1350" u="none" cap="none" strike="noStrike">
                <a:solidFill>
                  <a:srgbClr val="3D4A5C"/>
                </a:solidFill>
                <a:latin typeface="Calibri"/>
                <a:ea typeface="Calibri"/>
                <a:cs typeface="Calibri"/>
                <a:sym typeface="Calibri"/>
              </a:rPr>
              <a:t> más chicas de lo debido: después de cientos de vueltas devolvía casi la foto original, </a:t>
            </a:r>
            <a:r>
              <a:rPr b="1" i="0" lang="en-US" sz="1350" u="none" cap="none" strike="noStrike">
                <a:solidFill>
                  <a:srgbClr val="3D4A5C"/>
                </a:solidFill>
                <a:latin typeface="Calibri"/>
                <a:ea typeface="Calibri"/>
                <a:cs typeface="Calibri"/>
                <a:sym typeface="Calibri"/>
              </a:rPr>
              <a:t>y aun así pasaba cientos de pruebas</a:t>
            </a:r>
            <a:r>
              <a:rPr b="0" i="0" lang="en-US" sz="1350" u="none" cap="none" strike="noStrike">
                <a:solidFill>
                  <a:srgbClr val="3D4A5C"/>
                </a:solidFill>
                <a:latin typeface="Calibri"/>
                <a:ea typeface="Calibri"/>
                <a:cs typeface="Calibri"/>
                <a:sym typeface="Calibri"/>
              </a:rPr>
              <a:t>, hechas con imágenes chiquitas (16–32 píxeles).</a:t>
            </a:r>
            <a:endParaRPr b="0" i="0" sz="1350" u="none" cap="none" strike="noStrike">
              <a:solidFill>
                <a:schemeClr val="dk1"/>
              </a:solidFill>
              <a:latin typeface="Calibri"/>
              <a:ea typeface="Calibri"/>
              <a:cs typeface="Calibri"/>
              <a:sym typeface="Calibri"/>
            </a:endParaRPr>
          </a:p>
        </p:txBody>
      </p:sp>
      <p:sp>
        <p:nvSpPr>
          <p:cNvPr id="432" name="Google Shape;432;hb16857675266d5a_0_145"/>
          <p:cNvSpPr txBox="1"/>
          <p:nvPr/>
        </p:nvSpPr>
        <p:spPr>
          <a:xfrm>
            <a:off x="5918052" y="3301917"/>
            <a:ext cx="54609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Lo encontró un agente que investigaba otra cosa. Los agentes también se equivocaron: supusieron mal el hardware.</a:t>
            </a:r>
            <a:endParaRPr b="0" i="0" sz="1350" u="none" cap="none" strike="noStrike">
              <a:solidFill>
                <a:schemeClr val="dk1"/>
              </a:solidFill>
              <a:latin typeface="Calibri"/>
              <a:ea typeface="Calibri"/>
              <a:cs typeface="Calibri"/>
              <a:sym typeface="Calibri"/>
            </a:endParaRPr>
          </a:p>
        </p:txBody>
      </p:sp>
      <p:sp>
        <p:nvSpPr>
          <p:cNvPr id="433" name="Google Shape;433;hb16857675266d5a_0_145"/>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5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438" name="Shape 438"/>
        <p:cNvGrpSpPr/>
        <p:nvPr/>
      </p:nvGrpSpPr>
      <p:grpSpPr>
        <a:xfrm>
          <a:off x="0" y="0"/>
          <a:ext cx="0" cy="0"/>
          <a:chOff x="0" y="0"/>
          <a:chExt cx="0" cy="0"/>
        </a:xfrm>
      </p:grpSpPr>
      <p:sp>
        <p:nvSpPr>
          <p:cNvPr id="439" name="Google Shape;439;hb16857675266d5a_0_117"/>
          <p:cNvSpPr/>
          <p:nvPr/>
        </p:nvSpPr>
        <p:spPr>
          <a:xfrm>
            <a:off x="812780" y="711182"/>
            <a:ext cx="3873300" cy="330300"/>
          </a:xfrm>
          <a:prstGeom prst="roundRect">
            <a:avLst>
              <a:gd fmla="val 55386" name="adj"/>
            </a:avLst>
          </a:prstGeom>
          <a:solidFill>
            <a:srgbClr val="FBFBF8"/>
          </a:solidFill>
          <a:ln cap="flat" cmpd="sng" w="1905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hb16857675266d5a_0_117"/>
          <p:cNvSpPr txBox="1"/>
          <p:nvPr/>
        </p:nvSpPr>
        <p:spPr>
          <a:xfrm>
            <a:off x="812780" y="711182"/>
            <a:ext cx="38733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692B"/>
              </a:buClr>
              <a:buSzPts val="1300"/>
              <a:buFont typeface="Calibri"/>
              <a:buNone/>
            </a:pPr>
            <a:r>
              <a:rPr b="1" i="0" lang="en-US" sz="1300" u="none" cap="none" strike="noStrike">
                <a:solidFill>
                  <a:srgbClr val="D9692B"/>
                </a:solidFill>
                <a:latin typeface="Calibri"/>
                <a:ea typeface="Calibri"/>
                <a:cs typeface="Calibri"/>
                <a:sym typeface="Calibri"/>
              </a:rPr>
              <a:t>EXPERIENCIA / APRENDIZAJE</a:t>
            </a:r>
            <a:endParaRPr b="0" i="0" sz="1300" u="none" cap="none" strike="noStrike">
              <a:solidFill>
                <a:schemeClr val="dk1"/>
              </a:solidFill>
              <a:latin typeface="Calibri"/>
              <a:ea typeface="Calibri"/>
              <a:cs typeface="Calibri"/>
              <a:sym typeface="Calibri"/>
            </a:endParaRPr>
          </a:p>
        </p:txBody>
      </p:sp>
      <p:sp>
        <p:nvSpPr>
          <p:cNvPr id="441" name="Google Shape;441;hb16857675266d5a_0_117"/>
          <p:cNvSpPr txBox="1"/>
          <p:nvPr/>
        </p:nvSpPr>
        <p:spPr>
          <a:xfrm>
            <a:off x="812780" y="1142971"/>
            <a:ext cx="10566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Pasar todas las pruebas no alcanza</a:t>
            </a:r>
            <a:endParaRPr b="0" i="0" sz="3300" u="none" cap="none" strike="noStrike">
              <a:solidFill>
                <a:schemeClr val="dk1"/>
              </a:solidFill>
              <a:latin typeface="Calibri"/>
              <a:ea typeface="Calibri"/>
              <a:cs typeface="Calibri"/>
              <a:sym typeface="Calibri"/>
            </a:endParaRPr>
          </a:p>
        </p:txBody>
      </p:sp>
      <p:pic>
        <p:nvPicPr>
          <p:cNvPr descr="/home/chanoscopio/Documents/LucasC/reproducible-research-template/report/informe/img/fig_congelado.png" id="442" name="Google Shape;442;hb16857675266d5a_0_117"/>
          <p:cNvPicPr preferRelativeResize="0"/>
          <p:nvPr/>
        </p:nvPicPr>
        <p:blipFill rotWithShape="1">
          <a:blip r:embed="rId3">
            <a:alphaModFix/>
          </a:blip>
          <a:srcRect b="0" l="0" r="0" t="0"/>
          <a:stretch/>
        </p:blipFill>
        <p:spPr>
          <a:xfrm>
            <a:off x="816667" y="1904952"/>
            <a:ext cx="4818103" cy="1819152"/>
          </a:xfrm>
          <a:prstGeom prst="rect">
            <a:avLst/>
          </a:prstGeom>
          <a:noFill/>
          <a:ln>
            <a:noFill/>
          </a:ln>
        </p:spPr>
      </p:pic>
      <p:sp>
        <p:nvSpPr>
          <p:cNvPr id="443" name="Google Shape;443;hb16857675266d5a_0_117"/>
          <p:cNvSpPr txBox="1"/>
          <p:nvPr/>
        </p:nvSpPr>
        <p:spPr>
          <a:xfrm>
            <a:off x="5918052" y="1841454"/>
            <a:ext cx="54609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El programa mejora la imagen de a poco: compara las fotos que predice con las medidas y la corrige un poco en cada vuelta.</a:t>
            </a:r>
            <a:endParaRPr b="0" i="0" sz="1350" u="none" cap="none" strike="noStrike">
              <a:solidFill>
                <a:schemeClr val="dk1"/>
              </a:solidFill>
              <a:latin typeface="Calibri"/>
              <a:ea typeface="Calibri"/>
              <a:cs typeface="Calibri"/>
              <a:sym typeface="Calibri"/>
            </a:endParaRPr>
          </a:p>
        </p:txBody>
      </p:sp>
      <p:sp>
        <p:nvSpPr>
          <p:cNvPr id="444" name="Google Shape;444;hb16857675266d5a_0_117"/>
          <p:cNvSpPr txBox="1"/>
          <p:nvPr/>
        </p:nvSpPr>
        <p:spPr>
          <a:xfrm>
            <a:off x="5918052" y="2444689"/>
            <a:ext cx="54609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Esas correcciones eran </a:t>
            </a:r>
            <a:r>
              <a:rPr b="1" i="0" lang="en-US" sz="1350" u="none" cap="none" strike="noStrike">
                <a:solidFill>
                  <a:srgbClr val="3D4A5C"/>
                </a:solidFill>
                <a:latin typeface="Calibri"/>
                <a:ea typeface="Calibri"/>
                <a:cs typeface="Calibri"/>
                <a:sym typeface="Calibri"/>
              </a:rPr>
              <a:t>~8.000 veces</a:t>
            </a:r>
            <a:r>
              <a:rPr b="0" i="0" lang="en-US" sz="1350" u="none" cap="none" strike="noStrike">
                <a:solidFill>
                  <a:srgbClr val="3D4A5C"/>
                </a:solidFill>
                <a:latin typeface="Calibri"/>
                <a:ea typeface="Calibri"/>
                <a:cs typeface="Calibri"/>
                <a:sym typeface="Calibri"/>
              </a:rPr>
              <a:t> más chicas de lo debido: después de cientos de vueltas devolvía casi la foto original, </a:t>
            </a:r>
            <a:r>
              <a:rPr b="1" i="0" lang="en-US" sz="1350" u="none" cap="none" strike="noStrike">
                <a:solidFill>
                  <a:srgbClr val="3D4A5C"/>
                </a:solidFill>
                <a:latin typeface="Calibri"/>
                <a:ea typeface="Calibri"/>
                <a:cs typeface="Calibri"/>
                <a:sym typeface="Calibri"/>
              </a:rPr>
              <a:t>y aun así pasaba cientos de pruebas</a:t>
            </a:r>
            <a:r>
              <a:rPr b="0" i="0" lang="en-US" sz="1350" u="none" cap="none" strike="noStrike">
                <a:solidFill>
                  <a:srgbClr val="3D4A5C"/>
                </a:solidFill>
                <a:latin typeface="Calibri"/>
                <a:ea typeface="Calibri"/>
                <a:cs typeface="Calibri"/>
                <a:sym typeface="Calibri"/>
              </a:rPr>
              <a:t>, hechas con imágenes chiquitas (16–32 píxeles).</a:t>
            </a:r>
            <a:endParaRPr b="0" i="0" sz="1350" u="none" cap="none" strike="noStrike">
              <a:solidFill>
                <a:schemeClr val="dk1"/>
              </a:solidFill>
              <a:latin typeface="Calibri"/>
              <a:ea typeface="Calibri"/>
              <a:cs typeface="Calibri"/>
              <a:sym typeface="Calibri"/>
            </a:endParaRPr>
          </a:p>
        </p:txBody>
      </p:sp>
      <p:sp>
        <p:nvSpPr>
          <p:cNvPr id="445" name="Google Shape;445;hb16857675266d5a_0_117"/>
          <p:cNvSpPr txBox="1"/>
          <p:nvPr/>
        </p:nvSpPr>
        <p:spPr>
          <a:xfrm>
            <a:off x="5918052" y="3301917"/>
            <a:ext cx="54609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Lo encontró un agente que investigaba otra cosa. Los agentes también se equivocaron: supusieron mal el hardware.</a:t>
            </a:r>
            <a:endParaRPr b="0" i="0" sz="1350" u="none" cap="none" strike="noStrike">
              <a:solidFill>
                <a:schemeClr val="dk1"/>
              </a:solidFill>
              <a:latin typeface="Calibri"/>
              <a:ea typeface="Calibri"/>
              <a:cs typeface="Calibri"/>
              <a:sym typeface="Calibri"/>
            </a:endParaRPr>
          </a:p>
        </p:txBody>
      </p:sp>
      <p:sp>
        <p:nvSpPr>
          <p:cNvPr id="446" name="Google Shape;446;hb16857675266d5a_0_117"/>
          <p:cNvSpPr/>
          <p:nvPr/>
        </p:nvSpPr>
        <p:spPr>
          <a:xfrm>
            <a:off x="812780" y="4063898"/>
            <a:ext cx="2546400" cy="15876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hb16857675266d5a_0_117"/>
          <p:cNvSpPr txBox="1"/>
          <p:nvPr/>
        </p:nvSpPr>
        <p:spPr>
          <a:xfrm>
            <a:off x="977876" y="4203595"/>
            <a:ext cx="3810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2200"/>
              <a:buFont typeface="Cambria"/>
              <a:buNone/>
            </a:pPr>
            <a:r>
              <a:rPr b="1" i="0" lang="en-US" sz="2200" u="none" cap="none" strike="noStrike">
                <a:solidFill>
                  <a:srgbClr val="D9692B"/>
                </a:solidFill>
                <a:latin typeface="Cambria"/>
                <a:ea typeface="Cambria"/>
                <a:cs typeface="Cambria"/>
                <a:sym typeface="Cambria"/>
              </a:rPr>
              <a:t>1</a:t>
            </a:r>
            <a:endParaRPr b="0" i="0" sz="2200" u="none" cap="none" strike="noStrike">
              <a:solidFill>
                <a:schemeClr val="dk1"/>
              </a:solidFill>
              <a:latin typeface="Calibri"/>
              <a:ea typeface="Calibri"/>
              <a:cs typeface="Calibri"/>
              <a:sym typeface="Calibri"/>
            </a:endParaRPr>
          </a:p>
        </p:txBody>
      </p:sp>
      <p:sp>
        <p:nvSpPr>
          <p:cNvPr id="448" name="Google Shape;448;hb16857675266d5a_0_117"/>
          <p:cNvSpPr txBox="1"/>
          <p:nvPr/>
        </p:nvSpPr>
        <p:spPr>
          <a:xfrm>
            <a:off x="977876" y="4584585"/>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Probar con datos reales</a:t>
            </a:r>
            <a:endParaRPr b="0" i="0" sz="1400" u="none" cap="none" strike="noStrike">
              <a:solidFill>
                <a:schemeClr val="dk1"/>
              </a:solidFill>
              <a:latin typeface="Calibri"/>
              <a:ea typeface="Calibri"/>
              <a:cs typeface="Calibri"/>
              <a:sym typeface="Calibri"/>
            </a:endParaRPr>
          </a:p>
        </p:txBody>
      </p:sp>
      <p:sp>
        <p:nvSpPr>
          <p:cNvPr id="449" name="Google Shape;449;hb16857675266d5a_0_117"/>
          <p:cNvSpPr txBox="1"/>
          <p:nvPr/>
        </p:nvSpPr>
        <p:spPr>
          <a:xfrm>
            <a:off x="977876" y="5079873"/>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Del tamaño y el tipo reales, no solo casos chicos</a:t>
            </a:r>
            <a:endParaRPr b="0" i="0" sz="1200" u="none" cap="none" strike="noStrike">
              <a:solidFill>
                <a:schemeClr val="dk1"/>
              </a:solidFill>
              <a:latin typeface="Calibri"/>
              <a:ea typeface="Calibri"/>
              <a:cs typeface="Calibri"/>
              <a:sym typeface="Calibri"/>
            </a:endParaRPr>
          </a:p>
        </p:txBody>
      </p:sp>
      <p:sp>
        <p:nvSpPr>
          <p:cNvPr id="450" name="Google Shape;450;hb16857675266d5a_0_117"/>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5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455" name="Shape 455"/>
        <p:cNvGrpSpPr/>
        <p:nvPr/>
      </p:nvGrpSpPr>
      <p:grpSpPr>
        <a:xfrm>
          <a:off x="0" y="0"/>
          <a:ext cx="0" cy="0"/>
          <a:chOff x="0" y="0"/>
          <a:chExt cx="0" cy="0"/>
        </a:xfrm>
      </p:grpSpPr>
      <p:sp>
        <p:nvSpPr>
          <p:cNvPr id="456" name="Google Shape;456;hb16857675266d5a_0_89"/>
          <p:cNvSpPr/>
          <p:nvPr/>
        </p:nvSpPr>
        <p:spPr>
          <a:xfrm>
            <a:off x="812780" y="711182"/>
            <a:ext cx="3873300" cy="330300"/>
          </a:xfrm>
          <a:prstGeom prst="roundRect">
            <a:avLst>
              <a:gd fmla="val 55386" name="adj"/>
            </a:avLst>
          </a:prstGeom>
          <a:solidFill>
            <a:srgbClr val="FBFBF8"/>
          </a:solidFill>
          <a:ln cap="flat" cmpd="sng" w="1905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hb16857675266d5a_0_89"/>
          <p:cNvSpPr txBox="1"/>
          <p:nvPr/>
        </p:nvSpPr>
        <p:spPr>
          <a:xfrm>
            <a:off x="812780" y="711182"/>
            <a:ext cx="38733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692B"/>
              </a:buClr>
              <a:buSzPts val="1300"/>
              <a:buFont typeface="Calibri"/>
              <a:buNone/>
            </a:pPr>
            <a:r>
              <a:rPr b="1" i="0" lang="en-US" sz="1300" u="none" cap="none" strike="noStrike">
                <a:solidFill>
                  <a:srgbClr val="D9692B"/>
                </a:solidFill>
                <a:latin typeface="Calibri"/>
                <a:ea typeface="Calibri"/>
                <a:cs typeface="Calibri"/>
                <a:sym typeface="Calibri"/>
              </a:rPr>
              <a:t>EXPERIENCIA / APRENDIZAJE</a:t>
            </a:r>
            <a:endParaRPr b="0" i="0" sz="1300" u="none" cap="none" strike="noStrike">
              <a:solidFill>
                <a:schemeClr val="dk1"/>
              </a:solidFill>
              <a:latin typeface="Calibri"/>
              <a:ea typeface="Calibri"/>
              <a:cs typeface="Calibri"/>
              <a:sym typeface="Calibri"/>
            </a:endParaRPr>
          </a:p>
        </p:txBody>
      </p:sp>
      <p:sp>
        <p:nvSpPr>
          <p:cNvPr id="458" name="Google Shape;458;hb16857675266d5a_0_89"/>
          <p:cNvSpPr txBox="1"/>
          <p:nvPr/>
        </p:nvSpPr>
        <p:spPr>
          <a:xfrm>
            <a:off x="812780" y="1142971"/>
            <a:ext cx="10566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Pasar todas las pruebas no alcanza</a:t>
            </a:r>
            <a:endParaRPr b="0" i="0" sz="3300" u="none" cap="none" strike="noStrike">
              <a:solidFill>
                <a:schemeClr val="dk1"/>
              </a:solidFill>
              <a:latin typeface="Calibri"/>
              <a:ea typeface="Calibri"/>
              <a:cs typeface="Calibri"/>
              <a:sym typeface="Calibri"/>
            </a:endParaRPr>
          </a:p>
        </p:txBody>
      </p:sp>
      <p:pic>
        <p:nvPicPr>
          <p:cNvPr descr="/home/chanoscopio/Documents/LucasC/reproducible-research-template/report/informe/img/fig_congelado.png" id="459" name="Google Shape;459;hb16857675266d5a_0_89"/>
          <p:cNvPicPr preferRelativeResize="0"/>
          <p:nvPr/>
        </p:nvPicPr>
        <p:blipFill rotWithShape="1">
          <a:blip r:embed="rId3">
            <a:alphaModFix/>
          </a:blip>
          <a:srcRect b="0" l="0" r="0" t="0"/>
          <a:stretch/>
        </p:blipFill>
        <p:spPr>
          <a:xfrm>
            <a:off x="816667" y="1904952"/>
            <a:ext cx="4818103" cy="1819152"/>
          </a:xfrm>
          <a:prstGeom prst="rect">
            <a:avLst/>
          </a:prstGeom>
          <a:noFill/>
          <a:ln>
            <a:noFill/>
          </a:ln>
        </p:spPr>
      </p:pic>
      <p:sp>
        <p:nvSpPr>
          <p:cNvPr id="460" name="Google Shape;460;hb16857675266d5a_0_89"/>
          <p:cNvSpPr txBox="1"/>
          <p:nvPr/>
        </p:nvSpPr>
        <p:spPr>
          <a:xfrm>
            <a:off x="5918052" y="1841454"/>
            <a:ext cx="54609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El programa mejora la imagen de a poco: compara las fotos que predice con las medidas y la corrige un poco en cada vuelta.</a:t>
            </a:r>
            <a:endParaRPr b="0" i="0" sz="1350" u="none" cap="none" strike="noStrike">
              <a:solidFill>
                <a:schemeClr val="dk1"/>
              </a:solidFill>
              <a:latin typeface="Calibri"/>
              <a:ea typeface="Calibri"/>
              <a:cs typeface="Calibri"/>
              <a:sym typeface="Calibri"/>
            </a:endParaRPr>
          </a:p>
        </p:txBody>
      </p:sp>
      <p:sp>
        <p:nvSpPr>
          <p:cNvPr id="461" name="Google Shape;461;hb16857675266d5a_0_89"/>
          <p:cNvSpPr txBox="1"/>
          <p:nvPr/>
        </p:nvSpPr>
        <p:spPr>
          <a:xfrm>
            <a:off x="5918052" y="2444689"/>
            <a:ext cx="54609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Esas correcciones eran </a:t>
            </a:r>
            <a:r>
              <a:rPr b="1" i="0" lang="en-US" sz="1350" u="none" cap="none" strike="noStrike">
                <a:solidFill>
                  <a:srgbClr val="3D4A5C"/>
                </a:solidFill>
                <a:latin typeface="Calibri"/>
                <a:ea typeface="Calibri"/>
                <a:cs typeface="Calibri"/>
                <a:sym typeface="Calibri"/>
              </a:rPr>
              <a:t>~8.000 veces</a:t>
            </a:r>
            <a:r>
              <a:rPr b="0" i="0" lang="en-US" sz="1350" u="none" cap="none" strike="noStrike">
                <a:solidFill>
                  <a:srgbClr val="3D4A5C"/>
                </a:solidFill>
                <a:latin typeface="Calibri"/>
                <a:ea typeface="Calibri"/>
                <a:cs typeface="Calibri"/>
                <a:sym typeface="Calibri"/>
              </a:rPr>
              <a:t> más chicas de lo debido: después de cientos de vueltas devolvía casi la foto original, </a:t>
            </a:r>
            <a:r>
              <a:rPr b="1" i="0" lang="en-US" sz="1350" u="none" cap="none" strike="noStrike">
                <a:solidFill>
                  <a:srgbClr val="3D4A5C"/>
                </a:solidFill>
                <a:latin typeface="Calibri"/>
                <a:ea typeface="Calibri"/>
                <a:cs typeface="Calibri"/>
                <a:sym typeface="Calibri"/>
              </a:rPr>
              <a:t>y aun así pasaba cientos de pruebas</a:t>
            </a:r>
            <a:r>
              <a:rPr b="0" i="0" lang="en-US" sz="1350" u="none" cap="none" strike="noStrike">
                <a:solidFill>
                  <a:srgbClr val="3D4A5C"/>
                </a:solidFill>
                <a:latin typeface="Calibri"/>
                <a:ea typeface="Calibri"/>
                <a:cs typeface="Calibri"/>
                <a:sym typeface="Calibri"/>
              </a:rPr>
              <a:t>, hechas con imágenes chiquitas (16–32 píxeles).</a:t>
            </a:r>
            <a:endParaRPr b="0" i="0" sz="1350" u="none" cap="none" strike="noStrike">
              <a:solidFill>
                <a:schemeClr val="dk1"/>
              </a:solidFill>
              <a:latin typeface="Calibri"/>
              <a:ea typeface="Calibri"/>
              <a:cs typeface="Calibri"/>
              <a:sym typeface="Calibri"/>
            </a:endParaRPr>
          </a:p>
        </p:txBody>
      </p:sp>
      <p:sp>
        <p:nvSpPr>
          <p:cNvPr id="462" name="Google Shape;462;hb16857675266d5a_0_89"/>
          <p:cNvSpPr txBox="1"/>
          <p:nvPr/>
        </p:nvSpPr>
        <p:spPr>
          <a:xfrm>
            <a:off x="5918052" y="3301917"/>
            <a:ext cx="54609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Lo encontró un agente que investigaba otra cosa. Los agentes también se equivocaron: supusieron mal el hardware.</a:t>
            </a:r>
            <a:endParaRPr b="0" i="0" sz="1350" u="none" cap="none" strike="noStrike">
              <a:solidFill>
                <a:schemeClr val="dk1"/>
              </a:solidFill>
              <a:latin typeface="Calibri"/>
              <a:ea typeface="Calibri"/>
              <a:cs typeface="Calibri"/>
              <a:sym typeface="Calibri"/>
            </a:endParaRPr>
          </a:p>
        </p:txBody>
      </p:sp>
      <p:sp>
        <p:nvSpPr>
          <p:cNvPr id="463" name="Google Shape;463;hb16857675266d5a_0_89"/>
          <p:cNvSpPr/>
          <p:nvPr/>
        </p:nvSpPr>
        <p:spPr>
          <a:xfrm>
            <a:off x="812780" y="4063898"/>
            <a:ext cx="2546400" cy="15876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hb16857675266d5a_0_89"/>
          <p:cNvSpPr txBox="1"/>
          <p:nvPr/>
        </p:nvSpPr>
        <p:spPr>
          <a:xfrm>
            <a:off x="977876" y="4203595"/>
            <a:ext cx="3810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2200"/>
              <a:buFont typeface="Cambria"/>
              <a:buNone/>
            </a:pPr>
            <a:r>
              <a:rPr b="1" i="0" lang="en-US" sz="2200" u="none" cap="none" strike="noStrike">
                <a:solidFill>
                  <a:srgbClr val="D9692B"/>
                </a:solidFill>
                <a:latin typeface="Cambria"/>
                <a:ea typeface="Cambria"/>
                <a:cs typeface="Cambria"/>
                <a:sym typeface="Cambria"/>
              </a:rPr>
              <a:t>1</a:t>
            </a:r>
            <a:endParaRPr b="0" i="0" sz="2200" u="none" cap="none" strike="noStrike">
              <a:solidFill>
                <a:schemeClr val="dk1"/>
              </a:solidFill>
              <a:latin typeface="Calibri"/>
              <a:ea typeface="Calibri"/>
              <a:cs typeface="Calibri"/>
              <a:sym typeface="Calibri"/>
            </a:endParaRPr>
          </a:p>
        </p:txBody>
      </p:sp>
      <p:sp>
        <p:nvSpPr>
          <p:cNvPr id="465" name="Google Shape;465;hb16857675266d5a_0_89"/>
          <p:cNvSpPr txBox="1"/>
          <p:nvPr/>
        </p:nvSpPr>
        <p:spPr>
          <a:xfrm>
            <a:off x="977876" y="4584585"/>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Probar con datos reales</a:t>
            </a:r>
            <a:endParaRPr b="0" i="0" sz="1400" u="none" cap="none" strike="noStrike">
              <a:solidFill>
                <a:schemeClr val="dk1"/>
              </a:solidFill>
              <a:latin typeface="Calibri"/>
              <a:ea typeface="Calibri"/>
              <a:cs typeface="Calibri"/>
              <a:sym typeface="Calibri"/>
            </a:endParaRPr>
          </a:p>
        </p:txBody>
      </p:sp>
      <p:sp>
        <p:nvSpPr>
          <p:cNvPr id="466" name="Google Shape;466;hb16857675266d5a_0_89"/>
          <p:cNvSpPr txBox="1"/>
          <p:nvPr/>
        </p:nvSpPr>
        <p:spPr>
          <a:xfrm>
            <a:off x="977876" y="5079873"/>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Del tamaño y el tipo reales, no solo casos chicos</a:t>
            </a:r>
            <a:endParaRPr b="0" i="0" sz="1200" u="none" cap="none" strike="noStrike">
              <a:solidFill>
                <a:schemeClr val="dk1"/>
              </a:solidFill>
              <a:latin typeface="Calibri"/>
              <a:ea typeface="Calibri"/>
              <a:cs typeface="Calibri"/>
              <a:sym typeface="Calibri"/>
            </a:endParaRPr>
          </a:p>
        </p:txBody>
      </p:sp>
      <p:sp>
        <p:nvSpPr>
          <p:cNvPr id="467" name="Google Shape;467;hb16857675266d5a_0_89"/>
          <p:cNvSpPr/>
          <p:nvPr/>
        </p:nvSpPr>
        <p:spPr>
          <a:xfrm>
            <a:off x="3486063" y="4063898"/>
            <a:ext cx="2546400" cy="15876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hb16857675266d5a_0_89"/>
          <p:cNvSpPr txBox="1"/>
          <p:nvPr/>
        </p:nvSpPr>
        <p:spPr>
          <a:xfrm>
            <a:off x="3651159" y="4203595"/>
            <a:ext cx="3810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2200"/>
              <a:buFont typeface="Cambria"/>
              <a:buNone/>
            </a:pPr>
            <a:r>
              <a:rPr b="1" i="0" lang="en-US" sz="2200" u="none" cap="none" strike="noStrike">
                <a:solidFill>
                  <a:srgbClr val="D9692B"/>
                </a:solidFill>
                <a:latin typeface="Cambria"/>
                <a:ea typeface="Cambria"/>
                <a:cs typeface="Cambria"/>
                <a:sym typeface="Cambria"/>
              </a:rPr>
              <a:t>2</a:t>
            </a:r>
            <a:endParaRPr b="0" i="0" sz="2200" u="none" cap="none" strike="noStrike">
              <a:solidFill>
                <a:schemeClr val="dk1"/>
              </a:solidFill>
              <a:latin typeface="Calibri"/>
              <a:ea typeface="Calibri"/>
              <a:cs typeface="Calibri"/>
              <a:sym typeface="Calibri"/>
            </a:endParaRPr>
          </a:p>
        </p:txBody>
      </p:sp>
      <p:sp>
        <p:nvSpPr>
          <p:cNvPr id="469" name="Google Shape;469;hb16857675266d5a_0_89"/>
          <p:cNvSpPr txBox="1"/>
          <p:nvPr/>
        </p:nvSpPr>
        <p:spPr>
          <a:xfrm>
            <a:off x="3651159" y="4584585"/>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Criterio escrito antes</a:t>
            </a:r>
            <a:endParaRPr b="0" i="0" sz="1400" u="none" cap="none" strike="noStrike">
              <a:solidFill>
                <a:schemeClr val="dk1"/>
              </a:solidFill>
              <a:latin typeface="Calibri"/>
              <a:ea typeface="Calibri"/>
              <a:cs typeface="Calibri"/>
              <a:sym typeface="Calibri"/>
            </a:endParaRPr>
          </a:p>
        </p:txBody>
      </p:sp>
      <p:sp>
        <p:nvSpPr>
          <p:cNvPr id="470" name="Google Shape;470;hb16857675266d5a_0_89"/>
          <p:cNvSpPr txBox="1"/>
          <p:nvPr/>
        </p:nvSpPr>
        <p:spPr>
          <a:xfrm>
            <a:off x="3651159" y="5079873"/>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Qué cuenta como éxito, antes de ver el resultado</a:t>
            </a:r>
            <a:endParaRPr b="0" i="0" sz="1200" u="none" cap="none" strike="noStrike">
              <a:solidFill>
                <a:schemeClr val="dk1"/>
              </a:solidFill>
              <a:latin typeface="Calibri"/>
              <a:ea typeface="Calibri"/>
              <a:cs typeface="Calibri"/>
              <a:sym typeface="Calibri"/>
            </a:endParaRPr>
          </a:p>
        </p:txBody>
      </p:sp>
      <p:sp>
        <p:nvSpPr>
          <p:cNvPr id="471" name="Google Shape;471;hb16857675266d5a_0_89"/>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5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476" name="Shape 476"/>
        <p:cNvGrpSpPr/>
        <p:nvPr/>
      </p:nvGrpSpPr>
      <p:grpSpPr>
        <a:xfrm>
          <a:off x="0" y="0"/>
          <a:ext cx="0" cy="0"/>
          <a:chOff x="0" y="0"/>
          <a:chExt cx="0" cy="0"/>
        </a:xfrm>
      </p:grpSpPr>
      <p:sp>
        <p:nvSpPr>
          <p:cNvPr id="477" name="Google Shape;477;hb16857675266d5a_0_61"/>
          <p:cNvSpPr/>
          <p:nvPr/>
        </p:nvSpPr>
        <p:spPr>
          <a:xfrm>
            <a:off x="812780" y="711182"/>
            <a:ext cx="3873300" cy="330300"/>
          </a:xfrm>
          <a:prstGeom prst="roundRect">
            <a:avLst>
              <a:gd fmla="val 55386" name="adj"/>
            </a:avLst>
          </a:prstGeom>
          <a:solidFill>
            <a:srgbClr val="FBFBF8"/>
          </a:solidFill>
          <a:ln cap="flat" cmpd="sng" w="1905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hb16857675266d5a_0_61"/>
          <p:cNvSpPr txBox="1"/>
          <p:nvPr/>
        </p:nvSpPr>
        <p:spPr>
          <a:xfrm>
            <a:off x="812780" y="711182"/>
            <a:ext cx="38733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692B"/>
              </a:buClr>
              <a:buSzPts val="1300"/>
              <a:buFont typeface="Calibri"/>
              <a:buNone/>
            </a:pPr>
            <a:r>
              <a:rPr b="1" i="0" lang="en-US" sz="1300" u="none" cap="none" strike="noStrike">
                <a:solidFill>
                  <a:srgbClr val="D9692B"/>
                </a:solidFill>
                <a:latin typeface="Calibri"/>
                <a:ea typeface="Calibri"/>
                <a:cs typeface="Calibri"/>
                <a:sym typeface="Calibri"/>
              </a:rPr>
              <a:t>EXPERIENCIA / APRENDIZAJE</a:t>
            </a:r>
            <a:endParaRPr b="0" i="0" sz="1300" u="none" cap="none" strike="noStrike">
              <a:solidFill>
                <a:schemeClr val="dk1"/>
              </a:solidFill>
              <a:latin typeface="Calibri"/>
              <a:ea typeface="Calibri"/>
              <a:cs typeface="Calibri"/>
              <a:sym typeface="Calibri"/>
            </a:endParaRPr>
          </a:p>
        </p:txBody>
      </p:sp>
      <p:sp>
        <p:nvSpPr>
          <p:cNvPr id="479" name="Google Shape;479;hb16857675266d5a_0_61"/>
          <p:cNvSpPr txBox="1"/>
          <p:nvPr/>
        </p:nvSpPr>
        <p:spPr>
          <a:xfrm>
            <a:off x="812780" y="1142971"/>
            <a:ext cx="10566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Pasar todas las pruebas no alcanza</a:t>
            </a:r>
            <a:endParaRPr b="0" i="0" sz="3300" u="none" cap="none" strike="noStrike">
              <a:solidFill>
                <a:schemeClr val="dk1"/>
              </a:solidFill>
              <a:latin typeface="Calibri"/>
              <a:ea typeface="Calibri"/>
              <a:cs typeface="Calibri"/>
              <a:sym typeface="Calibri"/>
            </a:endParaRPr>
          </a:p>
        </p:txBody>
      </p:sp>
      <p:pic>
        <p:nvPicPr>
          <p:cNvPr descr="/home/chanoscopio/Documents/LucasC/reproducible-research-template/report/informe/img/fig_congelado.png" id="480" name="Google Shape;480;hb16857675266d5a_0_61"/>
          <p:cNvPicPr preferRelativeResize="0"/>
          <p:nvPr/>
        </p:nvPicPr>
        <p:blipFill rotWithShape="1">
          <a:blip r:embed="rId3">
            <a:alphaModFix/>
          </a:blip>
          <a:srcRect b="0" l="0" r="0" t="0"/>
          <a:stretch/>
        </p:blipFill>
        <p:spPr>
          <a:xfrm>
            <a:off x="816667" y="1904952"/>
            <a:ext cx="4818103" cy="1819152"/>
          </a:xfrm>
          <a:prstGeom prst="rect">
            <a:avLst/>
          </a:prstGeom>
          <a:noFill/>
          <a:ln>
            <a:noFill/>
          </a:ln>
        </p:spPr>
      </p:pic>
      <p:sp>
        <p:nvSpPr>
          <p:cNvPr id="481" name="Google Shape;481;hb16857675266d5a_0_61"/>
          <p:cNvSpPr txBox="1"/>
          <p:nvPr/>
        </p:nvSpPr>
        <p:spPr>
          <a:xfrm>
            <a:off x="5918052" y="1841454"/>
            <a:ext cx="54609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El programa mejora la imagen de a poco: compara las fotos que predice con las medidas y la corrige un poco en cada vuelta.</a:t>
            </a:r>
            <a:endParaRPr b="0" i="0" sz="1350" u="none" cap="none" strike="noStrike">
              <a:solidFill>
                <a:schemeClr val="dk1"/>
              </a:solidFill>
              <a:latin typeface="Calibri"/>
              <a:ea typeface="Calibri"/>
              <a:cs typeface="Calibri"/>
              <a:sym typeface="Calibri"/>
            </a:endParaRPr>
          </a:p>
        </p:txBody>
      </p:sp>
      <p:sp>
        <p:nvSpPr>
          <p:cNvPr id="482" name="Google Shape;482;hb16857675266d5a_0_61"/>
          <p:cNvSpPr txBox="1"/>
          <p:nvPr/>
        </p:nvSpPr>
        <p:spPr>
          <a:xfrm>
            <a:off x="5918052" y="2444689"/>
            <a:ext cx="54609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Esas correcciones eran </a:t>
            </a:r>
            <a:r>
              <a:rPr b="1" i="0" lang="en-US" sz="1350" u="none" cap="none" strike="noStrike">
                <a:solidFill>
                  <a:srgbClr val="3D4A5C"/>
                </a:solidFill>
                <a:latin typeface="Calibri"/>
                <a:ea typeface="Calibri"/>
                <a:cs typeface="Calibri"/>
                <a:sym typeface="Calibri"/>
              </a:rPr>
              <a:t>~8.000 veces</a:t>
            </a:r>
            <a:r>
              <a:rPr b="0" i="0" lang="en-US" sz="1350" u="none" cap="none" strike="noStrike">
                <a:solidFill>
                  <a:srgbClr val="3D4A5C"/>
                </a:solidFill>
                <a:latin typeface="Calibri"/>
                <a:ea typeface="Calibri"/>
                <a:cs typeface="Calibri"/>
                <a:sym typeface="Calibri"/>
              </a:rPr>
              <a:t> más chicas de lo debido: después de cientos de vueltas devolvía casi la foto original, </a:t>
            </a:r>
            <a:r>
              <a:rPr b="1" i="0" lang="en-US" sz="1350" u="none" cap="none" strike="noStrike">
                <a:solidFill>
                  <a:srgbClr val="3D4A5C"/>
                </a:solidFill>
                <a:latin typeface="Calibri"/>
                <a:ea typeface="Calibri"/>
                <a:cs typeface="Calibri"/>
                <a:sym typeface="Calibri"/>
              </a:rPr>
              <a:t>y aun así pasaba cientos de pruebas</a:t>
            </a:r>
            <a:r>
              <a:rPr b="0" i="0" lang="en-US" sz="1350" u="none" cap="none" strike="noStrike">
                <a:solidFill>
                  <a:srgbClr val="3D4A5C"/>
                </a:solidFill>
                <a:latin typeface="Calibri"/>
                <a:ea typeface="Calibri"/>
                <a:cs typeface="Calibri"/>
                <a:sym typeface="Calibri"/>
              </a:rPr>
              <a:t>, hechas con imágenes chiquitas (16–32 píxeles).</a:t>
            </a:r>
            <a:endParaRPr b="0" i="0" sz="1350" u="none" cap="none" strike="noStrike">
              <a:solidFill>
                <a:schemeClr val="dk1"/>
              </a:solidFill>
              <a:latin typeface="Calibri"/>
              <a:ea typeface="Calibri"/>
              <a:cs typeface="Calibri"/>
              <a:sym typeface="Calibri"/>
            </a:endParaRPr>
          </a:p>
        </p:txBody>
      </p:sp>
      <p:sp>
        <p:nvSpPr>
          <p:cNvPr id="483" name="Google Shape;483;hb16857675266d5a_0_61"/>
          <p:cNvSpPr txBox="1"/>
          <p:nvPr/>
        </p:nvSpPr>
        <p:spPr>
          <a:xfrm>
            <a:off x="5918052" y="3301917"/>
            <a:ext cx="54609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Lo encontró un agente que investigaba otra cosa. Los agentes también se equivocaron: supusieron mal el hardware.</a:t>
            </a:r>
            <a:endParaRPr b="0" i="0" sz="1350" u="none" cap="none" strike="noStrike">
              <a:solidFill>
                <a:schemeClr val="dk1"/>
              </a:solidFill>
              <a:latin typeface="Calibri"/>
              <a:ea typeface="Calibri"/>
              <a:cs typeface="Calibri"/>
              <a:sym typeface="Calibri"/>
            </a:endParaRPr>
          </a:p>
        </p:txBody>
      </p:sp>
      <p:sp>
        <p:nvSpPr>
          <p:cNvPr id="484" name="Google Shape;484;hb16857675266d5a_0_61"/>
          <p:cNvSpPr/>
          <p:nvPr/>
        </p:nvSpPr>
        <p:spPr>
          <a:xfrm>
            <a:off x="812780" y="4063898"/>
            <a:ext cx="2546400" cy="15876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hb16857675266d5a_0_61"/>
          <p:cNvSpPr txBox="1"/>
          <p:nvPr/>
        </p:nvSpPr>
        <p:spPr>
          <a:xfrm>
            <a:off x="977876" y="4203595"/>
            <a:ext cx="3810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2200"/>
              <a:buFont typeface="Cambria"/>
              <a:buNone/>
            </a:pPr>
            <a:r>
              <a:rPr b="1" i="0" lang="en-US" sz="2200" u="none" cap="none" strike="noStrike">
                <a:solidFill>
                  <a:srgbClr val="D9692B"/>
                </a:solidFill>
                <a:latin typeface="Cambria"/>
                <a:ea typeface="Cambria"/>
                <a:cs typeface="Cambria"/>
                <a:sym typeface="Cambria"/>
              </a:rPr>
              <a:t>1</a:t>
            </a:r>
            <a:endParaRPr b="0" i="0" sz="2200" u="none" cap="none" strike="noStrike">
              <a:solidFill>
                <a:schemeClr val="dk1"/>
              </a:solidFill>
              <a:latin typeface="Calibri"/>
              <a:ea typeface="Calibri"/>
              <a:cs typeface="Calibri"/>
              <a:sym typeface="Calibri"/>
            </a:endParaRPr>
          </a:p>
        </p:txBody>
      </p:sp>
      <p:sp>
        <p:nvSpPr>
          <p:cNvPr id="486" name="Google Shape;486;hb16857675266d5a_0_61"/>
          <p:cNvSpPr txBox="1"/>
          <p:nvPr/>
        </p:nvSpPr>
        <p:spPr>
          <a:xfrm>
            <a:off x="977876" y="4584585"/>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Probar con datos reales</a:t>
            </a:r>
            <a:endParaRPr b="0" i="0" sz="1400" u="none" cap="none" strike="noStrike">
              <a:solidFill>
                <a:schemeClr val="dk1"/>
              </a:solidFill>
              <a:latin typeface="Calibri"/>
              <a:ea typeface="Calibri"/>
              <a:cs typeface="Calibri"/>
              <a:sym typeface="Calibri"/>
            </a:endParaRPr>
          </a:p>
        </p:txBody>
      </p:sp>
      <p:sp>
        <p:nvSpPr>
          <p:cNvPr id="487" name="Google Shape;487;hb16857675266d5a_0_61"/>
          <p:cNvSpPr txBox="1"/>
          <p:nvPr/>
        </p:nvSpPr>
        <p:spPr>
          <a:xfrm>
            <a:off x="977876" y="5079873"/>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Del tamaño y el tipo reales, no solo casos chicos</a:t>
            </a:r>
            <a:endParaRPr b="0" i="0" sz="1200" u="none" cap="none" strike="noStrike">
              <a:solidFill>
                <a:schemeClr val="dk1"/>
              </a:solidFill>
              <a:latin typeface="Calibri"/>
              <a:ea typeface="Calibri"/>
              <a:cs typeface="Calibri"/>
              <a:sym typeface="Calibri"/>
            </a:endParaRPr>
          </a:p>
        </p:txBody>
      </p:sp>
      <p:sp>
        <p:nvSpPr>
          <p:cNvPr id="488" name="Google Shape;488;hb16857675266d5a_0_61"/>
          <p:cNvSpPr/>
          <p:nvPr/>
        </p:nvSpPr>
        <p:spPr>
          <a:xfrm>
            <a:off x="3486063" y="4063898"/>
            <a:ext cx="2546400" cy="15876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hb16857675266d5a_0_61"/>
          <p:cNvSpPr txBox="1"/>
          <p:nvPr/>
        </p:nvSpPr>
        <p:spPr>
          <a:xfrm>
            <a:off x="3651159" y="4203595"/>
            <a:ext cx="3810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2200"/>
              <a:buFont typeface="Cambria"/>
              <a:buNone/>
            </a:pPr>
            <a:r>
              <a:rPr b="1" i="0" lang="en-US" sz="2200" u="none" cap="none" strike="noStrike">
                <a:solidFill>
                  <a:srgbClr val="D9692B"/>
                </a:solidFill>
                <a:latin typeface="Cambria"/>
                <a:ea typeface="Cambria"/>
                <a:cs typeface="Cambria"/>
                <a:sym typeface="Cambria"/>
              </a:rPr>
              <a:t>2</a:t>
            </a:r>
            <a:endParaRPr b="0" i="0" sz="2200" u="none" cap="none" strike="noStrike">
              <a:solidFill>
                <a:schemeClr val="dk1"/>
              </a:solidFill>
              <a:latin typeface="Calibri"/>
              <a:ea typeface="Calibri"/>
              <a:cs typeface="Calibri"/>
              <a:sym typeface="Calibri"/>
            </a:endParaRPr>
          </a:p>
        </p:txBody>
      </p:sp>
      <p:sp>
        <p:nvSpPr>
          <p:cNvPr id="490" name="Google Shape;490;hb16857675266d5a_0_61"/>
          <p:cNvSpPr txBox="1"/>
          <p:nvPr/>
        </p:nvSpPr>
        <p:spPr>
          <a:xfrm>
            <a:off x="3651159" y="4584585"/>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Criterio escrito antes</a:t>
            </a:r>
            <a:endParaRPr b="0" i="0" sz="1400" u="none" cap="none" strike="noStrike">
              <a:solidFill>
                <a:schemeClr val="dk1"/>
              </a:solidFill>
              <a:latin typeface="Calibri"/>
              <a:ea typeface="Calibri"/>
              <a:cs typeface="Calibri"/>
              <a:sym typeface="Calibri"/>
            </a:endParaRPr>
          </a:p>
        </p:txBody>
      </p:sp>
      <p:sp>
        <p:nvSpPr>
          <p:cNvPr id="491" name="Google Shape;491;hb16857675266d5a_0_61"/>
          <p:cNvSpPr txBox="1"/>
          <p:nvPr/>
        </p:nvSpPr>
        <p:spPr>
          <a:xfrm>
            <a:off x="3651159" y="5079873"/>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Qué cuenta como éxito, antes de ver el resultado</a:t>
            </a:r>
            <a:endParaRPr b="0" i="0" sz="1200" u="none" cap="none" strike="noStrike">
              <a:solidFill>
                <a:schemeClr val="dk1"/>
              </a:solidFill>
              <a:latin typeface="Calibri"/>
              <a:ea typeface="Calibri"/>
              <a:cs typeface="Calibri"/>
              <a:sym typeface="Calibri"/>
            </a:endParaRPr>
          </a:p>
        </p:txBody>
      </p:sp>
      <p:sp>
        <p:nvSpPr>
          <p:cNvPr id="492" name="Google Shape;492;hb16857675266d5a_0_61"/>
          <p:cNvSpPr/>
          <p:nvPr/>
        </p:nvSpPr>
        <p:spPr>
          <a:xfrm>
            <a:off x="6159346" y="4063898"/>
            <a:ext cx="2546400" cy="15876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hb16857675266d5a_0_61"/>
          <p:cNvSpPr txBox="1"/>
          <p:nvPr/>
        </p:nvSpPr>
        <p:spPr>
          <a:xfrm>
            <a:off x="6324442" y="4203595"/>
            <a:ext cx="3810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2200"/>
              <a:buFont typeface="Cambria"/>
              <a:buNone/>
            </a:pPr>
            <a:r>
              <a:rPr b="1" i="0" lang="en-US" sz="2200" u="none" cap="none" strike="noStrike">
                <a:solidFill>
                  <a:srgbClr val="D9692B"/>
                </a:solidFill>
                <a:latin typeface="Cambria"/>
                <a:ea typeface="Cambria"/>
                <a:cs typeface="Cambria"/>
                <a:sym typeface="Cambria"/>
              </a:rPr>
              <a:t>3</a:t>
            </a:r>
            <a:endParaRPr b="0" i="0" sz="2200" u="none" cap="none" strike="noStrike">
              <a:solidFill>
                <a:schemeClr val="dk1"/>
              </a:solidFill>
              <a:latin typeface="Calibri"/>
              <a:ea typeface="Calibri"/>
              <a:cs typeface="Calibri"/>
              <a:sym typeface="Calibri"/>
            </a:endParaRPr>
          </a:p>
        </p:txBody>
      </p:sp>
      <p:sp>
        <p:nvSpPr>
          <p:cNvPr id="494" name="Google Shape;494;hb16857675266d5a_0_61"/>
          <p:cNvSpPr txBox="1"/>
          <p:nvPr/>
        </p:nvSpPr>
        <p:spPr>
          <a:xfrm>
            <a:off x="6324442" y="4584585"/>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Verificación independiente</a:t>
            </a:r>
            <a:endParaRPr b="0" i="0" sz="1400" u="none" cap="none" strike="noStrike">
              <a:solidFill>
                <a:schemeClr val="dk1"/>
              </a:solidFill>
              <a:latin typeface="Calibri"/>
              <a:ea typeface="Calibri"/>
              <a:cs typeface="Calibri"/>
              <a:sym typeface="Calibri"/>
            </a:endParaRPr>
          </a:p>
        </p:txBody>
      </p:sp>
      <p:sp>
        <p:nvSpPr>
          <p:cNvPr id="495" name="Google Shape;495;hb16857675266d5a_0_61"/>
          <p:cNvSpPr txBox="1"/>
          <p:nvPr/>
        </p:nvSpPr>
        <p:spPr>
          <a:xfrm>
            <a:off x="6324442" y="5079873"/>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Otro agente, con otro código, rehace cada número</a:t>
            </a:r>
            <a:endParaRPr b="0" i="0" sz="1200" u="none" cap="none" strike="noStrike">
              <a:solidFill>
                <a:schemeClr val="dk1"/>
              </a:solidFill>
              <a:latin typeface="Calibri"/>
              <a:ea typeface="Calibri"/>
              <a:cs typeface="Calibri"/>
              <a:sym typeface="Calibri"/>
            </a:endParaRPr>
          </a:p>
        </p:txBody>
      </p:sp>
      <p:sp>
        <p:nvSpPr>
          <p:cNvPr id="496" name="Google Shape;496;hb16857675266d5a_0_61"/>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5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501" name="Shape 501"/>
        <p:cNvGrpSpPr/>
        <p:nvPr/>
      </p:nvGrpSpPr>
      <p:grpSpPr>
        <a:xfrm>
          <a:off x="0" y="0"/>
          <a:ext cx="0" cy="0"/>
          <a:chOff x="0" y="0"/>
          <a:chExt cx="0" cy="0"/>
        </a:xfrm>
      </p:grpSpPr>
      <p:sp>
        <p:nvSpPr>
          <p:cNvPr id="502" name="Google Shape;502;hb16857675266d5a_0_33"/>
          <p:cNvSpPr/>
          <p:nvPr/>
        </p:nvSpPr>
        <p:spPr>
          <a:xfrm>
            <a:off x="812780" y="711182"/>
            <a:ext cx="3873300" cy="330300"/>
          </a:xfrm>
          <a:prstGeom prst="roundRect">
            <a:avLst>
              <a:gd fmla="val 55386" name="adj"/>
            </a:avLst>
          </a:prstGeom>
          <a:solidFill>
            <a:srgbClr val="FBFBF8"/>
          </a:solidFill>
          <a:ln cap="flat" cmpd="sng" w="1905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hb16857675266d5a_0_33"/>
          <p:cNvSpPr txBox="1"/>
          <p:nvPr/>
        </p:nvSpPr>
        <p:spPr>
          <a:xfrm>
            <a:off x="812780" y="711182"/>
            <a:ext cx="3873300" cy="330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692B"/>
              </a:buClr>
              <a:buSzPts val="1300"/>
              <a:buFont typeface="Calibri"/>
              <a:buNone/>
            </a:pPr>
            <a:r>
              <a:rPr b="1" i="0" lang="en-US" sz="1300" u="none" cap="none" strike="noStrike">
                <a:solidFill>
                  <a:srgbClr val="D9692B"/>
                </a:solidFill>
                <a:latin typeface="Calibri"/>
                <a:ea typeface="Calibri"/>
                <a:cs typeface="Calibri"/>
                <a:sym typeface="Calibri"/>
              </a:rPr>
              <a:t>EXPERIENCIA / APRENDIZAJE</a:t>
            </a:r>
            <a:endParaRPr b="0" i="0" sz="1300" u="none" cap="none" strike="noStrike">
              <a:solidFill>
                <a:schemeClr val="dk1"/>
              </a:solidFill>
              <a:latin typeface="Calibri"/>
              <a:ea typeface="Calibri"/>
              <a:cs typeface="Calibri"/>
              <a:sym typeface="Calibri"/>
            </a:endParaRPr>
          </a:p>
        </p:txBody>
      </p:sp>
      <p:sp>
        <p:nvSpPr>
          <p:cNvPr id="504" name="Google Shape;504;hb16857675266d5a_0_33"/>
          <p:cNvSpPr txBox="1"/>
          <p:nvPr/>
        </p:nvSpPr>
        <p:spPr>
          <a:xfrm>
            <a:off x="812780" y="1142971"/>
            <a:ext cx="10566000" cy="571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Pasar todas las pruebas no alcanza</a:t>
            </a:r>
            <a:endParaRPr b="0" i="0" sz="3300" u="none" cap="none" strike="noStrike">
              <a:solidFill>
                <a:schemeClr val="dk1"/>
              </a:solidFill>
              <a:latin typeface="Calibri"/>
              <a:ea typeface="Calibri"/>
              <a:cs typeface="Calibri"/>
              <a:sym typeface="Calibri"/>
            </a:endParaRPr>
          </a:p>
        </p:txBody>
      </p:sp>
      <p:pic>
        <p:nvPicPr>
          <p:cNvPr descr="/home/chanoscopio/Documents/LucasC/reproducible-research-template/report/informe/img/fig_congelado.png" id="505" name="Google Shape;505;hb16857675266d5a_0_33"/>
          <p:cNvPicPr preferRelativeResize="0"/>
          <p:nvPr/>
        </p:nvPicPr>
        <p:blipFill rotWithShape="1">
          <a:blip r:embed="rId3">
            <a:alphaModFix/>
          </a:blip>
          <a:srcRect b="0" l="0" r="0" t="0"/>
          <a:stretch/>
        </p:blipFill>
        <p:spPr>
          <a:xfrm>
            <a:off x="816667" y="1904952"/>
            <a:ext cx="4818103" cy="1819152"/>
          </a:xfrm>
          <a:prstGeom prst="rect">
            <a:avLst/>
          </a:prstGeom>
          <a:noFill/>
          <a:ln>
            <a:noFill/>
          </a:ln>
        </p:spPr>
      </p:pic>
      <p:sp>
        <p:nvSpPr>
          <p:cNvPr id="506" name="Google Shape;506;hb16857675266d5a_0_33"/>
          <p:cNvSpPr txBox="1"/>
          <p:nvPr/>
        </p:nvSpPr>
        <p:spPr>
          <a:xfrm>
            <a:off x="5918052" y="1841454"/>
            <a:ext cx="54609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El programa mejora la imagen de a poco: compara las fotos que predice con las medidas y la corrige un poco en cada vuelta.</a:t>
            </a:r>
            <a:endParaRPr b="0" i="0" sz="1350" u="none" cap="none" strike="noStrike">
              <a:solidFill>
                <a:schemeClr val="dk1"/>
              </a:solidFill>
              <a:latin typeface="Calibri"/>
              <a:ea typeface="Calibri"/>
              <a:cs typeface="Calibri"/>
              <a:sym typeface="Calibri"/>
            </a:endParaRPr>
          </a:p>
        </p:txBody>
      </p:sp>
      <p:sp>
        <p:nvSpPr>
          <p:cNvPr id="507" name="Google Shape;507;hb16857675266d5a_0_33"/>
          <p:cNvSpPr txBox="1"/>
          <p:nvPr/>
        </p:nvSpPr>
        <p:spPr>
          <a:xfrm>
            <a:off x="5918052" y="2444689"/>
            <a:ext cx="54609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Esas correcciones eran </a:t>
            </a:r>
            <a:r>
              <a:rPr b="1" i="0" lang="en-US" sz="1350" u="none" cap="none" strike="noStrike">
                <a:solidFill>
                  <a:srgbClr val="3D4A5C"/>
                </a:solidFill>
                <a:latin typeface="Calibri"/>
                <a:ea typeface="Calibri"/>
                <a:cs typeface="Calibri"/>
                <a:sym typeface="Calibri"/>
              </a:rPr>
              <a:t>~8.000 veces</a:t>
            </a:r>
            <a:r>
              <a:rPr b="0" i="0" lang="en-US" sz="1350" u="none" cap="none" strike="noStrike">
                <a:solidFill>
                  <a:srgbClr val="3D4A5C"/>
                </a:solidFill>
                <a:latin typeface="Calibri"/>
                <a:ea typeface="Calibri"/>
                <a:cs typeface="Calibri"/>
                <a:sym typeface="Calibri"/>
              </a:rPr>
              <a:t> más chicas de lo debido: después de cientos de vueltas devolvía casi la foto original, </a:t>
            </a:r>
            <a:r>
              <a:rPr b="1" i="0" lang="en-US" sz="1350" u="none" cap="none" strike="noStrike">
                <a:solidFill>
                  <a:srgbClr val="3D4A5C"/>
                </a:solidFill>
                <a:latin typeface="Calibri"/>
                <a:ea typeface="Calibri"/>
                <a:cs typeface="Calibri"/>
                <a:sym typeface="Calibri"/>
              </a:rPr>
              <a:t>y aun así pasaba cientos de pruebas</a:t>
            </a:r>
            <a:r>
              <a:rPr b="0" i="0" lang="en-US" sz="1350" u="none" cap="none" strike="noStrike">
                <a:solidFill>
                  <a:srgbClr val="3D4A5C"/>
                </a:solidFill>
                <a:latin typeface="Calibri"/>
                <a:ea typeface="Calibri"/>
                <a:cs typeface="Calibri"/>
                <a:sym typeface="Calibri"/>
              </a:rPr>
              <a:t>, hechas con imágenes chiquitas (16–32 píxeles).</a:t>
            </a:r>
            <a:endParaRPr b="0" i="0" sz="1350" u="none" cap="none" strike="noStrike">
              <a:solidFill>
                <a:schemeClr val="dk1"/>
              </a:solidFill>
              <a:latin typeface="Calibri"/>
              <a:ea typeface="Calibri"/>
              <a:cs typeface="Calibri"/>
              <a:sym typeface="Calibri"/>
            </a:endParaRPr>
          </a:p>
        </p:txBody>
      </p:sp>
      <p:sp>
        <p:nvSpPr>
          <p:cNvPr id="508" name="Google Shape;508;hb16857675266d5a_0_33"/>
          <p:cNvSpPr txBox="1"/>
          <p:nvPr/>
        </p:nvSpPr>
        <p:spPr>
          <a:xfrm>
            <a:off x="5918052" y="3301917"/>
            <a:ext cx="5460900" cy="50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50"/>
              <a:buFont typeface="Calibri"/>
              <a:buNone/>
            </a:pPr>
            <a:r>
              <a:rPr b="0" i="0" lang="en-US" sz="1350" u="none" cap="none" strike="noStrike">
                <a:solidFill>
                  <a:srgbClr val="3D4A5C"/>
                </a:solidFill>
                <a:latin typeface="Calibri"/>
                <a:ea typeface="Calibri"/>
                <a:cs typeface="Calibri"/>
                <a:sym typeface="Calibri"/>
              </a:rPr>
              <a:t>Lo encontró un agente que investigaba otra cosa. Los agentes también se equivocaron: supusieron mal el hardware.</a:t>
            </a:r>
            <a:endParaRPr b="0" i="0" sz="1350" u="none" cap="none" strike="noStrike">
              <a:solidFill>
                <a:schemeClr val="dk1"/>
              </a:solidFill>
              <a:latin typeface="Calibri"/>
              <a:ea typeface="Calibri"/>
              <a:cs typeface="Calibri"/>
              <a:sym typeface="Calibri"/>
            </a:endParaRPr>
          </a:p>
        </p:txBody>
      </p:sp>
      <p:sp>
        <p:nvSpPr>
          <p:cNvPr id="509" name="Google Shape;509;hb16857675266d5a_0_33"/>
          <p:cNvSpPr/>
          <p:nvPr/>
        </p:nvSpPr>
        <p:spPr>
          <a:xfrm>
            <a:off x="812780" y="4063898"/>
            <a:ext cx="2546400" cy="15876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hb16857675266d5a_0_33"/>
          <p:cNvSpPr txBox="1"/>
          <p:nvPr/>
        </p:nvSpPr>
        <p:spPr>
          <a:xfrm>
            <a:off x="977876" y="4203595"/>
            <a:ext cx="3810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2200"/>
              <a:buFont typeface="Cambria"/>
              <a:buNone/>
            </a:pPr>
            <a:r>
              <a:rPr b="1" i="0" lang="en-US" sz="2200" u="none" cap="none" strike="noStrike">
                <a:solidFill>
                  <a:srgbClr val="D9692B"/>
                </a:solidFill>
                <a:latin typeface="Cambria"/>
                <a:ea typeface="Cambria"/>
                <a:cs typeface="Cambria"/>
                <a:sym typeface="Cambria"/>
              </a:rPr>
              <a:t>1</a:t>
            </a:r>
            <a:endParaRPr b="0" i="0" sz="2200" u="none" cap="none" strike="noStrike">
              <a:solidFill>
                <a:schemeClr val="dk1"/>
              </a:solidFill>
              <a:latin typeface="Calibri"/>
              <a:ea typeface="Calibri"/>
              <a:cs typeface="Calibri"/>
              <a:sym typeface="Calibri"/>
            </a:endParaRPr>
          </a:p>
        </p:txBody>
      </p:sp>
      <p:sp>
        <p:nvSpPr>
          <p:cNvPr id="511" name="Google Shape;511;hb16857675266d5a_0_33"/>
          <p:cNvSpPr txBox="1"/>
          <p:nvPr/>
        </p:nvSpPr>
        <p:spPr>
          <a:xfrm>
            <a:off x="977876" y="4584585"/>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Probar con datos reales</a:t>
            </a:r>
            <a:endParaRPr b="0" i="0" sz="1400" u="none" cap="none" strike="noStrike">
              <a:solidFill>
                <a:schemeClr val="dk1"/>
              </a:solidFill>
              <a:latin typeface="Calibri"/>
              <a:ea typeface="Calibri"/>
              <a:cs typeface="Calibri"/>
              <a:sym typeface="Calibri"/>
            </a:endParaRPr>
          </a:p>
        </p:txBody>
      </p:sp>
      <p:sp>
        <p:nvSpPr>
          <p:cNvPr id="512" name="Google Shape;512;hb16857675266d5a_0_33"/>
          <p:cNvSpPr txBox="1"/>
          <p:nvPr/>
        </p:nvSpPr>
        <p:spPr>
          <a:xfrm>
            <a:off x="977876" y="5079873"/>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Del tamaño y el tipo reales, no solo casos chicos</a:t>
            </a:r>
            <a:endParaRPr b="0" i="0" sz="1200" u="none" cap="none" strike="noStrike">
              <a:solidFill>
                <a:schemeClr val="dk1"/>
              </a:solidFill>
              <a:latin typeface="Calibri"/>
              <a:ea typeface="Calibri"/>
              <a:cs typeface="Calibri"/>
              <a:sym typeface="Calibri"/>
            </a:endParaRPr>
          </a:p>
        </p:txBody>
      </p:sp>
      <p:sp>
        <p:nvSpPr>
          <p:cNvPr id="513" name="Google Shape;513;hb16857675266d5a_0_33"/>
          <p:cNvSpPr/>
          <p:nvPr/>
        </p:nvSpPr>
        <p:spPr>
          <a:xfrm>
            <a:off x="3486063" y="4063898"/>
            <a:ext cx="2546400" cy="15876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hb16857675266d5a_0_33"/>
          <p:cNvSpPr txBox="1"/>
          <p:nvPr/>
        </p:nvSpPr>
        <p:spPr>
          <a:xfrm>
            <a:off x="3651159" y="4203595"/>
            <a:ext cx="3810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2200"/>
              <a:buFont typeface="Cambria"/>
              <a:buNone/>
            </a:pPr>
            <a:r>
              <a:rPr b="1" i="0" lang="en-US" sz="2200" u="none" cap="none" strike="noStrike">
                <a:solidFill>
                  <a:srgbClr val="D9692B"/>
                </a:solidFill>
                <a:latin typeface="Cambria"/>
                <a:ea typeface="Cambria"/>
                <a:cs typeface="Cambria"/>
                <a:sym typeface="Cambria"/>
              </a:rPr>
              <a:t>2</a:t>
            </a:r>
            <a:endParaRPr b="0" i="0" sz="2200" u="none" cap="none" strike="noStrike">
              <a:solidFill>
                <a:schemeClr val="dk1"/>
              </a:solidFill>
              <a:latin typeface="Calibri"/>
              <a:ea typeface="Calibri"/>
              <a:cs typeface="Calibri"/>
              <a:sym typeface="Calibri"/>
            </a:endParaRPr>
          </a:p>
        </p:txBody>
      </p:sp>
      <p:sp>
        <p:nvSpPr>
          <p:cNvPr id="515" name="Google Shape;515;hb16857675266d5a_0_33"/>
          <p:cNvSpPr txBox="1"/>
          <p:nvPr/>
        </p:nvSpPr>
        <p:spPr>
          <a:xfrm>
            <a:off x="3651159" y="4584585"/>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Criterio escrito antes</a:t>
            </a:r>
            <a:endParaRPr b="0" i="0" sz="1400" u="none" cap="none" strike="noStrike">
              <a:solidFill>
                <a:schemeClr val="dk1"/>
              </a:solidFill>
              <a:latin typeface="Calibri"/>
              <a:ea typeface="Calibri"/>
              <a:cs typeface="Calibri"/>
              <a:sym typeface="Calibri"/>
            </a:endParaRPr>
          </a:p>
        </p:txBody>
      </p:sp>
      <p:sp>
        <p:nvSpPr>
          <p:cNvPr id="516" name="Google Shape;516;hb16857675266d5a_0_33"/>
          <p:cNvSpPr txBox="1"/>
          <p:nvPr/>
        </p:nvSpPr>
        <p:spPr>
          <a:xfrm>
            <a:off x="3651159" y="5079873"/>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Qué cuenta como éxito, antes de ver el resultado</a:t>
            </a:r>
            <a:endParaRPr b="0" i="0" sz="1200" u="none" cap="none" strike="noStrike">
              <a:solidFill>
                <a:schemeClr val="dk1"/>
              </a:solidFill>
              <a:latin typeface="Calibri"/>
              <a:ea typeface="Calibri"/>
              <a:cs typeface="Calibri"/>
              <a:sym typeface="Calibri"/>
            </a:endParaRPr>
          </a:p>
        </p:txBody>
      </p:sp>
      <p:sp>
        <p:nvSpPr>
          <p:cNvPr id="517" name="Google Shape;517;hb16857675266d5a_0_33"/>
          <p:cNvSpPr/>
          <p:nvPr/>
        </p:nvSpPr>
        <p:spPr>
          <a:xfrm>
            <a:off x="6159346" y="4063898"/>
            <a:ext cx="2546400" cy="15876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hb16857675266d5a_0_33"/>
          <p:cNvSpPr txBox="1"/>
          <p:nvPr/>
        </p:nvSpPr>
        <p:spPr>
          <a:xfrm>
            <a:off x="6324442" y="4203595"/>
            <a:ext cx="3810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2200"/>
              <a:buFont typeface="Cambria"/>
              <a:buNone/>
            </a:pPr>
            <a:r>
              <a:rPr b="1" i="0" lang="en-US" sz="2200" u="none" cap="none" strike="noStrike">
                <a:solidFill>
                  <a:srgbClr val="D9692B"/>
                </a:solidFill>
                <a:latin typeface="Cambria"/>
                <a:ea typeface="Cambria"/>
                <a:cs typeface="Cambria"/>
                <a:sym typeface="Cambria"/>
              </a:rPr>
              <a:t>3</a:t>
            </a:r>
            <a:endParaRPr b="0" i="0" sz="2200" u="none" cap="none" strike="noStrike">
              <a:solidFill>
                <a:schemeClr val="dk1"/>
              </a:solidFill>
              <a:latin typeface="Calibri"/>
              <a:ea typeface="Calibri"/>
              <a:cs typeface="Calibri"/>
              <a:sym typeface="Calibri"/>
            </a:endParaRPr>
          </a:p>
        </p:txBody>
      </p:sp>
      <p:sp>
        <p:nvSpPr>
          <p:cNvPr id="519" name="Google Shape;519;hb16857675266d5a_0_33"/>
          <p:cNvSpPr txBox="1"/>
          <p:nvPr/>
        </p:nvSpPr>
        <p:spPr>
          <a:xfrm>
            <a:off x="6324442" y="4584585"/>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Verificación independiente</a:t>
            </a:r>
            <a:endParaRPr b="0" i="0" sz="1400" u="none" cap="none" strike="noStrike">
              <a:solidFill>
                <a:schemeClr val="dk1"/>
              </a:solidFill>
              <a:latin typeface="Calibri"/>
              <a:ea typeface="Calibri"/>
              <a:cs typeface="Calibri"/>
              <a:sym typeface="Calibri"/>
            </a:endParaRPr>
          </a:p>
        </p:txBody>
      </p:sp>
      <p:sp>
        <p:nvSpPr>
          <p:cNvPr id="520" name="Google Shape;520;hb16857675266d5a_0_33"/>
          <p:cNvSpPr txBox="1"/>
          <p:nvPr/>
        </p:nvSpPr>
        <p:spPr>
          <a:xfrm>
            <a:off x="6324442" y="5079873"/>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Otro agente, con otro código, rehace cada número</a:t>
            </a:r>
            <a:endParaRPr b="0" i="0" sz="1200" u="none" cap="none" strike="noStrike">
              <a:solidFill>
                <a:schemeClr val="dk1"/>
              </a:solidFill>
              <a:latin typeface="Calibri"/>
              <a:ea typeface="Calibri"/>
              <a:cs typeface="Calibri"/>
              <a:sym typeface="Calibri"/>
            </a:endParaRPr>
          </a:p>
        </p:txBody>
      </p:sp>
      <p:sp>
        <p:nvSpPr>
          <p:cNvPr id="521" name="Google Shape;521;hb16857675266d5a_0_33"/>
          <p:cNvSpPr/>
          <p:nvPr/>
        </p:nvSpPr>
        <p:spPr>
          <a:xfrm>
            <a:off x="8832629" y="4063898"/>
            <a:ext cx="2546400" cy="15876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hb16857675266d5a_0_33"/>
          <p:cNvSpPr txBox="1"/>
          <p:nvPr/>
        </p:nvSpPr>
        <p:spPr>
          <a:xfrm>
            <a:off x="8997725" y="4203595"/>
            <a:ext cx="381000" cy="31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2200"/>
              <a:buFont typeface="Cambria"/>
              <a:buNone/>
            </a:pPr>
            <a:r>
              <a:rPr b="1" i="0" lang="en-US" sz="2200" u="none" cap="none" strike="noStrike">
                <a:solidFill>
                  <a:srgbClr val="D9692B"/>
                </a:solidFill>
                <a:latin typeface="Cambria"/>
                <a:ea typeface="Cambria"/>
                <a:cs typeface="Cambria"/>
                <a:sym typeface="Cambria"/>
              </a:rPr>
              <a:t>4</a:t>
            </a:r>
            <a:endParaRPr b="0" i="0" sz="2200" u="none" cap="none" strike="noStrike">
              <a:solidFill>
                <a:schemeClr val="dk1"/>
              </a:solidFill>
              <a:latin typeface="Calibri"/>
              <a:ea typeface="Calibri"/>
              <a:cs typeface="Calibri"/>
              <a:sym typeface="Calibri"/>
            </a:endParaRPr>
          </a:p>
        </p:txBody>
      </p:sp>
      <p:sp>
        <p:nvSpPr>
          <p:cNvPr id="523" name="Google Shape;523;hb16857675266d5a_0_33"/>
          <p:cNvSpPr txBox="1"/>
          <p:nvPr/>
        </p:nvSpPr>
        <p:spPr>
          <a:xfrm>
            <a:off x="8997725" y="4584585"/>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400"/>
              <a:buFont typeface="Calibri"/>
              <a:buNone/>
            </a:pPr>
            <a:r>
              <a:rPr b="1" i="0" lang="en-US" sz="1400" u="none" cap="none" strike="noStrike">
                <a:solidFill>
                  <a:srgbClr val="14213D"/>
                </a:solidFill>
                <a:latin typeface="Calibri"/>
                <a:ea typeface="Calibri"/>
                <a:cs typeface="Calibri"/>
                <a:sym typeface="Calibri"/>
              </a:rPr>
              <a:t>Alguien que conozca el equipo</a:t>
            </a:r>
            <a:endParaRPr b="0" i="0" sz="1400" u="none" cap="none" strike="noStrike">
              <a:solidFill>
                <a:schemeClr val="dk1"/>
              </a:solidFill>
              <a:latin typeface="Calibri"/>
              <a:ea typeface="Calibri"/>
              <a:cs typeface="Calibri"/>
              <a:sym typeface="Calibri"/>
            </a:endParaRPr>
          </a:p>
        </p:txBody>
      </p:sp>
      <p:sp>
        <p:nvSpPr>
          <p:cNvPr id="524" name="Google Shape;524;hb16857675266d5a_0_33"/>
          <p:cNvSpPr txBox="1"/>
          <p:nvPr/>
        </p:nvSpPr>
        <p:spPr>
          <a:xfrm>
            <a:off x="8997725" y="5079873"/>
            <a:ext cx="2216100" cy="482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Los agentes no saben lo que no se les dice</a:t>
            </a:r>
            <a:endParaRPr b="0" i="0" sz="1200" u="none" cap="none" strike="noStrike">
              <a:solidFill>
                <a:schemeClr val="dk1"/>
              </a:solidFill>
              <a:latin typeface="Calibri"/>
              <a:ea typeface="Calibri"/>
              <a:cs typeface="Calibri"/>
              <a:sym typeface="Calibri"/>
            </a:endParaRPr>
          </a:p>
        </p:txBody>
      </p:sp>
      <p:sp>
        <p:nvSpPr>
          <p:cNvPr id="525" name="Google Shape;525;hb16857675266d5a_0_33"/>
          <p:cNvSpPr txBox="1"/>
          <p:nvPr/>
        </p:nvSpPr>
        <p:spPr>
          <a:xfrm>
            <a:off x="812780" y="6286343"/>
            <a:ext cx="2539800" cy="21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5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530" name="Shape 530"/>
        <p:cNvGrpSpPr/>
        <p:nvPr/>
      </p:nvGrpSpPr>
      <p:grpSpPr>
        <a:xfrm>
          <a:off x="0" y="0"/>
          <a:ext cx="0" cy="0"/>
          <a:chOff x="0" y="0"/>
          <a:chExt cx="0" cy="0"/>
        </a:xfrm>
      </p:grpSpPr>
      <p:sp>
        <p:nvSpPr>
          <p:cNvPr id="531" name="Google Shape;531;p6"/>
          <p:cNvSpPr txBox="1"/>
          <p:nvPr/>
        </p:nvSpPr>
        <p:spPr>
          <a:xfrm>
            <a:off x="812780" y="711182"/>
            <a:ext cx="10566136" cy="5714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BFBF8"/>
              </a:buClr>
              <a:buSzPts val="3300"/>
              <a:buFont typeface="Cambria"/>
              <a:buNone/>
            </a:pPr>
            <a:r>
              <a:rPr b="1" i="0" lang="en-US" sz="3300" u="none" cap="none" strike="noStrike">
                <a:solidFill>
                  <a:srgbClr val="FBFBF8"/>
                </a:solidFill>
                <a:latin typeface="Cambria"/>
                <a:ea typeface="Cambria"/>
                <a:cs typeface="Cambria"/>
                <a:sym typeface="Cambria"/>
              </a:rPr>
              <a:t>En resumen</a:t>
            </a:r>
            <a:endParaRPr b="0" i="0" sz="3300" u="none" cap="none" strike="noStrike">
              <a:solidFill>
                <a:schemeClr val="dk1"/>
              </a:solidFill>
              <a:latin typeface="Calibri"/>
              <a:ea typeface="Calibri"/>
              <a:cs typeface="Calibri"/>
              <a:sym typeface="Calibri"/>
            </a:endParaRPr>
          </a:p>
        </p:txBody>
      </p:sp>
      <p:sp>
        <p:nvSpPr>
          <p:cNvPr id="532" name="Google Shape;532;p6"/>
          <p:cNvSpPr txBox="1"/>
          <p:nvPr/>
        </p:nvSpPr>
        <p:spPr>
          <a:xfrm>
            <a:off x="812780" y="1523962"/>
            <a:ext cx="10566136" cy="3301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BFBF8"/>
              </a:buClr>
              <a:buSzPts val="1900"/>
              <a:buFont typeface="Calibri"/>
              <a:buNone/>
            </a:pPr>
            <a:r>
              <a:rPr b="1" i="0" lang="en-US" sz="1900" u="none" cap="none" strike="noStrike">
                <a:solidFill>
                  <a:srgbClr val="FBFBF8"/>
                </a:solidFill>
                <a:latin typeface="Calibri"/>
                <a:ea typeface="Calibri"/>
                <a:cs typeface="Calibri"/>
                <a:sym typeface="Calibri"/>
              </a:rPr>
              <a:t>Los agentes: más útiles para auditar que para juzgar resultados reales</a:t>
            </a:r>
            <a:endParaRPr b="0" i="0" sz="1900" u="none" cap="none" strike="noStrike">
              <a:solidFill>
                <a:schemeClr val="dk1"/>
              </a:solidFill>
              <a:latin typeface="Calibri"/>
              <a:ea typeface="Calibri"/>
              <a:cs typeface="Calibri"/>
              <a:sym typeface="Calibri"/>
            </a:endParaRPr>
          </a:p>
        </p:txBody>
      </p:sp>
      <p:sp>
        <p:nvSpPr>
          <p:cNvPr id="533" name="Google Shape;533;p6"/>
          <p:cNvSpPr txBox="1"/>
          <p:nvPr/>
        </p:nvSpPr>
        <p:spPr>
          <a:xfrm>
            <a:off x="812780" y="1879553"/>
            <a:ext cx="10566136"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FD0E6"/>
              </a:buClr>
              <a:buSzPts val="1400"/>
              <a:buFont typeface="Calibri"/>
              <a:buNone/>
            </a:pPr>
            <a:r>
              <a:rPr b="0" i="0" lang="en-US" sz="1400" u="none" cap="none" strike="noStrike">
                <a:solidFill>
                  <a:srgbClr val="BFD0E6"/>
                </a:solidFill>
                <a:latin typeface="Calibri"/>
                <a:ea typeface="Calibri"/>
                <a:cs typeface="Calibri"/>
                <a:sym typeface="Calibri"/>
              </a:rPr>
              <a:t>Aportan volumen, auditoría y diseño de experimentos; fallan en el mundo físico y por exceso de confianza</a:t>
            </a:r>
            <a:endParaRPr b="0" i="0" sz="1400" u="none" cap="none" strike="noStrike">
              <a:solidFill>
                <a:schemeClr val="dk1"/>
              </a:solidFill>
              <a:latin typeface="Calibri"/>
              <a:ea typeface="Calibri"/>
              <a:cs typeface="Calibri"/>
              <a:sym typeface="Calibri"/>
            </a:endParaRPr>
          </a:p>
        </p:txBody>
      </p:sp>
      <p:sp>
        <p:nvSpPr>
          <p:cNvPr id="534" name="Google Shape;534;p6"/>
          <p:cNvSpPr txBox="1"/>
          <p:nvPr/>
        </p:nvSpPr>
        <p:spPr>
          <a:xfrm>
            <a:off x="812930" y="2527217"/>
            <a:ext cx="105660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BFBF8"/>
              </a:buClr>
              <a:buSzPts val="1900"/>
              <a:buFont typeface="Calibri"/>
              <a:buNone/>
            </a:pPr>
            <a:r>
              <a:rPr b="1" i="0" lang="en-US" sz="1900" u="none" cap="none" strike="noStrike">
                <a:solidFill>
                  <a:srgbClr val="FBFBF8"/>
                </a:solidFill>
                <a:latin typeface="Calibri"/>
                <a:ea typeface="Calibri"/>
                <a:cs typeface="Calibri"/>
                <a:sym typeface="Calibri"/>
              </a:rPr>
              <a:t>Próximo: una placa de calibración con líneas de ancho conocido</a:t>
            </a:r>
            <a:endParaRPr b="0" i="0" sz="1900" u="none" cap="none" strike="noStrike">
              <a:solidFill>
                <a:schemeClr val="dk1"/>
              </a:solidFill>
              <a:latin typeface="Calibri"/>
              <a:ea typeface="Calibri"/>
              <a:cs typeface="Calibri"/>
              <a:sym typeface="Calibri"/>
            </a:endParaRPr>
          </a:p>
        </p:txBody>
      </p:sp>
      <p:sp>
        <p:nvSpPr>
          <p:cNvPr id="535" name="Google Shape;535;p6"/>
          <p:cNvSpPr txBox="1"/>
          <p:nvPr/>
        </p:nvSpPr>
        <p:spPr>
          <a:xfrm>
            <a:off x="812930" y="2882808"/>
            <a:ext cx="105660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FD0E6"/>
              </a:buClr>
              <a:buSzPts val="1400"/>
              <a:buFont typeface="Calibri"/>
              <a:buNone/>
            </a:pPr>
            <a:r>
              <a:rPr b="0" i="0" lang="en-US" sz="1400" u="none" cap="none" strike="noStrike">
                <a:solidFill>
                  <a:srgbClr val="BFD0E6"/>
                </a:solidFill>
                <a:latin typeface="Calibri"/>
                <a:ea typeface="Calibri"/>
                <a:cs typeface="Calibri"/>
                <a:sym typeface="Calibri"/>
              </a:rPr>
              <a:t>Decide si el método gana detalle en nuestro montaje</a:t>
            </a:r>
            <a:endParaRPr b="0" i="0" sz="1400" u="none" cap="none" strike="noStrike">
              <a:solidFill>
                <a:schemeClr val="dk1"/>
              </a:solidFill>
              <a:latin typeface="Calibri"/>
              <a:ea typeface="Calibri"/>
              <a:cs typeface="Calibri"/>
              <a:sym typeface="Calibri"/>
            </a:endParaRPr>
          </a:p>
        </p:txBody>
      </p:sp>
      <p:sp>
        <p:nvSpPr>
          <p:cNvPr id="536" name="Google Shape;536;p6"/>
          <p:cNvSpPr txBox="1"/>
          <p:nvPr/>
        </p:nvSpPr>
        <p:spPr>
          <a:xfrm>
            <a:off x="889355" y="3530607"/>
            <a:ext cx="105660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BFBF8"/>
              </a:buClr>
              <a:buSzPts val="1900"/>
              <a:buFont typeface="Calibri"/>
              <a:buNone/>
            </a:pPr>
            <a:r>
              <a:rPr b="1" i="0" lang="en-US" sz="1900" u="none" cap="none" strike="noStrike">
                <a:solidFill>
                  <a:srgbClr val="FBFBF8"/>
                </a:solidFill>
                <a:latin typeface="Calibri"/>
                <a:ea typeface="Calibri"/>
                <a:cs typeface="Calibri"/>
                <a:sym typeface="Calibri"/>
              </a:rPr>
              <a:t>Próximo: combinar verde y azul con la dispersión conocida, en datos reales</a:t>
            </a:r>
            <a:endParaRPr b="0" i="0" sz="1900" u="none" cap="none" strike="noStrike">
              <a:solidFill>
                <a:schemeClr val="dk1"/>
              </a:solidFill>
              <a:latin typeface="Calibri"/>
              <a:ea typeface="Calibri"/>
              <a:cs typeface="Calibri"/>
              <a:sym typeface="Calibri"/>
            </a:endParaRPr>
          </a:p>
        </p:txBody>
      </p:sp>
      <p:sp>
        <p:nvSpPr>
          <p:cNvPr id="537" name="Google Shape;537;p6"/>
          <p:cNvSpPr txBox="1"/>
          <p:nvPr/>
        </p:nvSpPr>
        <p:spPr>
          <a:xfrm>
            <a:off x="889355" y="3886198"/>
            <a:ext cx="105660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FD0E6"/>
              </a:buClr>
              <a:buSzPts val="1400"/>
              <a:buFont typeface="Calibri"/>
              <a:buNone/>
            </a:pPr>
            <a:r>
              <a:rPr b="0" i="0" lang="en-US" sz="1400" u="none" cap="none" strike="noStrike">
                <a:solidFill>
                  <a:srgbClr val="BFD0E6"/>
                </a:solidFill>
                <a:latin typeface="Calibri"/>
                <a:ea typeface="Calibri"/>
                <a:cs typeface="Calibri"/>
                <a:sym typeface="Calibri"/>
              </a:rPr>
              <a:t>En simulación funciona; con datos reales todavía no se probó</a:t>
            </a:r>
            <a:endParaRPr b="0" i="0" sz="1400" u="none" cap="none" strike="noStrike">
              <a:solidFill>
                <a:schemeClr val="dk1"/>
              </a:solidFill>
              <a:latin typeface="Calibri"/>
              <a:ea typeface="Calibri"/>
              <a:cs typeface="Calibri"/>
              <a:sym typeface="Calibri"/>
            </a:endParaRPr>
          </a:p>
        </p:txBody>
      </p:sp>
      <p:sp>
        <p:nvSpPr>
          <p:cNvPr id="538" name="Google Shape;538;p6"/>
          <p:cNvSpPr txBox="1"/>
          <p:nvPr/>
        </p:nvSpPr>
        <p:spPr>
          <a:xfrm>
            <a:off x="812780" y="5714857"/>
            <a:ext cx="10566136"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1400"/>
              <a:buFont typeface="Calibri"/>
              <a:buNone/>
            </a:pPr>
            <a:r>
              <a:rPr b="0" i="0" lang="en-US" sz="1400" u="none" cap="none" strike="noStrike">
                <a:solidFill>
                  <a:srgbClr val="D9692B"/>
                </a:solidFill>
                <a:latin typeface="Calibri"/>
                <a:ea typeface="Calibri"/>
                <a:cs typeface="Calibri"/>
                <a:sym typeface="Calibri"/>
              </a:rPr>
              <a:t>Informe completo: https://claude.ai/code/artifact/de7eab31-d9e0-4828-a62d-285ba0d46a98</a:t>
            </a:r>
            <a:endParaRPr b="0" i="0" sz="1400" u="none" cap="none" strike="noStrike">
              <a:solidFill>
                <a:schemeClr val="dk1"/>
              </a:solidFill>
              <a:latin typeface="Calibri"/>
              <a:ea typeface="Calibri"/>
              <a:cs typeface="Calibri"/>
              <a:sym typeface="Calibri"/>
            </a:endParaRPr>
          </a:p>
        </p:txBody>
      </p:sp>
      <p:sp>
        <p:nvSpPr>
          <p:cNvPr id="539" name="Google Shape;539;p6"/>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6 / 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544" name="Shape 544"/>
        <p:cNvGrpSpPr/>
        <p:nvPr/>
      </p:nvGrpSpPr>
      <p:grpSpPr>
        <a:xfrm>
          <a:off x="0" y="0"/>
          <a:ext cx="0" cy="0"/>
          <a:chOff x="0" y="0"/>
          <a:chExt cx="0" cy="0"/>
        </a:xfrm>
      </p:grpSpPr>
      <p:sp>
        <p:nvSpPr>
          <p:cNvPr id="545" name="Google Shape;545;p7"/>
          <p:cNvSpPr txBox="1"/>
          <p:nvPr/>
        </p:nvSpPr>
        <p:spPr>
          <a:xfrm>
            <a:off x="812780" y="2412940"/>
            <a:ext cx="10566136" cy="3174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1600"/>
              <a:buFont typeface="Calibri"/>
              <a:buNone/>
            </a:pPr>
            <a:r>
              <a:rPr b="1" i="0" lang="en-US" sz="1600" u="none" cap="none" strike="noStrike">
                <a:solidFill>
                  <a:srgbClr val="D9692B"/>
                </a:solidFill>
                <a:latin typeface="Calibri"/>
                <a:ea typeface="Calibri"/>
                <a:cs typeface="Calibri"/>
                <a:sym typeface="Calibri"/>
              </a:rPr>
              <a:t>APÉNDICE</a:t>
            </a:r>
            <a:endParaRPr b="0" i="0" sz="1600" u="none" cap="none" strike="noStrike">
              <a:solidFill>
                <a:schemeClr val="dk1"/>
              </a:solidFill>
              <a:latin typeface="Calibri"/>
              <a:ea typeface="Calibri"/>
              <a:cs typeface="Calibri"/>
              <a:sym typeface="Calibri"/>
            </a:endParaRPr>
          </a:p>
        </p:txBody>
      </p:sp>
      <p:sp>
        <p:nvSpPr>
          <p:cNvPr id="546" name="Google Shape;546;p7"/>
          <p:cNvSpPr txBox="1"/>
          <p:nvPr/>
        </p:nvSpPr>
        <p:spPr>
          <a:xfrm>
            <a:off x="812780" y="2857429"/>
            <a:ext cx="10566136" cy="8254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BFBF8"/>
              </a:buClr>
              <a:buSzPts val="4800"/>
              <a:buFont typeface="Cambria"/>
              <a:buNone/>
            </a:pPr>
            <a:r>
              <a:rPr b="1" i="0" lang="en-US" sz="4800" u="none" cap="none" strike="noStrike">
                <a:solidFill>
                  <a:srgbClr val="FBFBF8"/>
                </a:solidFill>
                <a:latin typeface="Cambria"/>
                <a:ea typeface="Cambria"/>
                <a:cs typeface="Cambria"/>
                <a:sym typeface="Cambria"/>
              </a:rPr>
              <a:t>Para preguntas</a:t>
            </a:r>
            <a:endParaRPr b="0" i="0" sz="4800" u="none" cap="none" strike="noStrike">
              <a:solidFill>
                <a:schemeClr val="dk1"/>
              </a:solidFill>
              <a:latin typeface="Calibri"/>
              <a:ea typeface="Calibri"/>
              <a:cs typeface="Calibri"/>
              <a:sym typeface="Calibri"/>
            </a:endParaRPr>
          </a:p>
        </p:txBody>
      </p:sp>
      <p:sp>
        <p:nvSpPr>
          <p:cNvPr id="547" name="Google Shape;547;p7"/>
          <p:cNvSpPr txBox="1"/>
          <p:nvPr/>
        </p:nvSpPr>
        <p:spPr>
          <a:xfrm>
            <a:off x="812780" y="3873403"/>
            <a:ext cx="10566136" cy="38099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FD0E6"/>
              </a:buClr>
              <a:buSzPts val="1800"/>
              <a:buFont typeface="Calibri"/>
              <a:buNone/>
            </a:pPr>
            <a:r>
              <a:rPr b="0" i="0" lang="en-US" sz="1800" u="none" cap="none" strike="noStrike">
                <a:solidFill>
                  <a:srgbClr val="BFD0E6"/>
                </a:solidFill>
                <a:latin typeface="Calibri"/>
                <a:ea typeface="Calibri"/>
                <a:cs typeface="Calibri"/>
                <a:sym typeface="Calibri"/>
              </a:rPr>
              <a:t>Control de los agentes · quién hizo qué · reconstrucción conjunta · foco o solapamiento</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552" name="Shape 552"/>
        <p:cNvGrpSpPr/>
        <p:nvPr/>
      </p:nvGrpSpPr>
      <p:grpSpPr>
        <a:xfrm>
          <a:off x="0" y="0"/>
          <a:ext cx="0" cy="0"/>
          <a:chOff x="0" y="0"/>
          <a:chExt cx="0" cy="0"/>
        </a:xfrm>
      </p:grpSpPr>
      <p:sp>
        <p:nvSpPr>
          <p:cNvPr id="553" name="Google Shape;553;p8"/>
          <p:cNvSpPr/>
          <p:nvPr/>
        </p:nvSpPr>
        <p:spPr>
          <a:xfrm>
            <a:off x="812780" y="711182"/>
            <a:ext cx="1498563" cy="330192"/>
          </a:xfrm>
          <a:prstGeom prst="roundRect">
            <a:avLst>
              <a:gd fmla="val 55386" name="adj"/>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8"/>
          <p:cNvSpPr txBox="1"/>
          <p:nvPr/>
        </p:nvSpPr>
        <p:spPr>
          <a:xfrm>
            <a:off x="812780" y="711182"/>
            <a:ext cx="1498563"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7382"/>
              </a:buClr>
              <a:buSzPts val="1300"/>
              <a:buFont typeface="Calibri"/>
              <a:buNone/>
            </a:pPr>
            <a:r>
              <a:rPr b="1" i="0" lang="en-US" sz="1300" u="none" cap="none" strike="noStrike">
                <a:solidFill>
                  <a:srgbClr val="6A7382"/>
                </a:solidFill>
                <a:latin typeface="Calibri"/>
                <a:ea typeface="Calibri"/>
                <a:cs typeface="Calibri"/>
                <a:sym typeface="Calibri"/>
              </a:rPr>
              <a:t>APÉNDICE</a:t>
            </a:r>
            <a:endParaRPr b="0" i="0" sz="1300" u="none" cap="none" strike="noStrike">
              <a:solidFill>
                <a:schemeClr val="dk1"/>
              </a:solidFill>
              <a:latin typeface="Calibri"/>
              <a:ea typeface="Calibri"/>
              <a:cs typeface="Calibri"/>
              <a:sym typeface="Calibri"/>
            </a:endParaRPr>
          </a:p>
        </p:txBody>
      </p:sp>
      <p:sp>
        <p:nvSpPr>
          <p:cNvPr id="555" name="Google Shape;555;p8"/>
          <p:cNvSpPr txBox="1"/>
          <p:nvPr/>
        </p:nvSpPr>
        <p:spPr>
          <a:xfrm>
            <a:off x="812780" y="1142971"/>
            <a:ext cx="10566136" cy="5714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¿Cómo controlamos a los agentes?</a:t>
            </a:r>
            <a:endParaRPr b="0" i="0" sz="3300" u="none" cap="none" strike="noStrike">
              <a:solidFill>
                <a:schemeClr val="dk1"/>
              </a:solidFill>
              <a:latin typeface="Calibri"/>
              <a:ea typeface="Calibri"/>
              <a:cs typeface="Calibri"/>
              <a:sym typeface="Calibri"/>
            </a:endParaRPr>
          </a:p>
        </p:txBody>
      </p:sp>
      <p:sp>
        <p:nvSpPr>
          <p:cNvPr id="556" name="Google Shape;556;p8"/>
          <p:cNvSpPr/>
          <p:nvPr/>
        </p:nvSpPr>
        <p:spPr>
          <a:xfrm>
            <a:off x="812780" y="1904952"/>
            <a:ext cx="5206870" cy="158746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8"/>
          <p:cNvSpPr txBox="1"/>
          <p:nvPr/>
        </p:nvSpPr>
        <p:spPr>
          <a:xfrm>
            <a:off x="1015975" y="2070048"/>
            <a:ext cx="480048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Cada número con su fuente</a:t>
            </a:r>
            <a:endParaRPr b="0" i="0" sz="1500" u="none" cap="none" strike="noStrike">
              <a:solidFill>
                <a:schemeClr val="dk1"/>
              </a:solidFill>
              <a:latin typeface="Calibri"/>
              <a:ea typeface="Calibri"/>
              <a:cs typeface="Calibri"/>
              <a:sym typeface="Calibri"/>
            </a:endParaRPr>
          </a:p>
        </p:txBody>
      </p:sp>
      <p:sp>
        <p:nvSpPr>
          <p:cNvPr id="558" name="Google Shape;558;p8"/>
          <p:cNvSpPr txBox="1"/>
          <p:nvPr/>
        </p:nvSpPr>
        <p:spPr>
          <a:xfrm>
            <a:off x="1015975" y="2412940"/>
            <a:ext cx="4800480" cy="9524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El resumen tiene </a:t>
            </a:r>
            <a:r>
              <a:rPr b="1" i="0" lang="en-US" sz="1300" u="none" cap="none" strike="noStrike">
                <a:solidFill>
                  <a:srgbClr val="3D4A5C"/>
                </a:solidFill>
                <a:latin typeface="Calibri"/>
                <a:ea typeface="Calibri"/>
                <a:cs typeface="Calibri"/>
                <a:sym typeface="Calibri"/>
              </a:rPr>
              <a:t>41</a:t>
            </a:r>
            <a:r>
              <a:rPr b="0" i="0" lang="en-US" sz="1300" u="none" cap="none" strike="noStrike">
                <a:solidFill>
                  <a:srgbClr val="3D4A5C"/>
                </a:solidFill>
                <a:latin typeface="Calibri"/>
                <a:ea typeface="Calibri"/>
                <a:cs typeface="Calibri"/>
                <a:sym typeface="Calibri"/>
              </a:rPr>
              <a:t> números marcados; un script verifica que cada uno coincide con el registro (69 entradas).</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El registro lo escribe solo un programa, no una persona ni un agente.</a:t>
            </a:r>
            <a:endParaRPr b="0" i="0" sz="1300" u="none" cap="none" strike="noStrike">
              <a:solidFill>
                <a:schemeClr val="dk1"/>
              </a:solidFill>
              <a:latin typeface="Calibri"/>
              <a:ea typeface="Calibri"/>
              <a:cs typeface="Calibri"/>
              <a:sym typeface="Calibri"/>
            </a:endParaRPr>
          </a:p>
        </p:txBody>
      </p:sp>
      <p:sp>
        <p:nvSpPr>
          <p:cNvPr id="559" name="Google Shape;559;p8"/>
          <p:cNvSpPr/>
          <p:nvPr/>
        </p:nvSpPr>
        <p:spPr>
          <a:xfrm>
            <a:off x="6172046" y="1904952"/>
            <a:ext cx="5206870" cy="158746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8"/>
          <p:cNvSpPr txBox="1"/>
          <p:nvPr/>
        </p:nvSpPr>
        <p:spPr>
          <a:xfrm>
            <a:off x="6375241" y="2070048"/>
            <a:ext cx="480048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Pruebas que el agente no puede editar</a:t>
            </a:r>
            <a:endParaRPr b="0" i="0" sz="1500" u="none" cap="none" strike="noStrike">
              <a:solidFill>
                <a:schemeClr val="dk1"/>
              </a:solidFill>
              <a:latin typeface="Calibri"/>
              <a:ea typeface="Calibri"/>
              <a:cs typeface="Calibri"/>
              <a:sym typeface="Calibri"/>
            </a:endParaRPr>
          </a:p>
        </p:txBody>
      </p:sp>
      <p:sp>
        <p:nvSpPr>
          <p:cNvPr id="561" name="Google Shape;561;p8"/>
          <p:cNvSpPr txBox="1"/>
          <p:nvPr/>
        </p:nvSpPr>
        <p:spPr>
          <a:xfrm>
            <a:off x="6375241" y="2412940"/>
            <a:ext cx="4800480" cy="9524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En la reconstrucción conjunta, la prueba de aceptación tenía su hash fijado.</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Criterios y umbrales fijos: no se cambian después de ver resultados.</a:t>
            </a:r>
            <a:endParaRPr b="0" i="0" sz="1300" u="none" cap="none" strike="noStrike">
              <a:solidFill>
                <a:schemeClr val="dk1"/>
              </a:solidFill>
              <a:latin typeface="Calibri"/>
              <a:ea typeface="Calibri"/>
              <a:cs typeface="Calibri"/>
              <a:sym typeface="Calibri"/>
            </a:endParaRPr>
          </a:p>
        </p:txBody>
      </p:sp>
      <p:sp>
        <p:nvSpPr>
          <p:cNvPr id="562" name="Google Shape;562;p8"/>
          <p:cNvSpPr/>
          <p:nvPr/>
        </p:nvSpPr>
        <p:spPr>
          <a:xfrm>
            <a:off x="812780" y="3644809"/>
            <a:ext cx="5206870" cy="158746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8"/>
          <p:cNvSpPr txBox="1"/>
          <p:nvPr/>
        </p:nvSpPr>
        <p:spPr>
          <a:xfrm>
            <a:off x="1015975" y="3809905"/>
            <a:ext cx="480048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Un verificador independiente</a:t>
            </a:r>
            <a:endParaRPr b="0" i="0" sz="1500" u="none" cap="none" strike="noStrike">
              <a:solidFill>
                <a:schemeClr val="dk1"/>
              </a:solidFill>
              <a:latin typeface="Calibri"/>
              <a:ea typeface="Calibri"/>
              <a:cs typeface="Calibri"/>
              <a:sym typeface="Calibri"/>
            </a:endParaRPr>
          </a:p>
        </p:txBody>
      </p:sp>
      <p:sp>
        <p:nvSpPr>
          <p:cNvPr id="564" name="Google Shape;564;p8"/>
          <p:cNvSpPr txBox="1"/>
          <p:nvPr/>
        </p:nvSpPr>
        <p:spPr>
          <a:xfrm>
            <a:off x="1015975" y="4152796"/>
            <a:ext cx="4800480" cy="9524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Otro agente rehace cada número con su propio código.</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Ej.: gradiente 1,03e-8; el verificador obtuvo 6,0e-9.</a:t>
            </a:r>
            <a:endParaRPr b="0" i="0" sz="1300" u="none" cap="none" strike="noStrike">
              <a:solidFill>
                <a:schemeClr val="dk1"/>
              </a:solidFill>
              <a:latin typeface="Calibri"/>
              <a:ea typeface="Calibri"/>
              <a:cs typeface="Calibri"/>
              <a:sym typeface="Calibri"/>
            </a:endParaRPr>
          </a:p>
        </p:txBody>
      </p:sp>
      <p:sp>
        <p:nvSpPr>
          <p:cNvPr id="565" name="Google Shape;565;p8"/>
          <p:cNvSpPr/>
          <p:nvPr/>
        </p:nvSpPr>
        <p:spPr>
          <a:xfrm>
            <a:off x="6172046" y="3644809"/>
            <a:ext cx="5206870" cy="158746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8"/>
          <p:cNvSpPr txBox="1"/>
          <p:nvPr/>
        </p:nvSpPr>
        <p:spPr>
          <a:xfrm>
            <a:off x="6375241" y="3809905"/>
            <a:ext cx="480048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Criterios escritos antes</a:t>
            </a:r>
            <a:endParaRPr b="0" i="0" sz="1500" u="none" cap="none" strike="noStrike">
              <a:solidFill>
                <a:schemeClr val="dk1"/>
              </a:solidFill>
              <a:latin typeface="Calibri"/>
              <a:ea typeface="Calibri"/>
              <a:cs typeface="Calibri"/>
              <a:sym typeface="Calibri"/>
            </a:endParaRPr>
          </a:p>
        </p:txBody>
      </p:sp>
      <p:sp>
        <p:nvSpPr>
          <p:cNvPr id="567" name="Google Shape;567;p8"/>
          <p:cNvSpPr txBox="1"/>
          <p:nvPr/>
        </p:nvSpPr>
        <p:spPr>
          <a:xfrm>
            <a:off x="6375241" y="4152796"/>
            <a:ext cx="4800480" cy="95247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Cada experimento largo tiene un plan en docs/ con los criterios de éxito, escrito antes de correr.</a:t>
            </a:r>
            <a:endParaRPr b="0" i="0" sz="13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Suite de pruebas automáticas: 399 pasan</a:t>
            </a:r>
            <a:endParaRPr b="0" i="0" sz="1300" u="none" cap="none" strike="noStrike">
              <a:solidFill>
                <a:schemeClr val="dk1"/>
              </a:solidFill>
              <a:latin typeface="Calibri"/>
              <a:ea typeface="Calibri"/>
              <a:cs typeface="Calibri"/>
              <a:sym typeface="Calibri"/>
            </a:endParaRPr>
          </a:p>
        </p:txBody>
      </p:sp>
      <p:sp>
        <p:nvSpPr>
          <p:cNvPr id="568" name="Google Shape;568;p8"/>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A1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573" name="Shape 573"/>
        <p:cNvGrpSpPr/>
        <p:nvPr/>
      </p:nvGrpSpPr>
      <p:grpSpPr>
        <a:xfrm>
          <a:off x="0" y="0"/>
          <a:ext cx="0" cy="0"/>
          <a:chOff x="0" y="0"/>
          <a:chExt cx="0" cy="0"/>
        </a:xfrm>
      </p:grpSpPr>
      <p:sp>
        <p:nvSpPr>
          <p:cNvPr id="574" name="Google Shape;574;p9"/>
          <p:cNvSpPr/>
          <p:nvPr/>
        </p:nvSpPr>
        <p:spPr>
          <a:xfrm>
            <a:off x="812780" y="711182"/>
            <a:ext cx="1498563" cy="330192"/>
          </a:xfrm>
          <a:prstGeom prst="roundRect">
            <a:avLst>
              <a:gd fmla="val 55386" name="adj"/>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9"/>
          <p:cNvSpPr txBox="1"/>
          <p:nvPr/>
        </p:nvSpPr>
        <p:spPr>
          <a:xfrm>
            <a:off x="812780" y="711182"/>
            <a:ext cx="1498563"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7382"/>
              </a:buClr>
              <a:buSzPts val="1300"/>
              <a:buFont typeface="Calibri"/>
              <a:buNone/>
            </a:pPr>
            <a:r>
              <a:rPr b="1" i="0" lang="en-US" sz="1300" u="none" cap="none" strike="noStrike">
                <a:solidFill>
                  <a:srgbClr val="6A7382"/>
                </a:solidFill>
                <a:latin typeface="Calibri"/>
                <a:ea typeface="Calibri"/>
                <a:cs typeface="Calibri"/>
                <a:sym typeface="Calibri"/>
              </a:rPr>
              <a:t>APÉNDICE</a:t>
            </a:r>
            <a:endParaRPr b="0" i="0" sz="1300" u="none" cap="none" strike="noStrike">
              <a:solidFill>
                <a:schemeClr val="dk1"/>
              </a:solidFill>
              <a:latin typeface="Calibri"/>
              <a:ea typeface="Calibri"/>
              <a:cs typeface="Calibri"/>
              <a:sym typeface="Calibri"/>
            </a:endParaRPr>
          </a:p>
        </p:txBody>
      </p:sp>
      <p:sp>
        <p:nvSpPr>
          <p:cNvPr id="576" name="Google Shape;576;p9"/>
          <p:cNvSpPr txBox="1"/>
          <p:nvPr/>
        </p:nvSpPr>
        <p:spPr>
          <a:xfrm>
            <a:off x="812780" y="1142971"/>
            <a:ext cx="10566136" cy="5714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¿Quién hizo qué?</a:t>
            </a:r>
            <a:endParaRPr b="0" i="0" sz="3300" u="none" cap="none" strike="noStrike">
              <a:solidFill>
                <a:schemeClr val="dk1"/>
              </a:solidFill>
              <a:latin typeface="Calibri"/>
              <a:ea typeface="Calibri"/>
              <a:cs typeface="Calibri"/>
              <a:sym typeface="Calibri"/>
            </a:endParaRPr>
          </a:p>
        </p:txBody>
      </p:sp>
      <p:sp>
        <p:nvSpPr>
          <p:cNvPr id="577" name="Google Shape;577;p9"/>
          <p:cNvSpPr/>
          <p:nvPr/>
        </p:nvSpPr>
        <p:spPr>
          <a:xfrm>
            <a:off x="812780" y="1841454"/>
            <a:ext cx="5181470" cy="1904952"/>
          </a:xfrm>
          <a:prstGeom prst="roundRect">
            <a:avLst>
              <a:gd fmla="val 5760"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9"/>
          <p:cNvSpPr txBox="1"/>
          <p:nvPr/>
        </p:nvSpPr>
        <p:spPr>
          <a:xfrm>
            <a:off x="1015975" y="2006550"/>
            <a:ext cx="4775081"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1500"/>
              <a:buFont typeface="Calibri"/>
              <a:buNone/>
            </a:pPr>
            <a:r>
              <a:rPr b="1" i="0" lang="en-US" sz="1500" u="none" cap="none" strike="noStrike">
                <a:solidFill>
                  <a:srgbClr val="D9692B"/>
                </a:solidFill>
                <a:latin typeface="Calibri"/>
                <a:ea typeface="Calibri"/>
                <a:cs typeface="Calibri"/>
                <a:sym typeface="Calibri"/>
              </a:rPr>
              <a:t>La persona (Lucas)</a:t>
            </a:r>
            <a:endParaRPr b="0" i="0" sz="1500" u="none" cap="none" strike="noStrike">
              <a:solidFill>
                <a:schemeClr val="dk1"/>
              </a:solidFill>
              <a:latin typeface="Calibri"/>
              <a:ea typeface="Calibri"/>
              <a:cs typeface="Calibri"/>
              <a:sym typeface="Calibri"/>
            </a:endParaRPr>
          </a:p>
        </p:txBody>
      </p:sp>
      <p:sp>
        <p:nvSpPr>
          <p:cNvPr id="579" name="Google Shape;579;p9"/>
          <p:cNvSpPr txBox="1"/>
          <p:nvPr/>
        </p:nvSpPr>
        <p:spPr>
          <a:xfrm>
            <a:off x="1015975" y="2349441"/>
            <a:ext cx="4775081" cy="1269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400"/>
              <a:buFont typeface="Calibri"/>
              <a:buNone/>
            </a:pPr>
            <a:r>
              <a:rPr b="0" i="0" lang="en-US" sz="1400" u="none" cap="none" strike="noStrike">
                <a:solidFill>
                  <a:srgbClr val="3D4A5C"/>
                </a:solidFill>
                <a:latin typeface="Calibri"/>
                <a:ea typeface="Calibri"/>
                <a:cs typeface="Calibri"/>
                <a:sym typeface="Calibri"/>
              </a:rPr>
              <a:t>Armó el montaje y tomó las capturas en el laboratorio</a:t>
            </a:r>
            <a:endParaRPr b="0" i="0" sz="14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3D4A5C"/>
              </a:buClr>
              <a:buSzPts val="1400"/>
              <a:buFont typeface="Calibri"/>
              <a:buNone/>
            </a:pPr>
            <a:r>
              <a:rPr b="0" i="0" lang="en-US" sz="1400" u="none" cap="none" strike="noStrike">
                <a:solidFill>
                  <a:srgbClr val="3D4A5C"/>
                </a:solidFill>
                <a:latin typeface="Calibri"/>
                <a:ea typeface="Calibri"/>
                <a:cs typeface="Calibri"/>
                <a:sym typeface="Calibri"/>
              </a:rPr>
              <a:t>Dio los datos reales del hardware: objetivo, cámara, altura de la matriz</a:t>
            </a:r>
            <a:endParaRPr b="0" i="0" sz="14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3D4A5C"/>
              </a:buClr>
              <a:buSzPts val="1400"/>
              <a:buFont typeface="Calibri"/>
              <a:buNone/>
            </a:pPr>
            <a:r>
              <a:rPr b="0" i="0" lang="en-US" sz="1400" u="none" cap="none" strike="noStrike">
                <a:solidFill>
                  <a:srgbClr val="3D4A5C"/>
                </a:solidFill>
                <a:latin typeface="Calibri"/>
                <a:ea typeface="Calibri"/>
                <a:cs typeface="Calibri"/>
                <a:sym typeface="Calibri"/>
              </a:rPr>
              <a:t>Decidió qué probar y tuvo el criterio final</a:t>
            </a:r>
            <a:endParaRPr b="0" i="0" sz="1400" u="none" cap="none" strike="noStrike">
              <a:solidFill>
                <a:schemeClr val="dk1"/>
              </a:solidFill>
              <a:latin typeface="Calibri"/>
              <a:ea typeface="Calibri"/>
              <a:cs typeface="Calibri"/>
              <a:sym typeface="Calibri"/>
            </a:endParaRPr>
          </a:p>
        </p:txBody>
      </p:sp>
      <p:sp>
        <p:nvSpPr>
          <p:cNvPr id="580" name="Google Shape;580;p9"/>
          <p:cNvSpPr/>
          <p:nvPr/>
        </p:nvSpPr>
        <p:spPr>
          <a:xfrm>
            <a:off x="6197445" y="1841454"/>
            <a:ext cx="5181470" cy="1904952"/>
          </a:xfrm>
          <a:prstGeom prst="roundRect">
            <a:avLst>
              <a:gd fmla="val 5760"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9"/>
          <p:cNvSpPr txBox="1"/>
          <p:nvPr/>
        </p:nvSpPr>
        <p:spPr>
          <a:xfrm>
            <a:off x="6400640" y="2006550"/>
            <a:ext cx="4775081"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Los agentes (Claude)</a:t>
            </a:r>
            <a:endParaRPr b="0" i="0" sz="1500" u="none" cap="none" strike="noStrike">
              <a:solidFill>
                <a:schemeClr val="dk1"/>
              </a:solidFill>
              <a:latin typeface="Calibri"/>
              <a:ea typeface="Calibri"/>
              <a:cs typeface="Calibri"/>
              <a:sym typeface="Calibri"/>
            </a:endParaRPr>
          </a:p>
        </p:txBody>
      </p:sp>
      <p:sp>
        <p:nvSpPr>
          <p:cNvPr id="582" name="Google Shape;582;p9"/>
          <p:cNvSpPr txBox="1"/>
          <p:nvPr/>
        </p:nvSpPr>
        <p:spPr>
          <a:xfrm>
            <a:off x="6400640" y="2349441"/>
            <a:ext cx="4775081" cy="12699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400"/>
              <a:buFont typeface="Calibri"/>
              <a:buNone/>
            </a:pPr>
            <a:r>
              <a:rPr b="0" i="0" lang="en-US" sz="1400" u="none" cap="none" strike="noStrike">
                <a:solidFill>
                  <a:srgbClr val="3D4A5C"/>
                </a:solidFill>
                <a:latin typeface="Calibri"/>
                <a:ea typeface="Calibri"/>
                <a:cs typeface="Calibri"/>
                <a:sym typeface="Calibri"/>
              </a:rPr>
              <a:t>El código del simulador y de la reconstrucción: </a:t>
            </a:r>
            <a:r>
              <a:rPr b="1" i="0" lang="en-US" sz="1400" u="none" cap="none" strike="noStrike">
                <a:solidFill>
                  <a:srgbClr val="3D4A5C"/>
                </a:solidFill>
                <a:latin typeface="Calibri"/>
                <a:ea typeface="Calibri"/>
                <a:cs typeface="Calibri"/>
                <a:sym typeface="Calibri"/>
              </a:rPr>
              <a:t>97 de 99</a:t>
            </a:r>
            <a:r>
              <a:rPr b="0" i="0" lang="en-US" sz="1400" u="none" cap="none" strike="noStrike">
                <a:solidFill>
                  <a:srgbClr val="3D4A5C"/>
                </a:solidFill>
                <a:latin typeface="Calibri"/>
                <a:ea typeface="Calibri"/>
                <a:cs typeface="Calibri"/>
                <a:sym typeface="Calibri"/>
              </a:rPr>
              <a:t> commits con Claude como coautor</a:t>
            </a:r>
            <a:endParaRPr b="0" i="0" sz="14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3D4A5C"/>
              </a:buClr>
              <a:buSzPts val="1400"/>
              <a:buFont typeface="Calibri"/>
              <a:buNone/>
            </a:pPr>
            <a:r>
              <a:rPr b="0" i="0" lang="en-US" sz="1400" u="none" cap="none" strike="noStrike">
                <a:solidFill>
                  <a:srgbClr val="3D4A5C"/>
                </a:solidFill>
                <a:latin typeface="Calibri"/>
                <a:ea typeface="Calibri"/>
                <a:cs typeface="Calibri"/>
                <a:sym typeface="Calibri"/>
              </a:rPr>
              <a:t>Análisis, diagnóstico de errores e informes</a:t>
            </a:r>
            <a:endParaRPr b="0" i="0" sz="14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rgbClr val="3D4A5C"/>
              </a:buClr>
              <a:buSzPts val="1400"/>
              <a:buFont typeface="Calibri"/>
              <a:buNone/>
            </a:pPr>
            <a:r>
              <a:rPr b="0" i="0" lang="en-US" sz="1400" u="none" cap="none" strike="noStrike">
                <a:solidFill>
                  <a:srgbClr val="3D4A5C"/>
                </a:solidFill>
                <a:latin typeface="Calibri"/>
                <a:ea typeface="Calibri"/>
                <a:cs typeface="Calibri"/>
                <a:sym typeface="Calibri"/>
              </a:rPr>
              <a:t>Sugerencias de captura y esta presentación</a:t>
            </a:r>
            <a:endParaRPr b="0" i="0" sz="1400" u="none" cap="none" strike="noStrike">
              <a:solidFill>
                <a:schemeClr val="dk1"/>
              </a:solidFill>
              <a:latin typeface="Calibri"/>
              <a:ea typeface="Calibri"/>
              <a:cs typeface="Calibri"/>
              <a:sym typeface="Calibri"/>
            </a:endParaRPr>
          </a:p>
        </p:txBody>
      </p:sp>
      <p:sp>
        <p:nvSpPr>
          <p:cNvPr id="583" name="Google Shape;583;p9"/>
          <p:cNvSpPr txBox="1"/>
          <p:nvPr/>
        </p:nvSpPr>
        <p:spPr>
          <a:xfrm>
            <a:off x="812780" y="3898803"/>
            <a:ext cx="10566136" cy="2539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400"/>
              <a:buFont typeface="Calibri"/>
              <a:buNone/>
            </a:pPr>
            <a:r>
              <a:rPr b="0" i="0" lang="en-US" sz="1400" u="none" cap="none" strike="noStrike">
                <a:solidFill>
                  <a:srgbClr val="6A7382"/>
                </a:solidFill>
                <a:latin typeface="Calibri"/>
                <a:ea typeface="Calibri"/>
                <a:cs typeface="Calibri"/>
                <a:sym typeface="Calibri"/>
              </a:rPr>
              <a:t>Los agentes no hacen commits por su cuenta: solo cuando la persona lo pide.</a:t>
            </a:r>
            <a:endParaRPr b="0" i="0" sz="1400" u="none" cap="none" strike="noStrike">
              <a:solidFill>
                <a:schemeClr val="dk1"/>
              </a:solidFill>
              <a:latin typeface="Calibri"/>
              <a:ea typeface="Calibri"/>
              <a:cs typeface="Calibri"/>
              <a:sym typeface="Calibri"/>
            </a:endParaRPr>
          </a:p>
        </p:txBody>
      </p:sp>
      <p:sp>
        <p:nvSpPr>
          <p:cNvPr id="584" name="Google Shape;584;p9"/>
          <p:cNvSpPr txBox="1"/>
          <p:nvPr/>
        </p:nvSpPr>
        <p:spPr>
          <a:xfrm>
            <a:off x="812780" y="4444889"/>
            <a:ext cx="10566136" cy="2539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300"/>
              <a:buFont typeface="Calibri"/>
              <a:buNone/>
            </a:pPr>
            <a:r>
              <a:rPr b="1" i="0" lang="en-US" sz="1300" u="none" cap="none" strike="noStrike">
                <a:solidFill>
                  <a:srgbClr val="6A7382"/>
                </a:solidFill>
                <a:latin typeface="Calibri"/>
                <a:ea typeface="Calibri"/>
                <a:cs typeface="Calibri"/>
                <a:sym typeface="Calibri"/>
              </a:rPr>
              <a:t>Una ronda de un equipo de agentes</a:t>
            </a:r>
            <a:endParaRPr b="0" i="0" sz="1300" u="none" cap="none" strike="noStrike">
              <a:solidFill>
                <a:schemeClr val="dk1"/>
              </a:solidFill>
              <a:latin typeface="Calibri"/>
              <a:ea typeface="Calibri"/>
              <a:cs typeface="Calibri"/>
              <a:sym typeface="Calibri"/>
            </a:endParaRPr>
          </a:p>
        </p:txBody>
      </p:sp>
      <p:sp>
        <p:nvSpPr>
          <p:cNvPr id="585" name="Google Shape;585;p9"/>
          <p:cNvSpPr/>
          <p:nvPr/>
        </p:nvSpPr>
        <p:spPr>
          <a:xfrm>
            <a:off x="812780" y="4800480"/>
            <a:ext cx="1904952" cy="482588"/>
          </a:xfrm>
          <a:prstGeom prst="roundRect">
            <a:avLst>
              <a:gd fmla="val 18948" name="adj"/>
            </a:avLst>
          </a:prstGeom>
          <a:solidFill>
            <a:srgbClr val="FFFFFF"/>
          </a:solidFill>
          <a:ln cap="flat" cmpd="sng" w="19050">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9"/>
          <p:cNvSpPr txBox="1"/>
          <p:nvPr/>
        </p:nvSpPr>
        <p:spPr>
          <a:xfrm>
            <a:off x="812780" y="4800480"/>
            <a:ext cx="1904952" cy="4825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Persona: la pregunta</a:t>
            </a:r>
            <a:endParaRPr b="0" i="0" sz="1300" u="none" cap="none" strike="noStrike">
              <a:solidFill>
                <a:schemeClr val="dk1"/>
              </a:solidFill>
              <a:latin typeface="Calibri"/>
              <a:ea typeface="Calibri"/>
              <a:cs typeface="Calibri"/>
              <a:sym typeface="Calibri"/>
            </a:endParaRPr>
          </a:p>
        </p:txBody>
      </p:sp>
      <p:cxnSp>
        <p:nvCxnSpPr>
          <p:cNvPr id="587" name="Google Shape;587;p9"/>
          <p:cNvCxnSpPr/>
          <p:nvPr/>
        </p:nvCxnSpPr>
        <p:spPr>
          <a:xfrm>
            <a:off x="2793930" y="5041774"/>
            <a:ext cx="253994" cy="0"/>
          </a:xfrm>
          <a:prstGeom prst="straightConnector1">
            <a:avLst/>
          </a:prstGeom>
          <a:noFill/>
          <a:ln cap="flat" cmpd="sng" w="19050">
            <a:solidFill>
              <a:srgbClr val="6A7382"/>
            </a:solidFill>
            <a:prstDash val="solid"/>
            <a:round/>
            <a:headEnd len="sm" w="sm" type="none"/>
            <a:tailEnd len="med" w="med" type="triangle"/>
          </a:ln>
        </p:spPr>
      </p:cxnSp>
      <p:sp>
        <p:nvSpPr>
          <p:cNvPr id="588" name="Google Shape;588;p9"/>
          <p:cNvSpPr/>
          <p:nvPr/>
        </p:nvSpPr>
        <p:spPr>
          <a:xfrm>
            <a:off x="3124122" y="4800480"/>
            <a:ext cx="1269968" cy="482588"/>
          </a:xfrm>
          <a:prstGeom prst="roundRect">
            <a:avLst>
              <a:gd fmla="val 18948" name="adj"/>
            </a:avLst>
          </a:prstGeom>
          <a:solidFill>
            <a:srgbClr val="FFFFFF"/>
          </a:solidFill>
          <a:ln cap="flat" cmpd="sng" w="19050">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9"/>
          <p:cNvSpPr txBox="1"/>
          <p:nvPr/>
        </p:nvSpPr>
        <p:spPr>
          <a:xfrm>
            <a:off x="3124122" y="4800480"/>
            <a:ext cx="1269968" cy="4825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Agente líder</a:t>
            </a:r>
            <a:endParaRPr b="0" i="0" sz="1300" u="none" cap="none" strike="noStrike">
              <a:solidFill>
                <a:schemeClr val="dk1"/>
              </a:solidFill>
              <a:latin typeface="Calibri"/>
              <a:ea typeface="Calibri"/>
              <a:cs typeface="Calibri"/>
              <a:sym typeface="Calibri"/>
            </a:endParaRPr>
          </a:p>
        </p:txBody>
      </p:sp>
      <p:cxnSp>
        <p:nvCxnSpPr>
          <p:cNvPr id="590" name="Google Shape;590;p9"/>
          <p:cNvCxnSpPr/>
          <p:nvPr/>
        </p:nvCxnSpPr>
        <p:spPr>
          <a:xfrm>
            <a:off x="4470288" y="5041774"/>
            <a:ext cx="253994" cy="0"/>
          </a:xfrm>
          <a:prstGeom prst="straightConnector1">
            <a:avLst/>
          </a:prstGeom>
          <a:noFill/>
          <a:ln cap="flat" cmpd="sng" w="19050">
            <a:solidFill>
              <a:srgbClr val="6A7382"/>
            </a:solidFill>
            <a:prstDash val="solid"/>
            <a:round/>
            <a:headEnd len="sm" w="sm" type="none"/>
            <a:tailEnd len="med" w="med" type="triangle"/>
          </a:ln>
        </p:spPr>
      </p:cxnSp>
      <p:sp>
        <p:nvSpPr>
          <p:cNvPr id="591" name="Google Shape;591;p9"/>
          <p:cNvSpPr/>
          <p:nvPr/>
        </p:nvSpPr>
        <p:spPr>
          <a:xfrm>
            <a:off x="4800480" y="4800480"/>
            <a:ext cx="1333467" cy="482588"/>
          </a:xfrm>
          <a:prstGeom prst="roundRect">
            <a:avLst>
              <a:gd fmla="val 18948" name="adj"/>
            </a:avLst>
          </a:prstGeom>
          <a:solidFill>
            <a:srgbClr val="FFFFFF"/>
          </a:solidFill>
          <a:ln cap="flat" cmpd="sng" w="19050">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9"/>
          <p:cNvSpPr txBox="1"/>
          <p:nvPr/>
        </p:nvSpPr>
        <p:spPr>
          <a:xfrm>
            <a:off x="4800480" y="4800480"/>
            <a:ext cx="1333467" cy="4825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Trabajadores</a:t>
            </a:r>
            <a:endParaRPr b="0" i="0" sz="1300" u="none" cap="none" strike="noStrike">
              <a:solidFill>
                <a:schemeClr val="dk1"/>
              </a:solidFill>
              <a:latin typeface="Calibri"/>
              <a:ea typeface="Calibri"/>
              <a:cs typeface="Calibri"/>
              <a:sym typeface="Calibri"/>
            </a:endParaRPr>
          </a:p>
        </p:txBody>
      </p:sp>
      <p:cxnSp>
        <p:nvCxnSpPr>
          <p:cNvPr id="593" name="Google Shape;593;p9"/>
          <p:cNvCxnSpPr/>
          <p:nvPr/>
        </p:nvCxnSpPr>
        <p:spPr>
          <a:xfrm>
            <a:off x="6210145" y="5041774"/>
            <a:ext cx="253994" cy="0"/>
          </a:xfrm>
          <a:prstGeom prst="straightConnector1">
            <a:avLst/>
          </a:prstGeom>
          <a:noFill/>
          <a:ln cap="flat" cmpd="sng" w="19050">
            <a:solidFill>
              <a:srgbClr val="6A7382"/>
            </a:solidFill>
            <a:prstDash val="solid"/>
            <a:round/>
            <a:headEnd len="sm" w="sm" type="none"/>
            <a:tailEnd len="med" w="med" type="triangle"/>
          </a:ln>
        </p:spPr>
      </p:cxnSp>
      <p:sp>
        <p:nvSpPr>
          <p:cNvPr id="594" name="Google Shape;594;p9"/>
          <p:cNvSpPr/>
          <p:nvPr/>
        </p:nvSpPr>
        <p:spPr>
          <a:xfrm>
            <a:off x="6540336" y="4800480"/>
            <a:ext cx="1206470" cy="482588"/>
          </a:xfrm>
          <a:prstGeom prst="roundRect">
            <a:avLst>
              <a:gd fmla="val 18948" name="adj"/>
            </a:avLst>
          </a:prstGeom>
          <a:solidFill>
            <a:srgbClr val="F6D9C6"/>
          </a:solidFill>
          <a:ln cap="flat" cmpd="sng" w="1905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9"/>
          <p:cNvSpPr txBox="1"/>
          <p:nvPr/>
        </p:nvSpPr>
        <p:spPr>
          <a:xfrm>
            <a:off x="6540336" y="4800480"/>
            <a:ext cx="1206470" cy="4825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Verificador</a:t>
            </a:r>
            <a:endParaRPr b="0" i="0" sz="1300" u="none" cap="none" strike="noStrike">
              <a:solidFill>
                <a:schemeClr val="dk1"/>
              </a:solidFill>
              <a:latin typeface="Calibri"/>
              <a:ea typeface="Calibri"/>
              <a:cs typeface="Calibri"/>
              <a:sym typeface="Calibri"/>
            </a:endParaRPr>
          </a:p>
        </p:txBody>
      </p:sp>
      <p:cxnSp>
        <p:nvCxnSpPr>
          <p:cNvPr id="596" name="Google Shape;596;p9"/>
          <p:cNvCxnSpPr/>
          <p:nvPr/>
        </p:nvCxnSpPr>
        <p:spPr>
          <a:xfrm>
            <a:off x="7823004" y="5041774"/>
            <a:ext cx="253994" cy="0"/>
          </a:xfrm>
          <a:prstGeom prst="straightConnector1">
            <a:avLst/>
          </a:prstGeom>
          <a:noFill/>
          <a:ln cap="flat" cmpd="sng" w="19050">
            <a:solidFill>
              <a:srgbClr val="6A7382"/>
            </a:solidFill>
            <a:prstDash val="solid"/>
            <a:round/>
            <a:headEnd len="sm" w="sm" type="none"/>
            <a:tailEnd len="med" w="med" type="triangle"/>
          </a:ln>
        </p:spPr>
      </p:cxnSp>
      <p:sp>
        <p:nvSpPr>
          <p:cNvPr id="597" name="Google Shape;597;p9"/>
          <p:cNvSpPr/>
          <p:nvPr/>
        </p:nvSpPr>
        <p:spPr>
          <a:xfrm>
            <a:off x="8153196" y="4800480"/>
            <a:ext cx="1523962" cy="482588"/>
          </a:xfrm>
          <a:prstGeom prst="roundRect">
            <a:avLst>
              <a:gd fmla="val 18948" name="adj"/>
            </a:avLst>
          </a:prstGeom>
          <a:solidFill>
            <a:srgbClr val="FFFFFF"/>
          </a:solidFill>
          <a:ln cap="flat" cmpd="sng" w="19050">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9"/>
          <p:cNvSpPr txBox="1"/>
          <p:nvPr/>
        </p:nvSpPr>
        <p:spPr>
          <a:xfrm>
            <a:off x="8153196" y="4800480"/>
            <a:ext cx="1523962" cy="4825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213D"/>
              </a:buClr>
              <a:buSzPts val="1300"/>
              <a:buFont typeface="Calibri"/>
              <a:buNone/>
            </a:pPr>
            <a:r>
              <a:rPr b="1" i="0" lang="en-US" sz="1300" u="none" cap="none" strike="noStrike">
                <a:solidFill>
                  <a:srgbClr val="14213D"/>
                </a:solidFill>
                <a:latin typeface="Calibri"/>
                <a:ea typeface="Calibri"/>
                <a:cs typeface="Calibri"/>
                <a:sym typeface="Calibri"/>
              </a:rPr>
              <a:t>Persona decide</a:t>
            </a:r>
            <a:endParaRPr b="0" i="0" sz="1300" u="none" cap="none" strike="noStrike">
              <a:solidFill>
                <a:schemeClr val="dk1"/>
              </a:solidFill>
              <a:latin typeface="Calibri"/>
              <a:ea typeface="Calibri"/>
              <a:cs typeface="Calibri"/>
              <a:sym typeface="Calibri"/>
            </a:endParaRPr>
          </a:p>
        </p:txBody>
      </p:sp>
      <p:sp>
        <p:nvSpPr>
          <p:cNvPr id="599" name="Google Shape;599;p9"/>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A2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604" name="Shape 604"/>
        <p:cNvGrpSpPr/>
        <p:nvPr/>
      </p:nvGrpSpPr>
      <p:grpSpPr>
        <a:xfrm>
          <a:off x="0" y="0"/>
          <a:ext cx="0" cy="0"/>
          <a:chOff x="0" y="0"/>
          <a:chExt cx="0" cy="0"/>
        </a:xfrm>
      </p:grpSpPr>
      <p:sp>
        <p:nvSpPr>
          <p:cNvPr id="605" name="Google Shape;605;p10"/>
          <p:cNvSpPr/>
          <p:nvPr/>
        </p:nvSpPr>
        <p:spPr>
          <a:xfrm>
            <a:off x="812780" y="711182"/>
            <a:ext cx="1498563" cy="330192"/>
          </a:xfrm>
          <a:prstGeom prst="roundRect">
            <a:avLst>
              <a:gd fmla="val 55386" name="adj"/>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0"/>
          <p:cNvSpPr txBox="1"/>
          <p:nvPr/>
        </p:nvSpPr>
        <p:spPr>
          <a:xfrm>
            <a:off x="812780" y="711182"/>
            <a:ext cx="1498563"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7382"/>
              </a:buClr>
              <a:buSzPts val="1300"/>
              <a:buFont typeface="Calibri"/>
              <a:buNone/>
            </a:pPr>
            <a:r>
              <a:rPr b="1" i="0" lang="en-US" sz="1300" u="none" cap="none" strike="noStrike">
                <a:solidFill>
                  <a:srgbClr val="6A7382"/>
                </a:solidFill>
                <a:latin typeface="Calibri"/>
                <a:ea typeface="Calibri"/>
                <a:cs typeface="Calibri"/>
                <a:sym typeface="Calibri"/>
              </a:rPr>
              <a:t>APÉNDICE</a:t>
            </a:r>
            <a:endParaRPr b="0" i="0" sz="1300" u="none" cap="none" strike="noStrike">
              <a:solidFill>
                <a:schemeClr val="dk1"/>
              </a:solidFill>
              <a:latin typeface="Calibri"/>
              <a:ea typeface="Calibri"/>
              <a:cs typeface="Calibri"/>
              <a:sym typeface="Calibri"/>
            </a:endParaRPr>
          </a:p>
        </p:txBody>
      </p:sp>
      <p:sp>
        <p:nvSpPr>
          <p:cNvPr id="607" name="Google Shape;607;p10"/>
          <p:cNvSpPr txBox="1"/>
          <p:nvPr/>
        </p:nvSpPr>
        <p:spPr>
          <a:xfrm>
            <a:off x="812780" y="1142971"/>
            <a:ext cx="10566136" cy="107947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Reconstruir los tres colores juntos: pasó las pruebas y no sirve</a:t>
            </a:r>
            <a:endParaRPr b="0" i="0" sz="3300" u="none" cap="none" strike="noStrike">
              <a:solidFill>
                <a:schemeClr val="dk1"/>
              </a:solidFill>
              <a:latin typeface="Calibri"/>
              <a:ea typeface="Calibri"/>
              <a:cs typeface="Calibri"/>
              <a:sym typeface="Calibri"/>
            </a:endParaRPr>
          </a:p>
        </p:txBody>
      </p:sp>
      <p:pic>
        <p:nvPicPr>
          <p:cNvPr descr="/home/chanoscopio/Documents/LucasC/reproducible-research-template/report/informe/img/fig_conjunta_verdad_vs_conjunta.png" id="608" name="Google Shape;608;p10"/>
          <p:cNvPicPr preferRelativeResize="0"/>
          <p:nvPr/>
        </p:nvPicPr>
        <p:blipFill rotWithShape="1">
          <a:blip r:embed="rId3">
            <a:alphaModFix/>
          </a:blip>
          <a:srcRect b="0" l="0" r="0" t="0"/>
          <a:stretch/>
        </p:blipFill>
        <p:spPr>
          <a:xfrm>
            <a:off x="1081406" y="2414132"/>
            <a:ext cx="5050608" cy="2474053"/>
          </a:xfrm>
          <a:prstGeom prst="rect">
            <a:avLst/>
          </a:prstGeom>
          <a:noFill/>
          <a:ln>
            <a:noFill/>
          </a:ln>
        </p:spPr>
      </p:pic>
      <p:sp>
        <p:nvSpPr>
          <p:cNvPr id="609" name="Google Shape;609;p10"/>
          <p:cNvSpPr/>
          <p:nvPr/>
        </p:nvSpPr>
        <p:spPr>
          <a:xfrm>
            <a:off x="6680033" y="2412940"/>
            <a:ext cx="4698883" cy="952476"/>
          </a:xfrm>
          <a:prstGeom prst="roundRect">
            <a:avLst>
              <a:gd fmla="val 11520"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0"/>
          <p:cNvSpPr/>
          <p:nvPr/>
        </p:nvSpPr>
        <p:spPr>
          <a:xfrm>
            <a:off x="6680033" y="2451039"/>
            <a:ext cx="57149" cy="876278"/>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0"/>
          <p:cNvSpPr txBox="1"/>
          <p:nvPr/>
        </p:nvSpPr>
        <p:spPr>
          <a:xfrm>
            <a:off x="6870528" y="2527237"/>
            <a:ext cx="4381390" cy="2031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Ajuste de las fotos</a:t>
            </a:r>
            <a:endParaRPr b="0" i="0" sz="1200" u="none" cap="none" strike="noStrike">
              <a:solidFill>
                <a:schemeClr val="dk1"/>
              </a:solidFill>
              <a:latin typeface="Calibri"/>
              <a:ea typeface="Calibri"/>
              <a:cs typeface="Calibri"/>
              <a:sym typeface="Calibri"/>
            </a:endParaRPr>
          </a:p>
        </p:txBody>
      </p:sp>
      <p:sp>
        <p:nvSpPr>
          <p:cNvPr id="612" name="Google Shape;612;p10"/>
          <p:cNvSpPr txBox="1"/>
          <p:nvPr/>
        </p:nvSpPr>
        <p:spPr>
          <a:xfrm>
            <a:off x="6870528" y="2743131"/>
            <a:ext cx="438139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libri"/>
              <a:buNone/>
            </a:pPr>
            <a:r>
              <a:rPr b="1" i="0" lang="en-US" sz="1700" u="none" cap="none" strike="noStrike">
                <a:solidFill>
                  <a:srgbClr val="2F6FB0"/>
                </a:solidFill>
                <a:latin typeface="Calibri"/>
                <a:ea typeface="Calibri"/>
                <a:cs typeface="Calibri"/>
                <a:sym typeface="Calibri"/>
              </a:rPr>
              <a:t>0,97 × el piso de ruido</a:t>
            </a:r>
            <a:endParaRPr b="0" i="0" sz="1700" u="none" cap="none" strike="noStrike">
              <a:solidFill>
                <a:schemeClr val="dk1"/>
              </a:solidFill>
              <a:latin typeface="Calibri"/>
              <a:ea typeface="Calibri"/>
              <a:cs typeface="Calibri"/>
              <a:sym typeface="Calibri"/>
            </a:endParaRPr>
          </a:p>
        </p:txBody>
      </p:sp>
      <p:sp>
        <p:nvSpPr>
          <p:cNvPr id="613" name="Google Shape;613;p10"/>
          <p:cNvSpPr txBox="1"/>
          <p:nvPr/>
        </p:nvSpPr>
        <p:spPr>
          <a:xfrm>
            <a:off x="6870528" y="3060623"/>
            <a:ext cx="4381390"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Mejor que la muestra verdadera</a:t>
            </a:r>
            <a:endParaRPr b="0" i="0" sz="1200" u="none" cap="none" strike="noStrike">
              <a:solidFill>
                <a:schemeClr val="dk1"/>
              </a:solidFill>
              <a:latin typeface="Calibri"/>
              <a:ea typeface="Calibri"/>
              <a:cs typeface="Calibri"/>
              <a:sym typeface="Calibri"/>
            </a:endParaRPr>
          </a:p>
        </p:txBody>
      </p:sp>
      <p:sp>
        <p:nvSpPr>
          <p:cNvPr id="614" name="Google Shape;614;p10"/>
          <p:cNvSpPr/>
          <p:nvPr/>
        </p:nvSpPr>
        <p:spPr>
          <a:xfrm>
            <a:off x="6680033" y="3467013"/>
            <a:ext cx="4698883" cy="952476"/>
          </a:xfrm>
          <a:prstGeom prst="roundRect">
            <a:avLst>
              <a:gd fmla="val 11520"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0"/>
          <p:cNvSpPr/>
          <p:nvPr/>
        </p:nvSpPr>
        <p:spPr>
          <a:xfrm>
            <a:off x="6680033" y="3505112"/>
            <a:ext cx="57149" cy="876278"/>
          </a:xfrm>
          <a:prstGeom prst="rect">
            <a:avLst/>
          </a:prstGeom>
          <a:solidFill>
            <a:srgbClr val="D9692B"/>
          </a:solidFill>
          <a:ln cap="flat" cmpd="sng" w="12700">
            <a:solidFill>
              <a:srgbClr val="D969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0"/>
          <p:cNvSpPr txBox="1"/>
          <p:nvPr/>
        </p:nvSpPr>
        <p:spPr>
          <a:xfrm>
            <a:off x="6870528" y="3581310"/>
            <a:ext cx="4381390" cy="2031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Espesor contra el verdadero</a:t>
            </a:r>
            <a:endParaRPr b="0" i="0" sz="1200" u="none" cap="none" strike="noStrike">
              <a:solidFill>
                <a:schemeClr val="dk1"/>
              </a:solidFill>
              <a:latin typeface="Calibri"/>
              <a:ea typeface="Calibri"/>
              <a:cs typeface="Calibri"/>
              <a:sym typeface="Calibri"/>
            </a:endParaRPr>
          </a:p>
        </p:txBody>
      </p:sp>
      <p:sp>
        <p:nvSpPr>
          <p:cNvPr id="617" name="Google Shape;617;p10"/>
          <p:cNvSpPr txBox="1"/>
          <p:nvPr/>
        </p:nvSpPr>
        <p:spPr>
          <a:xfrm>
            <a:off x="6870528" y="3797205"/>
            <a:ext cx="438139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692B"/>
              </a:buClr>
              <a:buSzPts val="1700"/>
              <a:buFont typeface="Calibri"/>
              <a:buNone/>
            </a:pPr>
            <a:r>
              <a:rPr b="1" i="0" lang="en-US" sz="1700" u="none" cap="none" strike="noStrike">
                <a:solidFill>
                  <a:srgbClr val="D9692B"/>
                </a:solidFill>
                <a:latin typeface="Calibri"/>
                <a:ea typeface="Calibri"/>
                <a:cs typeface="Calibri"/>
                <a:sym typeface="Calibri"/>
              </a:rPr>
              <a:t>−0,09</a:t>
            </a:r>
            <a:endParaRPr b="0" i="0" sz="1700" u="none" cap="none" strike="noStrike">
              <a:solidFill>
                <a:schemeClr val="dk1"/>
              </a:solidFill>
              <a:latin typeface="Calibri"/>
              <a:ea typeface="Calibri"/>
              <a:cs typeface="Calibri"/>
              <a:sym typeface="Calibri"/>
            </a:endParaRPr>
          </a:p>
        </p:txBody>
      </p:sp>
      <p:sp>
        <p:nvSpPr>
          <p:cNvPr id="618" name="Google Shape;618;p10"/>
          <p:cNvSpPr txBox="1"/>
          <p:nvPr/>
        </p:nvSpPr>
        <p:spPr>
          <a:xfrm>
            <a:off x="6870528" y="4114697"/>
            <a:ext cx="4381390"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Correlación (1 = perfecto). Más épocas, peor: −0,04 → −0,09</a:t>
            </a:r>
            <a:endParaRPr b="0" i="0" sz="1200" u="none" cap="none" strike="noStrike">
              <a:solidFill>
                <a:schemeClr val="dk1"/>
              </a:solidFill>
              <a:latin typeface="Calibri"/>
              <a:ea typeface="Calibri"/>
              <a:cs typeface="Calibri"/>
              <a:sym typeface="Calibri"/>
            </a:endParaRPr>
          </a:p>
        </p:txBody>
      </p:sp>
      <p:sp>
        <p:nvSpPr>
          <p:cNvPr id="619" name="Google Shape;619;p10"/>
          <p:cNvSpPr/>
          <p:nvPr/>
        </p:nvSpPr>
        <p:spPr>
          <a:xfrm>
            <a:off x="6680033" y="4521087"/>
            <a:ext cx="4698883" cy="952476"/>
          </a:xfrm>
          <a:prstGeom prst="roundRect">
            <a:avLst>
              <a:gd fmla="val 11520"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0"/>
          <p:cNvSpPr/>
          <p:nvPr/>
        </p:nvSpPr>
        <p:spPr>
          <a:xfrm>
            <a:off x="6680033" y="4559186"/>
            <a:ext cx="57149" cy="876278"/>
          </a:xfrm>
          <a:prstGeom prst="rect">
            <a:avLst/>
          </a:prstGeom>
          <a:solidFill>
            <a:srgbClr val="2F6FB0"/>
          </a:solidFill>
          <a:ln cap="flat" cmpd="sng" w="12700">
            <a:solidFill>
              <a:srgbClr val="2F6FB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0"/>
          <p:cNvSpPr txBox="1"/>
          <p:nvPr/>
        </p:nvSpPr>
        <p:spPr>
          <a:xfrm>
            <a:off x="6870528" y="4635384"/>
            <a:ext cx="4381390" cy="2031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La cadena simple</a:t>
            </a:r>
            <a:endParaRPr b="0" i="0" sz="1200" u="none" cap="none" strike="noStrike">
              <a:solidFill>
                <a:schemeClr val="dk1"/>
              </a:solidFill>
              <a:latin typeface="Calibri"/>
              <a:ea typeface="Calibri"/>
              <a:cs typeface="Calibri"/>
              <a:sym typeface="Calibri"/>
            </a:endParaRPr>
          </a:p>
        </p:txBody>
      </p:sp>
      <p:sp>
        <p:nvSpPr>
          <p:cNvPr id="622" name="Google Shape;622;p10"/>
          <p:cNvSpPr txBox="1"/>
          <p:nvPr/>
        </p:nvSpPr>
        <p:spPr>
          <a:xfrm>
            <a:off x="6870528" y="4851279"/>
            <a:ext cx="438139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700"/>
              <a:buFont typeface="Calibri"/>
              <a:buNone/>
            </a:pPr>
            <a:r>
              <a:rPr b="1" i="0" lang="en-US" sz="1700" u="none" cap="none" strike="noStrike">
                <a:solidFill>
                  <a:srgbClr val="2F6FB0"/>
                </a:solidFill>
                <a:latin typeface="Calibri"/>
                <a:ea typeface="Calibri"/>
                <a:cs typeface="Calibri"/>
                <a:sym typeface="Calibri"/>
              </a:rPr>
              <a:t>0,945</a:t>
            </a:r>
            <a:endParaRPr b="0" i="0" sz="1700" u="none" cap="none" strike="noStrike">
              <a:solidFill>
                <a:schemeClr val="dk1"/>
              </a:solidFill>
              <a:latin typeface="Calibri"/>
              <a:ea typeface="Calibri"/>
              <a:cs typeface="Calibri"/>
              <a:sym typeface="Calibri"/>
            </a:endParaRPr>
          </a:p>
        </p:txBody>
      </p:sp>
      <p:sp>
        <p:nvSpPr>
          <p:cNvPr id="623" name="Google Shape;623;p10"/>
          <p:cNvSpPr txBox="1"/>
          <p:nvPr/>
        </p:nvSpPr>
        <p:spPr>
          <a:xfrm>
            <a:off x="6870528" y="5168771"/>
            <a:ext cx="4381390"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200"/>
              <a:buFont typeface="Calibri"/>
              <a:buNone/>
            </a:pPr>
            <a:r>
              <a:rPr b="0" i="0" lang="en-US" sz="1200" u="none" cap="none" strike="noStrike">
                <a:solidFill>
                  <a:srgbClr val="3D4A5C"/>
                </a:solidFill>
                <a:latin typeface="Calibri"/>
                <a:ea typeface="Calibri"/>
                <a:cs typeface="Calibri"/>
                <a:sym typeface="Calibri"/>
              </a:rPr>
              <a:t>Verde + azul por separado, con la dispersión conocida</a:t>
            </a:r>
            <a:endParaRPr b="0" i="0" sz="1200" u="none" cap="none" strike="noStrike">
              <a:solidFill>
                <a:schemeClr val="dk1"/>
              </a:solidFill>
              <a:latin typeface="Calibri"/>
              <a:ea typeface="Calibri"/>
              <a:cs typeface="Calibri"/>
              <a:sym typeface="Calibri"/>
            </a:endParaRPr>
          </a:p>
        </p:txBody>
      </p:sp>
      <p:sp>
        <p:nvSpPr>
          <p:cNvPr id="624" name="Google Shape;624;p10"/>
          <p:cNvSpPr txBox="1"/>
          <p:nvPr/>
        </p:nvSpPr>
        <p:spPr>
          <a:xfrm>
            <a:off x="812780" y="5714857"/>
            <a:ext cx="10566136" cy="25399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50"/>
              <a:buFont typeface="Calibri"/>
              <a:buNone/>
            </a:pPr>
            <a:r>
              <a:rPr b="0" i="0" lang="en-US" sz="1250" u="none" cap="none" strike="noStrike">
                <a:solidFill>
                  <a:srgbClr val="6A7382"/>
                </a:solidFill>
                <a:latin typeface="Calibri"/>
                <a:ea typeface="Calibri"/>
                <a:cs typeface="Calibri"/>
                <a:sym typeface="Calibri"/>
              </a:rPr>
              <a:t>En simulación; no se pasó a datos reales. La prueba de aceptación pasó: solo exigía los entregables.</a:t>
            </a:r>
            <a:endParaRPr b="0" i="0" sz="1250" u="none" cap="none" strike="noStrike">
              <a:solidFill>
                <a:schemeClr val="dk1"/>
              </a:solidFill>
              <a:latin typeface="Calibri"/>
              <a:ea typeface="Calibri"/>
              <a:cs typeface="Calibri"/>
              <a:sym typeface="Calibri"/>
            </a:endParaRPr>
          </a:p>
        </p:txBody>
      </p:sp>
      <p:sp>
        <p:nvSpPr>
          <p:cNvPr id="625" name="Google Shape;625;p10"/>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A3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630" name="Shape 630"/>
        <p:cNvGrpSpPr/>
        <p:nvPr/>
      </p:nvGrpSpPr>
      <p:grpSpPr>
        <a:xfrm>
          <a:off x="0" y="0"/>
          <a:ext cx="0" cy="0"/>
          <a:chOff x="0" y="0"/>
          <a:chExt cx="0" cy="0"/>
        </a:xfrm>
      </p:grpSpPr>
      <p:sp>
        <p:nvSpPr>
          <p:cNvPr id="631" name="Google Shape;631;p11"/>
          <p:cNvSpPr/>
          <p:nvPr/>
        </p:nvSpPr>
        <p:spPr>
          <a:xfrm>
            <a:off x="812780" y="711182"/>
            <a:ext cx="1498563" cy="330192"/>
          </a:xfrm>
          <a:prstGeom prst="roundRect">
            <a:avLst>
              <a:gd fmla="val 55386" name="adj"/>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1"/>
          <p:cNvSpPr txBox="1"/>
          <p:nvPr/>
        </p:nvSpPr>
        <p:spPr>
          <a:xfrm>
            <a:off x="812780" y="711182"/>
            <a:ext cx="1498563"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7382"/>
              </a:buClr>
              <a:buSzPts val="1300"/>
              <a:buFont typeface="Calibri"/>
              <a:buNone/>
            </a:pPr>
            <a:r>
              <a:rPr b="1" i="0" lang="en-US" sz="1300" u="none" cap="none" strike="noStrike">
                <a:solidFill>
                  <a:srgbClr val="6A7382"/>
                </a:solidFill>
                <a:latin typeface="Calibri"/>
                <a:ea typeface="Calibri"/>
                <a:cs typeface="Calibri"/>
                <a:sym typeface="Calibri"/>
              </a:rPr>
              <a:t>APÉNDICE</a:t>
            </a:r>
            <a:endParaRPr b="0" i="0" sz="1300" u="none" cap="none" strike="noStrike">
              <a:solidFill>
                <a:schemeClr val="dk1"/>
              </a:solidFill>
              <a:latin typeface="Calibri"/>
              <a:ea typeface="Calibri"/>
              <a:cs typeface="Calibri"/>
              <a:sym typeface="Calibri"/>
            </a:endParaRPr>
          </a:p>
        </p:txBody>
      </p:sp>
      <p:sp>
        <p:nvSpPr>
          <p:cNvPr id="633" name="Google Shape;633;p11"/>
          <p:cNvSpPr txBox="1"/>
          <p:nvPr/>
        </p:nvSpPr>
        <p:spPr>
          <a:xfrm>
            <a:off x="812780" y="1142971"/>
            <a:ext cx="10566136" cy="5714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¿Qué limita más: el foco o el solapamiento?</a:t>
            </a:r>
            <a:endParaRPr b="0" i="0" sz="3300" u="none" cap="none" strike="noStrike">
              <a:solidFill>
                <a:schemeClr val="dk1"/>
              </a:solidFill>
              <a:latin typeface="Calibri"/>
              <a:ea typeface="Calibri"/>
              <a:cs typeface="Calibri"/>
              <a:sym typeface="Calibri"/>
            </a:endParaRPr>
          </a:p>
        </p:txBody>
      </p:sp>
      <p:graphicFrame>
        <p:nvGraphicFramePr>
          <p:cNvPr id="634" name="Google Shape;634;p11"/>
          <p:cNvGraphicFramePr/>
          <p:nvPr/>
        </p:nvGraphicFramePr>
        <p:xfrm>
          <a:off x="812780" y="1841454"/>
          <a:ext cx="3000000" cy="3000000"/>
        </p:xfrm>
        <a:graphic>
          <a:graphicData uri="http://schemas.openxmlformats.org/drawingml/2006/table">
            <a:tbl>
              <a:tblPr>
                <a:noFill/>
                <a:tableStyleId>{EE240919-7D21-43D5-84AE-4EA60D75C9E8}</a:tableStyleId>
              </a:tblPr>
              <a:tblGrid>
                <a:gridCol w="4825875"/>
                <a:gridCol w="3301925"/>
                <a:gridCol w="2438350"/>
              </a:tblGrid>
              <a:tr h="507975">
                <a:tc>
                  <a:txBody>
                    <a:bodyPr/>
                    <a:lstStyle/>
                    <a:p>
                      <a:pPr indent="0" lvl="0" marL="0" marR="0" rtl="0" algn="l">
                        <a:spcBef>
                          <a:spcPts val="0"/>
                        </a:spcBef>
                        <a:spcAft>
                          <a:spcPts val="0"/>
                        </a:spcAft>
                        <a:buClr>
                          <a:srgbClr val="14213D"/>
                        </a:buClr>
                        <a:buSzPts val="1300"/>
                        <a:buFont typeface="Calibri"/>
                        <a:buNone/>
                      </a:pPr>
                      <a:r>
                        <a:rPr b="1" lang="en-US" sz="1300" u="none" cap="none" strike="noStrike">
                          <a:solidFill>
                            <a:srgbClr val="14213D"/>
                          </a:solidFill>
                          <a:latin typeface="Calibri"/>
                          <a:ea typeface="Calibri"/>
                          <a:cs typeface="Calibri"/>
                          <a:sym typeface="Calibri"/>
                        </a:rPr>
                        <a:t>Rojo, matriz a 98 mm</a:t>
                      </a:r>
                      <a:endParaRPr sz="13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BFBF8"/>
                    </a:solidFill>
                  </a:tcPr>
                </a:tc>
                <a:tc>
                  <a:txBody>
                    <a:bodyPr/>
                    <a:lstStyle/>
                    <a:p>
                      <a:pPr indent="0" lvl="0" marL="0" marR="0" rtl="0" algn="l">
                        <a:spcBef>
                          <a:spcPts val="0"/>
                        </a:spcBef>
                        <a:spcAft>
                          <a:spcPts val="0"/>
                        </a:spcAft>
                        <a:buClr>
                          <a:srgbClr val="14213D"/>
                        </a:buClr>
                        <a:buSzPts val="1300"/>
                        <a:buFont typeface="Calibri"/>
                        <a:buNone/>
                      </a:pPr>
                      <a:r>
                        <a:rPr b="1" lang="en-US" sz="1300" u="none" cap="none" strike="noStrike">
                          <a:solidFill>
                            <a:srgbClr val="14213D"/>
                          </a:solidFill>
                          <a:latin typeface="Calibri"/>
                          <a:ea typeface="Calibri"/>
                          <a:cs typeface="Calibri"/>
                          <a:sym typeface="Calibri"/>
                        </a:rPr>
                        <a:t>Error en fotos no usadas (sin reconstruir ~0,98)</a:t>
                      </a:r>
                      <a:endParaRPr sz="13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BFBF8"/>
                    </a:solidFill>
                  </a:tcPr>
                </a:tc>
                <a:tc>
                  <a:txBody>
                    <a:bodyPr/>
                    <a:lstStyle/>
                    <a:p>
                      <a:pPr indent="0" lvl="0" marL="0" marR="0" rtl="0" algn="l">
                        <a:spcBef>
                          <a:spcPts val="0"/>
                        </a:spcBef>
                        <a:spcAft>
                          <a:spcPts val="0"/>
                        </a:spcAft>
                        <a:buClr>
                          <a:srgbClr val="14213D"/>
                        </a:buClr>
                        <a:buSzPts val="1300"/>
                        <a:buFont typeface="Calibri"/>
                        <a:buNone/>
                      </a:pPr>
                      <a:r>
                        <a:rPr b="1" lang="en-US" sz="1300" u="none" cap="none" strike="noStrike">
                          <a:solidFill>
                            <a:srgbClr val="14213D"/>
                          </a:solidFill>
                          <a:latin typeface="Calibri"/>
                          <a:ea typeface="Calibri"/>
                          <a:cs typeface="Calibri"/>
                          <a:sym typeface="Calibri"/>
                        </a:rPr>
                        <a:t>Mitades (detalle fino)</a:t>
                      </a:r>
                      <a:endParaRPr sz="13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BFBF8"/>
                    </a:solidFill>
                  </a:tcPr>
                </a:tc>
              </a:tr>
              <a:tr h="393700">
                <a:tc>
                  <a:txBody>
                    <a:bodyPr/>
                    <a:lstStyle/>
                    <a:p>
                      <a:pPr indent="0" lvl="0" marL="0" marR="0" rtl="0" algn="l">
                        <a:spcBef>
                          <a:spcPts val="0"/>
                        </a:spcBef>
                        <a:spcAft>
                          <a:spcPts val="0"/>
                        </a:spcAft>
                        <a:buClr>
                          <a:srgbClr val="14213D"/>
                        </a:buClr>
                        <a:buSzPts val="1500"/>
                        <a:buFont typeface="Calibri"/>
                        <a:buNone/>
                      </a:pPr>
                      <a:r>
                        <a:rPr b="1" lang="en-US" sz="1500" u="none" cap="none" strike="noStrike">
                          <a:solidFill>
                            <a:srgbClr val="14213D"/>
                          </a:solidFill>
                          <a:latin typeface="Calibri"/>
                          <a:ea typeface="Calibri"/>
                          <a:cs typeface="Calibri"/>
                          <a:sym typeface="Calibri"/>
                        </a:rPr>
                        <a:t>En su propio foco</a:t>
                      </a:r>
                      <a:endParaRPr sz="15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F6FB0"/>
                        </a:buClr>
                        <a:buSzPts val="1500"/>
                        <a:buFont typeface="Calibri"/>
                        <a:buNone/>
                      </a:pPr>
                      <a:r>
                        <a:rPr b="1" lang="en-US" sz="1500" u="none" cap="none" strike="noStrike">
                          <a:solidFill>
                            <a:srgbClr val="2F6FB0"/>
                          </a:solidFill>
                          <a:latin typeface="Calibri"/>
                          <a:ea typeface="Calibri"/>
                          <a:cs typeface="Calibri"/>
                          <a:sym typeface="Calibri"/>
                        </a:rPr>
                        <a:t>0,46</a:t>
                      </a:r>
                      <a:endParaRPr sz="15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F6FB0"/>
                        </a:buClr>
                        <a:buSzPts val="1500"/>
                        <a:buFont typeface="Calibri"/>
                        <a:buNone/>
                      </a:pPr>
                      <a:r>
                        <a:rPr b="1" lang="en-US" sz="1500" u="none" cap="none" strike="noStrike">
                          <a:solidFill>
                            <a:srgbClr val="2F6FB0"/>
                          </a:solidFill>
                          <a:latin typeface="Calibri"/>
                          <a:ea typeface="Calibri"/>
                          <a:cs typeface="Calibri"/>
                          <a:sym typeface="Calibri"/>
                        </a:rPr>
                        <a:t>0,083</a:t>
                      </a:r>
                      <a:endParaRPr sz="15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FFFFF"/>
                    </a:solidFill>
                  </a:tcPr>
                </a:tc>
              </a:tr>
              <a:tr h="393700">
                <a:tc>
                  <a:txBody>
                    <a:bodyPr/>
                    <a:lstStyle/>
                    <a:p>
                      <a:pPr indent="0" lvl="0" marL="0" marR="0" rtl="0" algn="l">
                        <a:spcBef>
                          <a:spcPts val="0"/>
                        </a:spcBef>
                        <a:spcAft>
                          <a:spcPts val="0"/>
                        </a:spcAft>
                        <a:buClr>
                          <a:srgbClr val="14213D"/>
                        </a:buClr>
                        <a:buSzPts val="1500"/>
                        <a:buFont typeface="Calibri"/>
                        <a:buNone/>
                      </a:pPr>
                      <a:r>
                        <a:rPr lang="en-US" sz="1500" u="none" cap="none" strike="noStrike">
                          <a:solidFill>
                            <a:srgbClr val="14213D"/>
                          </a:solidFill>
                          <a:latin typeface="Calibri"/>
                          <a:ea typeface="Calibri"/>
                          <a:cs typeface="Calibri"/>
                          <a:sym typeface="Calibri"/>
                        </a:rPr>
                        <a:t>Con el foco del verde</a:t>
                      </a:r>
                      <a:endParaRPr sz="15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4213D"/>
                        </a:buClr>
                        <a:buSzPts val="1500"/>
                        <a:buFont typeface="Calibri"/>
                        <a:buNone/>
                      </a:pPr>
                      <a:r>
                        <a:rPr lang="en-US" sz="1500" u="none" cap="none" strike="noStrike">
                          <a:solidFill>
                            <a:srgbClr val="14213D"/>
                          </a:solidFill>
                          <a:latin typeface="Calibri"/>
                          <a:ea typeface="Calibri"/>
                          <a:cs typeface="Calibri"/>
                          <a:sym typeface="Calibri"/>
                        </a:rPr>
                        <a:t>0,81</a:t>
                      </a:r>
                      <a:endParaRPr sz="15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4213D"/>
                        </a:buClr>
                        <a:buSzPts val="1500"/>
                        <a:buFont typeface="Calibri"/>
                        <a:buNone/>
                      </a:pPr>
                      <a:r>
                        <a:rPr lang="en-US" sz="1500" u="none" cap="none" strike="noStrike">
                          <a:solidFill>
                            <a:srgbClr val="14213D"/>
                          </a:solidFill>
                          <a:latin typeface="Calibri"/>
                          <a:ea typeface="Calibri"/>
                          <a:cs typeface="Calibri"/>
                          <a:sym typeface="Calibri"/>
                        </a:rPr>
                        <a:t>0,021</a:t>
                      </a:r>
                      <a:endParaRPr sz="15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FFFFF"/>
                    </a:solidFill>
                  </a:tcPr>
                </a:tc>
              </a:tr>
              <a:tr h="393700">
                <a:tc>
                  <a:txBody>
                    <a:bodyPr/>
                    <a:lstStyle/>
                    <a:p>
                      <a:pPr indent="0" lvl="0" marL="0" marR="0" rtl="0" algn="l">
                        <a:spcBef>
                          <a:spcPts val="0"/>
                        </a:spcBef>
                        <a:spcAft>
                          <a:spcPts val="0"/>
                        </a:spcAft>
                        <a:buClr>
                          <a:srgbClr val="14213D"/>
                        </a:buClr>
                        <a:buSzPts val="1500"/>
                        <a:buFont typeface="Calibri"/>
                        <a:buNone/>
                      </a:pPr>
                      <a:r>
                        <a:rPr lang="en-US" sz="1500" u="none" cap="none" strike="noStrike">
                          <a:solidFill>
                            <a:srgbClr val="14213D"/>
                          </a:solidFill>
                          <a:latin typeface="Calibri"/>
                          <a:ea typeface="Calibri"/>
                          <a:cs typeface="Calibri"/>
                          <a:sym typeface="Calibri"/>
                        </a:rPr>
                        <a:t>Con el foco del azul</a:t>
                      </a:r>
                      <a:endParaRPr sz="15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4213D"/>
                        </a:buClr>
                        <a:buSzPts val="1500"/>
                        <a:buFont typeface="Calibri"/>
                        <a:buNone/>
                      </a:pPr>
                      <a:r>
                        <a:rPr lang="en-US" sz="1500" u="none" cap="none" strike="noStrike">
                          <a:solidFill>
                            <a:srgbClr val="14213D"/>
                          </a:solidFill>
                          <a:latin typeface="Calibri"/>
                          <a:ea typeface="Calibri"/>
                          <a:cs typeface="Calibri"/>
                          <a:sym typeface="Calibri"/>
                        </a:rPr>
                        <a:t>0,86</a:t>
                      </a:r>
                      <a:endParaRPr sz="15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4213D"/>
                        </a:buClr>
                        <a:buSzPts val="1500"/>
                        <a:buFont typeface="Calibri"/>
                        <a:buNone/>
                      </a:pPr>
                      <a:r>
                        <a:rPr lang="en-US" sz="1500" u="none" cap="none" strike="noStrike">
                          <a:solidFill>
                            <a:srgbClr val="14213D"/>
                          </a:solidFill>
                          <a:latin typeface="Calibri"/>
                          <a:ea typeface="Calibri"/>
                          <a:cs typeface="Calibri"/>
                          <a:sym typeface="Calibri"/>
                        </a:rPr>
                        <a:t>0,024</a:t>
                      </a:r>
                      <a:endParaRPr sz="1500" u="none" cap="none" strike="noStrike">
                        <a:latin typeface="Calibri"/>
                        <a:ea typeface="Calibri"/>
                        <a:cs typeface="Calibri"/>
                        <a:sym typeface="Calibri"/>
                      </a:endParaRPr>
                    </a:p>
                  </a:txBody>
                  <a:tcPr marT="73150" marB="73150" marR="73150" marL="73150">
                    <a:lnL cap="flat" cmpd="sng" w="9525">
                      <a:solidFill>
                        <a:srgbClr val="DDDBD2"/>
                      </a:solidFill>
                      <a:prstDash val="solid"/>
                      <a:round/>
                      <a:headEnd len="sm" w="sm" type="none"/>
                      <a:tailEnd len="sm" w="sm" type="none"/>
                    </a:lnL>
                    <a:lnR cap="flat" cmpd="sng" w="9525">
                      <a:solidFill>
                        <a:srgbClr val="DDDBD2"/>
                      </a:solidFill>
                      <a:prstDash val="solid"/>
                      <a:round/>
                      <a:headEnd len="sm" w="sm" type="none"/>
                      <a:tailEnd len="sm" w="sm" type="none"/>
                    </a:lnR>
                    <a:lnT cap="flat" cmpd="sng" w="9525">
                      <a:solidFill>
                        <a:srgbClr val="DDDBD2"/>
                      </a:solidFill>
                      <a:prstDash val="solid"/>
                      <a:round/>
                      <a:headEnd len="sm" w="sm" type="none"/>
                      <a:tailEnd len="sm" w="sm" type="none"/>
                    </a:lnT>
                    <a:lnB cap="flat" cmpd="sng" w="9525">
                      <a:solidFill>
                        <a:srgbClr val="DDDBD2"/>
                      </a:solidFill>
                      <a:prstDash val="solid"/>
                      <a:round/>
                      <a:headEnd len="sm" w="sm" type="none"/>
                      <a:tailEnd len="sm" w="sm" type="none"/>
                    </a:lnB>
                    <a:solidFill>
                      <a:srgbClr val="FFFFFF"/>
                    </a:solidFill>
                  </a:tcPr>
                </a:tc>
              </a:tr>
            </a:tbl>
          </a:graphicData>
        </a:graphic>
      </p:graphicFrame>
      <p:sp>
        <p:nvSpPr>
          <p:cNvPr id="635" name="Google Shape;635;p11"/>
          <p:cNvSpPr/>
          <p:nvPr/>
        </p:nvSpPr>
        <p:spPr>
          <a:xfrm>
            <a:off x="812780" y="3936902"/>
            <a:ext cx="3420448" cy="1460463"/>
          </a:xfrm>
          <a:prstGeom prst="roundRect">
            <a:avLst>
              <a:gd fmla="val 7513"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1"/>
          <p:cNvSpPr txBox="1"/>
          <p:nvPr/>
        </p:nvSpPr>
        <p:spPr>
          <a:xfrm>
            <a:off x="1015975" y="4101997"/>
            <a:ext cx="3014058"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Solo el foco</a:t>
            </a:r>
            <a:endParaRPr b="0" i="0" sz="1500" u="none" cap="none" strike="noStrike">
              <a:solidFill>
                <a:schemeClr val="dk1"/>
              </a:solidFill>
              <a:latin typeface="Calibri"/>
              <a:ea typeface="Calibri"/>
              <a:cs typeface="Calibri"/>
              <a:sym typeface="Calibri"/>
            </a:endParaRPr>
          </a:p>
        </p:txBody>
      </p:sp>
      <p:sp>
        <p:nvSpPr>
          <p:cNvPr id="637" name="Google Shape;637;p11"/>
          <p:cNvSpPr txBox="1"/>
          <p:nvPr/>
        </p:nvSpPr>
        <p:spPr>
          <a:xfrm>
            <a:off x="1015975" y="4444889"/>
            <a:ext cx="3014058" cy="8254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400"/>
              <a:buFont typeface="Calibri"/>
              <a:buNone/>
            </a:pPr>
            <a:r>
              <a:rPr b="0" i="0" lang="en-US" sz="1400" u="none" cap="none" strike="noStrike">
                <a:solidFill>
                  <a:srgbClr val="3D4A5C"/>
                </a:solidFill>
                <a:latin typeface="Calibri"/>
                <a:ea typeface="Calibri"/>
                <a:cs typeface="Calibri"/>
                <a:sym typeface="Calibri"/>
              </a:rPr>
              <a:t>Mitades ×3,5 a ×4 al enfocar cada color</a:t>
            </a:r>
            <a:endParaRPr b="0" i="0" sz="1400" u="none" cap="none" strike="noStrike">
              <a:solidFill>
                <a:schemeClr val="dk1"/>
              </a:solidFill>
              <a:latin typeface="Calibri"/>
              <a:ea typeface="Calibri"/>
              <a:cs typeface="Calibri"/>
              <a:sym typeface="Calibri"/>
            </a:endParaRPr>
          </a:p>
        </p:txBody>
      </p:sp>
      <p:sp>
        <p:nvSpPr>
          <p:cNvPr id="638" name="Google Shape;638;p11"/>
          <p:cNvSpPr/>
          <p:nvPr/>
        </p:nvSpPr>
        <p:spPr>
          <a:xfrm>
            <a:off x="4385624" y="3936902"/>
            <a:ext cx="3420448" cy="1460463"/>
          </a:xfrm>
          <a:prstGeom prst="roundRect">
            <a:avLst>
              <a:gd fmla="val 7513"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1"/>
          <p:cNvSpPr txBox="1"/>
          <p:nvPr/>
        </p:nvSpPr>
        <p:spPr>
          <a:xfrm>
            <a:off x="4588819" y="4101997"/>
            <a:ext cx="3014058"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1500"/>
              <a:buFont typeface="Calibri"/>
              <a:buNone/>
            </a:pPr>
            <a:r>
              <a:rPr b="1" i="0" lang="en-US" sz="1500" u="none" cap="none" strike="noStrike">
                <a:solidFill>
                  <a:srgbClr val="14213D"/>
                </a:solidFill>
                <a:latin typeface="Calibri"/>
                <a:ea typeface="Calibri"/>
                <a:cs typeface="Calibri"/>
                <a:sym typeface="Calibri"/>
              </a:rPr>
              <a:t>Solo la geometría</a:t>
            </a:r>
            <a:endParaRPr b="0" i="0" sz="1500" u="none" cap="none" strike="noStrike">
              <a:solidFill>
                <a:schemeClr val="dk1"/>
              </a:solidFill>
              <a:latin typeface="Calibri"/>
              <a:ea typeface="Calibri"/>
              <a:cs typeface="Calibri"/>
              <a:sym typeface="Calibri"/>
            </a:endParaRPr>
          </a:p>
        </p:txBody>
      </p:sp>
      <p:sp>
        <p:nvSpPr>
          <p:cNvPr id="640" name="Google Shape;640;p11"/>
          <p:cNvSpPr txBox="1"/>
          <p:nvPr/>
        </p:nvSpPr>
        <p:spPr>
          <a:xfrm>
            <a:off x="4588819" y="4444889"/>
            <a:ext cx="3014058" cy="8254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400"/>
              <a:buFont typeface="Calibri"/>
              <a:buNone/>
            </a:pPr>
            <a:r>
              <a:rPr b="0" i="0" lang="en-US" sz="1400" u="none" cap="none" strike="noStrike">
                <a:solidFill>
                  <a:srgbClr val="3D4A5C"/>
                </a:solidFill>
                <a:latin typeface="Calibri"/>
                <a:ea typeface="Calibri"/>
                <a:cs typeface="Calibri"/>
                <a:sym typeface="Calibri"/>
              </a:rPr>
              <a:t>Verde en foco, de 74 a 98 mm: mitades 0,024 → 0,043 (×1,8)</a:t>
            </a:r>
            <a:endParaRPr b="0" i="0" sz="1400" u="none" cap="none" strike="noStrike">
              <a:solidFill>
                <a:schemeClr val="dk1"/>
              </a:solidFill>
              <a:latin typeface="Calibri"/>
              <a:ea typeface="Calibri"/>
              <a:cs typeface="Calibri"/>
              <a:sym typeface="Calibri"/>
            </a:endParaRPr>
          </a:p>
        </p:txBody>
      </p:sp>
      <p:sp>
        <p:nvSpPr>
          <p:cNvPr id="641" name="Google Shape;641;p11"/>
          <p:cNvSpPr/>
          <p:nvPr/>
        </p:nvSpPr>
        <p:spPr>
          <a:xfrm>
            <a:off x="7958468" y="3936902"/>
            <a:ext cx="3420448" cy="1460463"/>
          </a:xfrm>
          <a:prstGeom prst="roundRect">
            <a:avLst>
              <a:gd fmla="val 7513"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1"/>
          <p:cNvSpPr txBox="1"/>
          <p:nvPr/>
        </p:nvSpPr>
        <p:spPr>
          <a:xfrm>
            <a:off x="8161663" y="4101997"/>
            <a:ext cx="3014058"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500"/>
              <a:buFont typeface="Calibri"/>
              <a:buNone/>
            </a:pPr>
            <a:r>
              <a:rPr b="1" i="0" lang="en-US" sz="1500" u="none" cap="none" strike="noStrike">
                <a:solidFill>
                  <a:srgbClr val="6A7382"/>
                </a:solidFill>
                <a:latin typeface="Calibri"/>
                <a:ea typeface="Calibri"/>
                <a:cs typeface="Calibri"/>
                <a:sym typeface="Calibri"/>
              </a:rPr>
              <a:t>Provisional</a:t>
            </a:r>
            <a:endParaRPr b="0" i="0" sz="1500" u="none" cap="none" strike="noStrike">
              <a:solidFill>
                <a:schemeClr val="dk1"/>
              </a:solidFill>
              <a:latin typeface="Calibri"/>
              <a:ea typeface="Calibri"/>
              <a:cs typeface="Calibri"/>
              <a:sym typeface="Calibri"/>
            </a:endParaRPr>
          </a:p>
        </p:txBody>
      </p:sp>
      <p:sp>
        <p:nvSpPr>
          <p:cNvPr id="643" name="Google Shape;643;p11"/>
          <p:cNvSpPr txBox="1"/>
          <p:nvPr/>
        </p:nvSpPr>
        <p:spPr>
          <a:xfrm>
            <a:off x="8161663" y="4444889"/>
            <a:ext cx="3014058" cy="82547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400"/>
              <a:buFont typeface="Calibri"/>
              <a:buNone/>
            </a:pPr>
            <a:r>
              <a:rPr b="0" i="0" lang="en-US" sz="1400" u="none" cap="none" strike="noStrike">
                <a:solidFill>
                  <a:srgbClr val="3D4A5C"/>
                </a:solidFill>
                <a:latin typeface="Calibri"/>
                <a:ea typeface="Calibri"/>
                <a:cs typeface="Calibri"/>
                <a:sym typeface="Calibri"/>
              </a:rPr>
              <a:t>El modelo no incluye el desenfoque: uno que lo incluya podría recuperar parte</a:t>
            </a:r>
            <a:endParaRPr b="0" i="0" sz="1400" u="none" cap="none" strike="noStrike">
              <a:solidFill>
                <a:schemeClr val="dk1"/>
              </a:solidFill>
              <a:latin typeface="Calibri"/>
              <a:ea typeface="Calibri"/>
              <a:cs typeface="Calibri"/>
              <a:sym typeface="Calibri"/>
            </a:endParaRPr>
          </a:p>
        </p:txBody>
      </p:sp>
      <p:sp>
        <p:nvSpPr>
          <p:cNvPr id="644" name="Google Shape;644;p11"/>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A4</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552" name="Shape 552"/>
        <p:cNvGrpSpPr/>
        <p:nvPr/>
      </p:nvGrpSpPr>
      <p:grpSpPr>
        <a:xfrm>
          <a:off x="0" y="0"/>
          <a:ext cx="0" cy="0"/>
          <a:chOff x="0" y="0"/>
          <a:chExt cx="0" cy="0"/>
        </a:xfrm>
      </p:grpSpPr>
      <p:sp>
        <p:nvSpPr>
          <p:cNvPr id="553" name="Google Shape;553;p8"/>
          <p:cNvSpPr/>
          <p:nvPr/>
        </p:nvSpPr>
        <p:spPr>
          <a:xfrm>
            <a:off x="812780" y="711182"/>
            <a:ext cx="1498563" cy="330192"/>
          </a:xfrm>
          <a:prstGeom prst="roundRect">
            <a:avLst>
              <a:gd fmla="val 55386" name="adj"/>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8"/>
          <p:cNvSpPr txBox="1"/>
          <p:nvPr/>
        </p:nvSpPr>
        <p:spPr>
          <a:xfrm>
            <a:off x="812780" y="711182"/>
            <a:ext cx="1498563"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7382"/>
              </a:buClr>
              <a:buSzPts val="1300"/>
              <a:buFont typeface="Calibri"/>
              <a:buNone/>
            </a:pPr>
            <a:r>
              <a:rPr b="1" i="0" lang="en-US" sz="1300" u="none" cap="none" strike="noStrike">
                <a:solidFill>
                  <a:srgbClr val="6A7382"/>
                </a:solidFill>
                <a:latin typeface="Calibri"/>
                <a:ea typeface="Calibri"/>
                <a:cs typeface="Calibri"/>
                <a:sym typeface="Calibri"/>
              </a:rPr>
              <a:t>APÉNDICE</a:t>
            </a:r>
            <a:endParaRPr b="0" i="0" sz="1300" u="none" cap="none" strike="noStrike">
              <a:solidFill>
                <a:schemeClr val="dk1"/>
              </a:solidFill>
              <a:latin typeface="Calibri"/>
              <a:ea typeface="Calibri"/>
              <a:cs typeface="Calibri"/>
              <a:sym typeface="Calibri"/>
            </a:endParaRPr>
          </a:p>
        </p:txBody>
      </p:sp>
      <p:sp>
        <p:nvSpPr>
          <p:cNvPr id="555" name="Google Shape;555;p8"/>
          <p:cNvSpPr txBox="1"/>
          <p:nvPr/>
        </p:nvSpPr>
        <p:spPr>
          <a:xfrm>
            <a:off x="812780" y="1142971"/>
            <a:ext cx="10566136" cy="5714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¿Qué haría falta para demostrar que se gana resolución?</a:t>
            </a:r>
            <a:endParaRPr b="0" i="0" sz="3300" u="none" cap="none" strike="noStrike">
              <a:solidFill>
                <a:schemeClr val="dk1"/>
              </a:solidFill>
              <a:latin typeface="Calibri"/>
              <a:ea typeface="Calibri"/>
              <a:cs typeface="Calibri"/>
              <a:sym typeface="Calibri"/>
            </a:endParaRPr>
          </a:p>
        </p:txBody>
      </p:sp>
      <p:sp>
        <p:nvSpPr>
          <p:cNvPr id="568" name="Google Shape;568;p8"/>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A5</a:t>
            </a:r>
            <a:endParaRPr b="0" i="0" sz="1200" u="none" cap="none" strike="noStrike">
              <a:solidFill>
                <a:schemeClr val="dk1"/>
              </a:solidFill>
              <a:latin typeface="Calibri"/>
              <a:ea typeface="Calibri"/>
              <a:cs typeface="Calibri"/>
              <a:sym typeface="Calibri"/>
            </a:endParaRPr>
          </a:p>
        </p:txBody>
      </p:sp>
      <p:sp>
        <p:nvSpPr>
          <p:cNvPr id="900" name="QA 900"/>
          <p:cNvSpPr/>
          <p:nvPr/>
        </p:nvSpPr>
        <p:spPr>
          <a:xfrm>
            <a:off x="812780" y="235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QA 901"/>
          <p:cNvSpPr txBox="1"/>
          <p:nvPr/>
        </p:nvSpPr>
        <p:spPr>
          <a:xfrm>
            <a:off x="1015975" y="251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Una muestra con detalle conocido</a:t>
            </a:r>
            <a:endParaRPr b="0" i="0" sz="1500" u="none" cap="none" strike="noStrike">
              <a:solidFill>
                <a:schemeClr val="dk1"/>
              </a:solidFill>
              <a:latin typeface="Calibri"/>
              <a:ea typeface="Calibri"/>
              <a:cs typeface="Calibri"/>
              <a:sym typeface="Calibri"/>
            </a:endParaRPr>
          </a:p>
        </p:txBody>
      </p:sp>
      <p:sp>
        <p:nvSpPr>
          <p:cNvPr id="902" name="QA 902"/>
          <p:cNvSpPr txBox="1"/>
          <p:nvPr/>
        </p:nvSpPr>
        <p:spPr>
          <a:xfrm>
            <a:off x="1015975" y="285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Una placa de calibración con líneas de ancho conocido, o las pistas de un CD (1,6 µm).</a:t>
            </a:r>
            <a:endParaRPr b="0" i="0" sz="1300" u="none" cap="none" strike="noStrike">
              <a:solidFill>
                <a:schemeClr val="dk1"/>
              </a:solidFill>
              <a:latin typeface="Calibri"/>
              <a:ea typeface="Calibri"/>
              <a:cs typeface="Calibri"/>
              <a:sym typeface="Calibri"/>
            </a:endParaRPr>
          </a:p>
        </p:txBody>
      </p:sp>
      <p:sp>
        <p:nvSpPr>
          <p:cNvPr id="903" name="QA 903"/>
          <p:cNvSpPr/>
          <p:nvPr/>
        </p:nvSpPr>
        <p:spPr>
          <a:xfrm>
            <a:off x="812780" y="360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QA 904"/>
          <p:cNvSpPr txBox="1"/>
          <p:nvPr/>
        </p:nvSpPr>
        <p:spPr>
          <a:xfrm>
            <a:off x="1015975" y="376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Qué contaría como éxito</a:t>
            </a:r>
            <a:endParaRPr b="0" i="0" sz="1500" u="none" cap="none" strike="noStrike">
              <a:solidFill>
                <a:schemeClr val="dk1"/>
              </a:solidFill>
              <a:latin typeface="Calibri"/>
              <a:ea typeface="Calibri"/>
              <a:cs typeface="Calibri"/>
              <a:sym typeface="Calibri"/>
            </a:endParaRPr>
          </a:p>
        </p:txBody>
      </p:sp>
      <p:sp>
        <p:nvSpPr>
          <p:cNvPr id="905" name="QA 905"/>
          <p:cNvSpPr txBox="1"/>
          <p:nvPr/>
        </p:nvSpPr>
        <p:spPr>
          <a:xfrm>
            <a:off x="1015975" y="410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Que la reconstrucción separe líneas que la foto cruda no separa, y que las dos mitades de LEDs superen el umbral fijado antes.</a:t>
            </a:r>
            <a:endParaRPr b="0" i="0" sz="1300" u="none" cap="none" strike="noStrike">
              <a:solidFill>
                <a:schemeClr val="dk1"/>
              </a:solidFill>
              <a:latin typeface="Calibri"/>
              <a:ea typeface="Calibri"/>
              <a:cs typeface="Calibri"/>
              <a:sym typeface="Calibri"/>
            </a:endParaRPr>
          </a:p>
        </p:txBody>
      </p:sp>
      <p:sp>
        <p:nvSpPr>
          <p:cNvPr id="906" name="QA 906"/>
          <p:cNvSpPr/>
          <p:nvPr/>
        </p:nvSpPr>
        <p:spPr>
          <a:xfrm>
            <a:off x="812780" y="485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QA 907"/>
          <p:cNvSpPr txBox="1"/>
          <p:nvPr/>
        </p:nvSpPr>
        <p:spPr>
          <a:xfrm>
            <a:off x="1015975" y="501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Qué falta</a:t>
            </a:r>
            <a:endParaRPr b="0" i="0" sz="1500" u="none" cap="none" strike="noStrike">
              <a:solidFill>
                <a:schemeClr val="dk1"/>
              </a:solidFill>
              <a:latin typeface="Calibri"/>
              <a:ea typeface="Calibri"/>
              <a:cs typeface="Calibri"/>
              <a:sym typeface="Calibri"/>
            </a:endParaRPr>
          </a:p>
        </p:txBody>
      </p:sp>
      <p:sp>
        <p:nvSpPr>
          <p:cNvPr id="908" name="QA 908"/>
          <p:cNvSpPr txBox="1"/>
          <p:nvPr/>
        </p:nvSpPr>
        <p:spPr>
          <a:xfrm>
            <a:off x="1015975" y="535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El criterio exacto para la placa todavía no está escrito.</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552" name="Shape 552"/>
        <p:cNvGrpSpPr/>
        <p:nvPr/>
      </p:nvGrpSpPr>
      <p:grpSpPr>
        <a:xfrm>
          <a:off x="0" y="0"/>
          <a:ext cx="0" cy="0"/>
          <a:chOff x="0" y="0"/>
          <a:chExt cx="0" cy="0"/>
        </a:xfrm>
      </p:grpSpPr>
      <p:sp>
        <p:nvSpPr>
          <p:cNvPr id="553" name="Google Shape;553;p8"/>
          <p:cNvSpPr/>
          <p:nvPr/>
        </p:nvSpPr>
        <p:spPr>
          <a:xfrm>
            <a:off x="812780" y="711182"/>
            <a:ext cx="1498563" cy="330192"/>
          </a:xfrm>
          <a:prstGeom prst="roundRect">
            <a:avLst>
              <a:gd fmla="val 55386" name="adj"/>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8"/>
          <p:cNvSpPr txBox="1"/>
          <p:nvPr/>
        </p:nvSpPr>
        <p:spPr>
          <a:xfrm>
            <a:off x="812780" y="711182"/>
            <a:ext cx="1498563"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7382"/>
              </a:buClr>
              <a:buSzPts val="1300"/>
              <a:buFont typeface="Calibri"/>
              <a:buNone/>
            </a:pPr>
            <a:r>
              <a:rPr b="1" i="0" lang="en-US" sz="1300" u="none" cap="none" strike="noStrike">
                <a:solidFill>
                  <a:srgbClr val="6A7382"/>
                </a:solidFill>
                <a:latin typeface="Calibri"/>
                <a:ea typeface="Calibri"/>
                <a:cs typeface="Calibri"/>
                <a:sym typeface="Calibri"/>
              </a:rPr>
              <a:t>APÉNDICE</a:t>
            </a:r>
            <a:endParaRPr b="0" i="0" sz="1300" u="none" cap="none" strike="noStrike">
              <a:solidFill>
                <a:schemeClr val="dk1"/>
              </a:solidFill>
              <a:latin typeface="Calibri"/>
              <a:ea typeface="Calibri"/>
              <a:cs typeface="Calibri"/>
              <a:sym typeface="Calibri"/>
            </a:endParaRPr>
          </a:p>
        </p:txBody>
      </p:sp>
      <p:sp>
        <p:nvSpPr>
          <p:cNvPr id="555" name="Google Shape;555;p8"/>
          <p:cNvSpPr txBox="1"/>
          <p:nvPr/>
        </p:nvSpPr>
        <p:spPr>
          <a:xfrm>
            <a:off x="812780" y="1142971"/>
            <a:ext cx="10566136" cy="5714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¿Por qué la reconstrucción se ve más ruidosa que la foto?</a:t>
            </a:r>
            <a:endParaRPr b="0" i="0" sz="3300" u="none" cap="none" strike="noStrike">
              <a:solidFill>
                <a:schemeClr val="dk1"/>
              </a:solidFill>
              <a:latin typeface="Calibri"/>
              <a:ea typeface="Calibri"/>
              <a:cs typeface="Calibri"/>
              <a:sym typeface="Calibri"/>
            </a:endParaRPr>
          </a:p>
        </p:txBody>
      </p:sp>
      <p:sp>
        <p:nvSpPr>
          <p:cNvPr id="568" name="Google Shape;568;p8"/>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A6</a:t>
            </a:r>
            <a:endParaRPr b="0" i="0" sz="1200" u="none" cap="none" strike="noStrike">
              <a:solidFill>
                <a:schemeClr val="dk1"/>
              </a:solidFill>
              <a:latin typeface="Calibri"/>
              <a:ea typeface="Calibri"/>
              <a:cs typeface="Calibri"/>
              <a:sym typeface="Calibri"/>
            </a:endParaRPr>
          </a:p>
        </p:txBody>
      </p:sp>
      <p:sp>
        <p:nvSpPr>
          <p:cNvPr id="900" name="QA 900"/>
          <p:cNvSpPr/>
          <p:nvPr/>
        </p:nvSpPr>
        <p:spPr>
          <a:xfrm>
            <a:off x="812780" y="235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QA 901"/>
          <p:cNvSpPr txBox="1"/>
          <p:nvPr/>
        </p:nvSpPr>
        <p:spPr>
          <a:xfrm>
            <a:off x="1015975" y="251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Una grilla tres veces más fina</a:t>
            </a:r>
            <a:endParaRPr b="0" i="0" sz="1500" u="none" cap="none" strike="noStrike">
              <a:solidFill>
                <a:schemeClr val="dk1"/>
              </a:solidFill>
              <a:latin typeface="Calibri"/>
              <a:ea typeface="Calibri"/>
              <a:cs typeface="Calibri"/>
              <a:sym typeface="Calibri"/>
            </a:endParaRPr>
          </a:p>
        </p:txBody>
      </p:sp>
      <p:sp>
        <p:nvSpPr>
          <p:cNvPr id="902" name="QA 902"/>
          <p:cNvSpPr txBox="1"/>
          <p:nvPr/>
        </p:nvSpPr>
        <p:spPr>
          <a:xfrm>
            <a:off x="1015975" y="285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0,43 µm contra 1,28 µm de la foto: agrega frecuencias altas que la foto no tiene (anillos alrededor de las partículas; en rojo, un gradiente de fondo).</a:t>
            </a:r>
            <a:endParaRPr b="0" i="0" sz="1300" u="none" cap="none" strike="noStrike">
              <a:solidFill>
                <a:schemeClr val="dk1"/>
              </a:solidFill>
              <a:latin typeface="Calibri"/>
              <a:ea typeface="Calibri"/>
              <a:cs typeface="Calibri"/>
              <a:sym typeface="Calibri"/>
            </a:endParaRPr>
          </a:p>
        </p:txBody>
      </p:sp>
      <p:sp>
        <p:nvSpPr>
          <p:cNvPr id="903" name="QA 903"/>
          <p:cNvSpPr/>
          <p:nvPr/>
        </p:nvSpPr>
        <p:spPr>
          <a:xfrm>
            <a:off x="812780" y="360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QA 904"/>
          <p:cNvSpPr txBox="1"/>
          <p:nvPr/>
        </p:nvSpPr>
        <p:spPr>
          <a:xfrm>
            <a:off x="1015975" y="376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Es error del modelo, no ruido del sensor</a:t>
            </a:r>
            <a:endParaRPr b="0" i="0" sz="1500" u="none" cap="none" strike="noStrike">
              <a:solidFill>
                <a:schemeClr val="dk1"/>
              </a:solidFill>
              <a:latin typeface="Calibri"/>
              <a:ea typeface="Calibri"/>
              <a:cs typeface="Calibri"/>
              <a:sym typeface="Calibri"/>
            </a:endParaRPr>
          </a:p>
        </p:txBody>
      </p:sp>
      <p:sp>
        <p:nvSpPr>
          <p:cNvPr id="905" name="QA 905"/>
          <p:cNvSpPr txBox="1"/>
          <p:nvPr/>
        </p:nvSpPr>
        <p:spPr>
          <a:xfrm>
            <a:off x="1015975" y="410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El residuo (0,4–0,6) está muy por encima del ruido del sensor (0,05).</a:t>
            </a:r>
            <a:endParaRPr b="0" i="0" sz="1300" u="none" cap="none" strike="noStrike">
              <a:solidFill>
                <a:schemeClr val="dk1"/>
              </a:solidFill>
              <a:latin typeface="Calibri"/>
              <a:ea typeface="Calibri"/>
              <a:cs typeface="Calibri"/>
              <a:sym typeface="Calibri"/>
            </a:endParaRPr>
          </a:p>
        </p:txBody>
      </p:sp>
      <p:sp>
        <p:nvSpPr>
          <p:cNvPr id="906" name="QA 906"/>
          <p:cNvSpPr/>
          <p:nvPr/>
        </p:nvSpPr>
        <p:spPr>
          <a:xfrm>
            <a:off x="812780" y="485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QA 907"/>
          <p:cNvSpPr txBox="1"/>
          <p:nvPr/>
        </p:nvSpPr>
        <p:spPr>
          <a:xfrm>
            <a:off x="1015975" y="501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Sin regularización explícita</a:t>
            </a:r>
            <a:endParaRPr b="0" i="0" sz="1500" u="none" cap="none" strike="noStrike">
              <a:solidFill>
                <a:schemeClr val="dk1"/>
              </a:solidFill>
              <a:latin typeface="Calibri"/>
              <a:ea typeface="Calibri"/>
              <a:cs typeface="Calibri"/>
              <a:sym typeface="Calibri"/>
            </a:endParaRPr>
          </a:p>
        </p:txBody>
      </p:sp>
      <p:sp>
        <p:nvSpPr>
          <p:cNvPr id="908" name="QA 908"/>
          <p:cNvSpPr txBox="1"/>
          <p:nvPr/>
        </p:nvSpPr>
        <p:spPr>
          <a:xfrm>
            <a:off x="1015975" y="535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El método no suaviza la imagen.</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552" name="Shape 552"/>
        <p:cNvGrpSpPr/>
        <p:nvPr/>
      </p:nvGrpSpPr>
      <p:grpSpPr>
        <a:xfrm>
          <a:off x="0" y="0"/>
          <a:ext cx="0" cy="0"/>
          <a:chOff x="0" y="0"/>
          <a:chExt cx="0" cy="0"/>
        </a:xfrm>
      </p:grpSpPr>
      <p:sp>
        <p:nvSpPr>
          <p:cNvPr id="553" name="Google Shape;553;p8"/>
          <p:cNvSpPr/>
          <p:nvPr/>
        </p:nvSpPr>
        <p:spPr>
          <a:xfrm>
            <a:off x="812780" y="711182"/>
            <a:ext cx="1498563" cy="330192"/>
          </a:xfrm>
          <a:prstGeom prst="roundRect">
            <a:avLst>
              <a:gd fmla="val 55386" name="adj"/>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8"/>
          <p:cNvSpPr txBox="1"/>
          <p:nvPr/>
        </p:nvSpPr>
        <p:spPr>
          <a:xfrm>
            <a:off x="812780" y="711182"/>
            <a:ext cx="1498563"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7382"/>
              </a:buClr>
              <a:buSzPts val="1300"/>
              <a:buFont typeface="Calibri"/>
              <a:buNone/>
            </a:pPr>
            <a:r>
              <a:rPr b="1" i="0" lang="en-US" sz="1300" u="none" cap="none" strike="noStrike">
                <a:solidFill>
                  <a:srgbClr val="6A7382"/>
                </a:solidFill>
                <a:latin typeface="Calibri"/>
                <a:ea typeface="Calibri"/>
                <a:cs typeface="Calibri"/>
                <a:sym typeface="Calibri"/>
              </a:rPr>
              <a:t>APÉNDICE</a:t>
            </a:r>
            <a:endParaRPr b="0" i="0" sz="1300" u="none" cap="none" strike="noStrike">
              <a:solidFill>
                <a:schemeClr val="dk1"/>
              </a:solidFill>
              <a:latin typeface="Calibri"/>
              <a:ea typeface="Calibri"/>
              <a:cs typeface="Calibri"/>
              <a:sym typeface="Calibri"/>
            </a:endParaRPr>
          </a:p>
        </p:txBody>
      </p:sp>
      <p:sp>
        <p:nvSpPr>
          <p:cNvPr id="555" name="Google Shape;555;p8"/>
          <p:cNvSpPr txBox="1"/>
          <p:nvPr/>
        </p:nvSpPr>
        <p:spPr>
          <a:xfrm>
            <a:off x="812780" y="1142971"/>
            <a:ext cx="10566136" cy="5714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¿Se gana algo con más iteraciones?</a:t>
            </a:r>
            <a:endParaRPr b="0" i="0" sz="3300" u="none" cap="none" strike="noStrike">
              <a:solidFill>
                <a:schemeClr val="dk1"/>
              </a:solidFill>
              <a:latin typeface="Calibri"/>
              <a:ea typeface="Calibri"/>
              <a:cs typeface="Calibri"/>
              <a:sym typeface="Calibri"/>
            </a:endParaRPr>
          </a:p>
        </p:txBody>
      </p:sp>
      <p:sp>
        <p:nvSpPr>
          <p:cNvPr id="568" name="Google Shape;568;p8"/>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A7</a:t>
            </a:r>
            <a:endParaRPr b="0" i="0" sz="1200" u="none" cap="none" strike="noStrike">
              <a:solidFill>
                <a:schemeClr val="dk1"/>
              </a:solidFill>
              <a:latin typeface="Calibri"/>
              <a:ea typeface="Calibri"/>
              <a:cs typeface="Calibri"/>
              <a:sym typeface="Calibri"/>
            </a:endParaRPr>
          </a:p>
        </p:txBody>
      </p:sp>
      <p:sp>
        <p:nvSpPr>
          <p:cNvPr id="900" name="QA 900"/>
          <p:cNvSpPr/>
          <p:nvPr/>
        </p:nvSpPr>
        <p:spPr>
          <a:xfrm>
            <a:off x="812780" y="235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QA 901"/>
          <p:cNvSpPr txBox="1"/>
          <p:nvPr/>
        </p:nvSpPr>
        <p:spPr>
          <a:xfrm>
            <a:off x="1015975" y="251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Rojo: mejora</a:t>
            </a:r>
            <a:endParaRPr b="0" i="0" sz="1500" u="none" cap="none" strike="noStrike">
              <a:solidFill>
                <a:schemeClr val="dk1"/>
              </a:solidFill>
              <a:latin typeface="Calibri"/>
              <a:ea typeface="Calibri"/>
              <a:cs typeface="Calibri"/>
              <a:sym typeface="Calibri"/>
            </a:endParaRPr>
          </a:p>
        </p:txBody>
      </p:sp>
      <p:sp>
        <p:nvSpPr>
          <p:cNvPr id="902" name="QA 902"/>
          <p:cNvSpPr txBox="1"/>
          <p:nvPr/>
        </p:nvSpPr>
        <p:spPr>
          <a:xfrm>
            <a:off x="1015975" y="285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De 40 a 400 épocas: predicción 0,46 → 0,40; mitades 0,083 → 0,105.</a:t>
            </a:r>
            <a:endParaRPr b="0" i="0" sz="1300" u="none" cap="none" strike="noStrike">
              <a:solidFill>
                <a:schemeClr val="dk1"/>
              </a:solidFill>
              <a:latin typeface="Calibri"/>
              <a:ea typeface="Calibri"/>
              <a:cs typeface="Calibri"/>
              <a:sym typeface="Calibri"/>
            </a:endParaRPr>
          </a:p>
        </p:txBody>
      </p:sp>
      <p:sp>
        <p:nvSpPr>
          <p:cNvPr id="903" name="QA 903"/>
          <p:cNvSpPr/>
          <p:nvPr/>
        </p:nvSpPr>
        <p:spPr>
          <a:xfrm>
            <a:off x="812780" y="360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QA 904"/>
          <p:cNvSpPr txBox="1"/>
          <p:nvPr/>
        </p:nvSpPr>
        <p:spPr>
          <a:xfrm>
            <a:off x="1015975" y="376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Verde y azul: no</a:t>
            </a:r>
            <a:endParaRPr b="0" i="0" sz="1500" u="none" cap="none" strike="noStrike">
              <a:solidFill>
                <a:schemeClr val="dk1"/>
              </a:solidFill>
              <a:latin typeface="Calibri"/>
              <a:ea typeface="Calibri"/>
              <a:cs typeface="Calibri"/>
              <a:sym typeface="Calibri"/>
            </a:endParaRPr>
          </a:p>
        </p:txBody>
      </p:sp>
      <p:sp>
        <p:nvSpPr>
          <p:cNvPr id="905" name="QA 905"/>
          <p:cNvSpPr txBox="1"/>
          <p:nvPr/>
        </p:nvSpPr>
        <p:spPr>
          <a:xfrm>
            <a:off x="1015975" y="410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Lo mejor está cerca de 5 épocas; después queda plano.</a:t>
            </a:r>
            <a:endParaRPr b="0" i="0" sz="1300" u="none" cap="none" strike="noStrike">
              <a:solidFill>
                <a:schemeClr val="dk1"/>
              </a:solidFill>
              <a:latin typeface="Calibri"/>
              <a:ea typeface="Calibri"/>
              <a:cs typeface="Calibri"/>
              <a:sym typeface="Calibri"/>
            </a:endParaRPr>
          </a:p>
        </p:txBody>
      </p:sp>
      <p:sp>
        <p:nvSpPr>
          <p:cNvPr id="906" name="QA 906"/>
          <p:cNvSpPr/>
          <p:nvPr/>
        </p:nvSpPr>
        <p:spPr>
          <a:xfrm>
            <a:off x="812780" y="485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QA 907"/>
          <p:cNvSpPr txBox="1"/>
          <p:nvPr/>
        </p:nvSpPr>
        <p:spPr>
          <a:xfrm>
            <a:off x="1015975" y="501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Ningún color llega al umbral (0,143)</a:t>
            </a:r>
            <a:endParaRPr b="0" i="0" sz="1500" u="none" cap="none" strike="noStrike">
              <a:solidFill>
                <a:schemeClr val="dk1"/>
              </a:solidFill>
              <a:latin typeface="Calibri"/>
              <a:ea typeface="Calibri"/>
              <a:cs typeface="Calibri"/>
              <a:sym typeface="Calibri"/>
            </a:endParaRPr>
          </a:p>
        </p:txBody>
      </p:sp>
      <p:sp>
        <p:nvSpPr>
          <p:cNvPr id="908" name="QA 908"/>
          <p:cNvSpPr txBox="1"/>
          <p:nvPr/>
        </p:nvSpPr>
        <p:spPr>
          <a:xfrm>
            <a:off x="1015975" y="535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Con 5 particiones al azar en rojo, 1 de 5 lo cruza apenas (0,147). Ganar resolución sigue sin estar demostrado.</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552" name="Shape 552"/>
        <p:cNvGrpSpPr/>
        <p:nvPr/>
      </p:nvGrpSpPr>
      <p:grpSpPr>
        <a:xfrm>
          <a:off x="0" y="0"/>
          <a:ext cx="0" cy="0"/>
          <a:chOff x="0" y="0"/>
          <a:chExt cx="0" cy="0"/>
        </a:xfrm>
      </p:grpSpPr>
      <p:sp>
        <p:nvSpPr>
          <p:cNvPr id="553" name="Google Shape;553;p8"/>
          <p:cNvSpPr/>
          <p:nvPr/>
        </p:nvSpPr>
        <p:spPr>
          <a:xfrm>
            <a:off x="812780" y="711182"/>
            <a:ext cx="1498563" cy="330192"/>
          </a:xfrm>
          <a:prstGeom prst="roundRect">
            <a:avLst>
              <a:gd fmla="val 55386" name="adj"/>
            </a:avLst>
          </a:prstGeom>
          <a:solidFill>
            <a:srgbClr val="FBFBF8"/>
          </a:solidFill>
          <a:ln cap="flat" cmpd="sng" w="19050">
            <a:solidFill>
              <a:srgbClr val="6A738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8"/>
          <p:cNvSpPr txBox="1"/>
          <p:nvPr/>
        </p:nvSpPr>
        <p:spPr>
          <a:xfrm>
            <a:off x="812780" y="711182"/>
            <a:ext cx="1498563" cy="3301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7382"/>
              </a:buClr>
              <a:buSzPts val="1300"/>
              <a:buFont typeface="Calibri"/>
              <a:buNone/>
            </a:pPr>
            <a:r>
              <a:rPr b="1" i="0" lang="en-US" sz="1300" u="none" cap="none" strike="noStrike">
                <a:solidFill>
                  <a:srgbClr val="6A7382"/>
                </a:solidFill>
                <a:latin typeface="Calibri"/>
                <a:ea typeface="Calibri"/>
                <a:cs typeface="Calibri"/>
                <a:sym typeface="Calibri"/>
              </a:rPr>
              <a:t>APÉNDICE</a:t>
            </a:r>
            <a:endParaRPr b="0" i="0" sz="1300" u="none" cap="none" strike="noStrike">
              <a:solidFill>
                <a:schemeClr val="dk1"/>
              </a:solidFill>
              <a:latin typeface="Calibri"/>
              <a:ea typeface="Calibri"/>
              <a:cs typeface="Calibri"/>
              <a:sym typeface="Calibri"/>
            </a:endParaRPr>
          </a:p>
        </p:txBody>
      </p:sp>
      <p:sp>
        <p:nvSpPr>
          <p:cNvPr id="555" name="Google Shape;555;p8"/>
          <p:cNvSpPr txBox="1"/>
          <p:nvPr/>
        </p:nvSpPr>
        <p:spPr>
          <a:xfrm>
            <a:off x="812780" y="1142971"/>
            <a:ext cx="10566136" cy="57148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4213D"/>
              </a:buClr>
              <a:buSzPts val="3300"/>
              <a:buFont typeface="Cambria"/>
              <a:buNone/>
            </a:pPr>
            <a:r>
              <a:rPr b="1" i="0" lang="en-US" sz="3300" u="none" cap="none" strike="noStrike">
                <a:solidFill>
                  <a:srgbClr val="14213D"/>
                </a:solidFill>
                <a:latin typeface="Cambria"/>
                <a:ea typeface="Cambria"/>
                <a:cs typeface="Cambria"/>
                <a:sym typeface="Cambria"/>
              </a:rPr>
              <a:t>¿Por qué no usar un programa de FPM ya publicado?</a:t>
            </a:r>
            <a:endParaRPr b="0" i="0" sz="3300" u="none" cap="none" strike="noStrike">
              <a:solidFill>
                <a:schemeClr val="dk1"/>
              </a:solidFill>
              <a:latin typeface="Calibri"/>
              <a:ea typeface="Calibri"/>
              <a:cs typeface="Calibri"/>
              <a:sym typeface="Calibri"/>
            </a:endParaRPr>
          </a:p>
        </p:txBody>
      </p:sp>
      <p:sp>
        <p:nvSpPr>
          <p:cNvPr id="568" name="Google Shape;568;p8"/>
          <p:cNvSpPr txBox="1"/>
          <p:nvPr/>
        </p:nvSpPr>
        <p:spPr>
          <a:xfrm>
            <a:off x="812780" y="6286343"/>
            <a:ext cx="2539937" cy="21589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A7382"/>
              </a:buClr>
              <a:buSzPts val="1200"/>
              <a:buFont typeface="Calibri"/>
              <a:buNone/>
            </a:pPr>
            <a:r>
              <a:rPr b="0" i="0" lang="en-US" sz="1200" u="none" cap="none" strike="noStrike">
                <a:solidFill>
                  <a:srgbClr val="6A7382"/>
                </a:solidFill>
                <a:latin typeface="Calibri"/>
                <a:ea typeface="Calibri"/>
                <a:cs typeface="Calibri"/>
                <a:sym typeface="Calibri"/>
              </a:rPr>
              <a:t>A8</a:t>
            </a:r>
            <a:endParaRPr b="0" i="0" sz="1200" u="none" cap="none" strike="noStrike">
              <a:solidFill>
                <a:schemeClr val="dk1"/>
              </a:solidFill>
              <a:latin typeface="Calibri"/>
              <a:ea typeface="Calibri"/>
              <a:cs typeface="Calibri"/>
              <a:sym typeface="Calibri"/>
            </a:endParaRPr>
          </a:p>
        </p:txBody>
      </p:sp>
      <p:sp>
        <p:nvSpPr>
          <p:cNvPr id="900" name="QA 900"/>
          <p:cNvSpPr/>
          <p:nvPr/>
        </p:nvSpPr>
        <p:spPr>
          <a:xfrm>
            <a:off x="812780" y="235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QA 901"/>
          <p:cNvSpPr txBox="1"/>
          <p:nvPr/>
        </p:nvSpPr>
        <p:spPr>
          <a:xfrm>
            <a:off x="1015975" y="251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Con un paquete publicado: no lo comparamos</a:t>
            </a:r>
            <a:endParaRPr b="0" i="0" sz="1500" u="none" cap="none" strike="noStrike">
              <a:solidFill>
                <a:schemeClr val="dk1"/>
              </a:solidFill>
              <a:latin typeface="Calibri"/>
              <a:ea typeface="Calibri"/>
              <a:cs typeface="Calibri"/>
              <a:sym typeface="Calibri"/>
            </a:endParaRPr>
          </a:p>
        </p:txBody>
      </p:sp>
      <p:sp>
        <p:nvSpPr>
          <p:cNvPr id="902" name="QA 902"/>
          <p:cNvSpPr txBox="1"/>
          <p:nvPr/>
        </p:nvSpPr>
        <p:spPr>
          <a:xfrm>
            <a:off x="1015975" y="285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Es una buena sugerencia para lo que sigue.</a:t>
            </a:r>
            <a:endParaRPr b="0" i="0" sz="1300" u="none" cap="none" strike="noStrike">
              <a:solidFill>
                <a:schemeClr val="dk1"/>
              </a:solidFill>
              <a:latin typeface="Calibri"/>
              <a:ea typeface="Calibri"/>
              <a:cs typeface="Calibri"/>
              <a:sym typeface="Calibri"/>
            </a:endParaRPr>
          </a:p>
        </p:txBody>
      </p:sp>
      <p:sp>
        <p:nvSpPr>
          <p:cNvPr id="903" name="QA 903"/>
          <p:cNvSpPr/>
          <p:nvPr/>
        </p:nvSpPr>
        <p:spPr>
          <a:xfrm>
            <a:off x="812780" y="360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QA 904"/>
          <p:cNvSpPr txBox="1"/>
          <p:nvPr/>
        </p:nvSpPr>
        <p:spPr>
          <a:xfrm>
            <a:off x="1015975" y="376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Con mi código previo (basado en Bian 2016): sí</a:t>
            </a:r>
            <a:endParaRPr b="0" i="0" sz="1500" u="none" cap="none" strike="noStrike">
              <a:solidFill>
                <a:schemeClr val="dk1"/>
              </a:solidFill>
              <a:latin typeface="Calibri"/>
              <a:ea typeface="Calibri"/>
              <a:cs typeface="Calibri"/>
              <a:sym typeface="Calibri"/>
            </a:endParaRPr>
          </a:p>
        </p:txBody>
      </p:sp>
      <p:sp>
        <p:nvSpPr>
          <p:cNvPr id="905" name="QA 905"/>
          <p:cNvSpPr txBox="1"/>
          <p:nvPr/>
        </p:nvSpPr>
        <p:spPr>
          <a:xfrm>
            <a:off x="1015975" y="410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Tenía tres errores verificados: el inverso no correspondía al directo, la orientación de los LEDs estaba traspuesta y la pupila tenía mal el tamaño.</a:t>
            </a:r>
            <a:endParaRPr b="0" i="0" sz="1300" u="none" cap="none" strike="noStrike">
              <a:solidFill>
                <a:schemeClr val="dk1"/>
              </a:solidFill>
              <a:latin typeface="Calibri"/>
              <a:ea typeface="Calibri"/>
              <a:cs typeface="Calibri"/>
              <a:sym typeface="Calibri"/>
            </a:endParaRPr>
          </a:p>
        </p:txBody>
      </p:sp>
      <p:sp>
        <p:nvSpPr>
          <p:cNvPr id="906" name="QA 906"/>
          <p:cNvSpPr/>
          <p:nvPr/>
        </p:nvSpPr>
        <p:spPr>
          <a:xfrm>
            <a:off x="812780" y="4850000"/>
            <a:ext cx="10566136" cy="1100000"/>
          </a:xfrm>
          <a:prstGeom prst="roundRect">
            <a:avLst>
              <a:gd fmla="val 6912" name="adj"/>
            </a:avLst>
          </a:prstGeom>
          <a:solidFill>
            <a:srgbClr val="FFFFFF"/>
          </a:solidFill>
          <a:ln cap="flat" cmpd="sng" w="9525">
            <a:solidFill>
              <a:srgbClr val="DDDB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QA 907"/>
          <p:cNvSpPr txBox="1"/>
          <p:nvPr/>
        </p:nvSpPr>
        <p:spPr>
          <a:xfrm>
            <a:off x="1015975" y="5015096"/>
            <a:ext cx="10160000" cy="27939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F6FB0"/>
              </a:buClr>
              <a:buSzPts val="1500"/>
              <a:buFont typeface="Calibri"/>
              <a:buNone/>
            </a:pPr>
            <a:r>
              <a:rPr b="1" i="0" lang="en-US" sz="1500" u="none" cap="none" strike="noStrike">
                <a:solidFill>
                  <a:srgbClr val="2F6FB0"/>
                </a:solidFill>
                <a:latin typeface="Calibri"/>
                <a:ea typeface="Calibri"/>
                <a:cs typeface="Calibri"/>
                <a:sym typeface="Calibri"/>
              </a:rPr>
              <a:t>Corregido, queda casi congelado</a:t>
            </a:r>
            <a:endParaRPr b="0" i="0" sz="1500" u="none" cap="none" strike="noStrike">
              <a:solidFill>
                <a:schemeClr val="dk1"/>
              </a:solidFill>
              <a:latin typeface="Calibri"/>
              <a:ea typeface="Calibri"/>
              <a:cs typeface="Calibri"/>
              <a:sym typeface="Calibri"/>
            </a:endParaRPr>
          </a:p>
        </p:txBody>
      </p:sp>
      <p:sp>
        <p:nvSpPr>
          <p:cNvPr id="908" name="QA 908"/>
          <p:cNvSpPr txBox="1"/>
          <p:nvPr/>
        </p:nvSpPr>
        <p:spPr>
          <a:xfrm>
            <a:off x="1015975" y="5357988"/>
            <a:ext cx="10160000" cy="60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D4A5C"/>
              </a:buClr>
              <a:buSzPts val="1300"/>
              <a:buFont typeface="Calibri"/>
              <a:buNone/>
            </a:pPr>
            <a:r>
              <a:rPr b="0" i="0" lang="en-US" sz="1300" u="none" cap="none" strike="noStrike">
                <a:solidFill>
                  <a:srgbClr val="3D4A5C"/>
                </a:solidFill>
                <a:latin typeface="Calibri"/>
                <a:ea typeface="Calibri"/>
                <a:cs typeface="Calibri"/>
                <a:sym typeface="Calibri"/>
              </a:rPr>
              <a:t>Error en fotos no usadas: 0,985 contra 0,517 del nuestro (0 = perfecto).</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2026-09-30T20:04:32Z</dcterms:created>
  <dc:creator>Lucas Costilla</dc:creator>
</cp:coreProperties>
</file>